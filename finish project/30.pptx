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embeddedFontLst>
    <p:embeddedFont>
      <p:font typeface="PT Sans Narrow"/>
      <p:regular r:id="rId31"/>
      <p:bold r:id="rId32"/>
    </p:embeddedFont>
    <p:embeddedFont>
      <p:font typeface="Roboto Mono"/>
      <p:regular r:id="rId33"/>
      <p:bold r:id="rId34"/>
      <p:italic r:id="rId35"/>
      <p:boldItalic r:id="rId36"/>
    </p:embeddedFont>
    <p:embeddedFont>
      <p:font typeface="Open Sa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C0F39EE-F99A-4F2B-8442-29775A05DBA2}">
  <a:tblStyle styleId="{1C0F39EE-F99A-4F2B-8442-29775A05DBA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TSansNarrow-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obotoMono-regular.fntdata"/><Relationship Id="rId10" Type="http://schemas.openxmlformats.org/officeDocument/2006/relationships/slide" Target="slides/slide4.xml"/><Relationship Id="rId32" Type="http://schemas.openxmlformats.org/officeDocument/2006/relationships/font" Target="fonts/PTSansNarrow-bold.fntdata"/><Relationship Id="rId13" Type="http://schemas.openxmlformats.org/officeDocument/2006/relationships/slide" Target="slides/slide7.xml"/><Relationship Id="rId35" Type="http://schemas.openxmlformats.org/officeDocument/2006/relationships/font" Target="fonts/RobotoMono-italic.fntdata"/><Relationship Id="rId12" Type="http://schemas.openxmlformats.org/officeDocument/2006/relationships/slide" Target="slides/slide6.xml"/><Relationship Id="rId34" Type="http://schemas.openxmlformats.org/officeDocument/2006/relationships/font" Target="fonts/RobotoMono-bold.fntdata"/><Relationship Id="rId15" Type="http://schemas.openxmlformats.org/officeDocument/2006/relationships/slide" Target="slides/slide9.xml"/><Relationship Id="rId37" Type="http://schemas.openxmlformats.org/officeDocument/2006/relationships/font" Target="fonts/OpenSans-regular.fntdata"/><Relationship Id="rId14" Type="http://schemas.openxmlformats.org/officeDocument/2006/relationships/slide" Target="slides/slide8.xml"/><Relationship Id="rId36" Type="http://schemas.openxmlformats.org/officeDocument/2006/relationships/font" Target="fonts/RobotoMono-boldItalic.fntdata"/><Relationship Id="rId17" Type="http://schemas.openxmlformats.org/officeDocument/2006/relationships/slide" Target="slides/slide11.xml"/><Relationship Id="rId39" Type="http://schemas.openxmlformats.org/officeDocument/2006/relationships/font" Target="fonts/OpenSans-italic.fntdata"/><Relationship Id="rId16" Type="http://schemas.openxmlformats.org/officeDocument/2006/relationships/slide" Target="slides/slide10.xml"/><Relationship Id="rId38" Type="http://schemas.openxmlformats.org/officeDocument/2006/relationships/font" Target="fonts/OpenSans-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大家好，我們是第 30 組。我們要報告的主題是 Comparative Study of Parallelization Techniques for Word Counting Map Reduce Algorithm（字詞計數 MapReduce 演算法之平行化技術比較研究）。</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你好</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b6b144d4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b6b144d4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首先介紹研究動機。雖然現在業界有很多像 Hadoop 或 Spark 這樣的高階框架(</a:t>
            </a:r>
            <a:r>
              <a:rPr lang="en-GB" sz="1050">
                <a:highlight>
                  <a:srgbClr val="FFFFFF"/>
                </a:highlight>
              </a:rPr>
              <a:t> 是一個開源的分散式存儲和處理框架，常用於巨量資料集的處理</a:t>
            </a:r>
            <a:r>
              <a:rPr lang="en-GB"/>
              <a:t>)，幫我們處理掉了底層細節，但我們認為，要真正優化效能，必須理解底層的硬體架構與程式設計模型 。 因此，本專案的目標是透過實作同一個任務——也就是 Word Counting MapReduce，來評估不同平行化模型在何時、以及為何有效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b6b144d46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ab6b144d46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我們的目標是實作 Word Count，但不是只用單一方式來平行化，而是同時使用四種不同的平行化架構：Pthreads、OpenMP、MPI，以及 CUDA。</a:t>
            </a:r>
            <a:endParaRPr/>
          </a:p>
          <a:p>
            <a:pPr indent="0" lvl="0" marL="0" rtl="0" algn="l">
              <a:spcBef>
                <a:spcPts val="0"/>
              </a:spcBef>
              <a:spcAft>
                <a:spcPts val="0"/>
              </a:spcAft>
              <a:buNone/>
            </a:pPr>
            <a:r>
              <a:rPr lang="en-GB"/>
              <a:t>透過把同一個 Word Count 問題用 MapReduce 的概念拆成 Map, Shuffle, Reduce三階段，我們就可以直接比較它們在效能，以及資源使用上的差異，進而分析在不同情境下哪種架構最有效率。</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ab6b144d46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ab6b144d46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再來我們舉一個例子介紹 Map Reduce 的架構， 首先在Map 的階段我們會把</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GB"/>
              <a:t>Map 階段：將文件內容轉換成 </a:t>
            </a:r>
            <a:r>
              <a:rPr lang="en-GB">
                <a:latin typeface="Roboto Mono"/>
                <a:ea typeface="Roboto Mono"/>
                <a:cs typeface="Roboto Mono"/>
                <a:sym typeface="Roboto Mono"/>
              </a:rPr>
              <a:t>(Key, Value)</a:t>
            </a:r>
            <a:r>
              <a:rPr lang="en-GB"/>
              <a:t> 的形式，例如 </a:t>
            </a:r>
            <a:r>
              <a:rPr lang="en-GB">
                <a:latin typeface="Roboto Mono"/>
                <a:ea typeface="Roboto Mono"/>
                <a:cs typeface="Roboto Mono"/>
                <a:sym typeface="Roboto Mono"/>
              </a:rPr>
              <a:t>("the", 1)</a:t>
            </a:r>
            <a:r>
              <a:rPr lang="en-GB"/>
              <a:t> 。</a:t>
            </a:r>
            <a:endParaRPr/>
          </a:p>
          <a:p>
            <a:pPr indent="0" lvl="0" marL="0" rtl="0" algn="l">
              <a:spcBef>
                <a:spcPts val="0"/>
              </a:spcBef>
              <a:spcAft>
                <a:spcPts val="0"/>
              </a:spcAft>
              <a:buClr>
                <a:schemeClr val="dk1"/>
              </a:buClr>
              <a:buSzPts val="1100"/>
              <a:buFont typeface="Arial"/>
              <a:buNone/>
            </a:pPr>
            <a:r>
              <a:rPr lang="en-GB"/>
              <a:t>Shuffle 階段：將相同的 Key 聚集在一起 。</a:t>
            </a:r>
            <a:endParaRPr/>
          </a:p>
          <a:p>
            <a:pPr indent="0" lvl="0" marL="0" rtl="0" algn="l">
              <a:spcBef>
                <a:spcPts val="0"/>
              </a:spcBef>
              <a:spcAft>
                <a:spcPts val="0"/>
              </a:spcAft>
              <a:buNone/>
            </a:pPr>
            <a:r>
              <a:rPr lang="en-GB"/>
              <a:t>Reduce 階段：將聚集後的數值進行加總，得到最終結果，例如 </a:t>
            </a:r>
            <a:r>
              <a:rPr lang="en-GB">
                <a:latin typeface="Roboto Mono"/>
                <a:ea typeface="Roboto Mono"/>
                <a:cs typeface="Roboto Mono"/>
                <a:sym typeface="Roboto Mono"/>
              </a:rPr>
              <a:t>("the", 5)</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b6b144d46_2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ab6b144d46_2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這張投影片主要介紹我們用來做 Word Count 的四種平行化方法。</a:t>
            </a:r>
            <a:br>
              <a:rPr lang="en-GB">
                <a:solidFill>
                  <a:schemeClr val="dk1"/>
                </a:solidFill>
              </a:rPr>
            </a:br>
            <a:r>
              <a:rPr lang="en-GB">
                <a:solidFill>
                  <a:schemeClr val="dk1"/>
                </a:solidFill>
              </a:rPr>
              <a:t>首先是 Pthreads，我們在 CPU 上手動管理執行緒。每個執行緒處理一段資料並產生中間鍵值對，接著利用 Barrier 同步機制 與 資料分區（Partitioning） 的方式來交換資料，最後平行聚合出結果，避免了使用 Mutex 鎖定全域變數所帶來的效能瓶頸。</a:t>
            </a:r>
            <a:br>
              <a:rPr lang="en-GB">
                <a:solidFill>
                  <a:schemeClr val="dk1"/>
                </a:solidFill>
              </a:rPr>
            </a:br>
            <a:r>
              <a:rPr lang="en-GB">
                <a:solidFill>
                  <a:schemeClr val="dk1"/>
                </a:solidFill>
              </a:rPr>
              <a:t> 接下來是 OpenMP，也是在 CPU 上，但它透過簡單的 pragma 指令就能平行化迴圈，自動分配工作量，而且內建支援 reduction，所以實作起來比較輕鬆。</a:t>
            </a:r>
            <a:br>
              <a:rPr lang="en-GB">
                <a:solidFill>
                  <a:schemeClr val="dk1"/>
                </a:solidFill>
              </a:rPr>
            </a:br>
            <a:r>
              <a:rPr lang="en-GB">
                <a:solidFill>
                  <a:schemeClr val="dk1"/>
                </a:solidFill>
              </a:rPr>
              <a:t> 第三是 MPI，各節點用訊息傳遞溝通，最後用 MPI_Reduce 聚合結果，這邊如何將通訊成本降到最低會是MPI方法需要面對的問題。</a:t>
            </a:r>
            <a:br>
              <a:rPr lang="en-GB">
                <a:solidFill>
                  <a:schemeClr val="dk1"/>
                </a:solidFill>
              </a:rPr>
            </a:br>
            <a:r>
              <a:rPr lang="en-GB">
                <a:solidFill>
                  <a:schemeClr val="dk1"/>
                </a:solidFill>
              </a:rPr>
              <a:t> 最後是 CUDA，在 GPU 上跑大量平行運算，用 block 分配 thread，還要特別處理單詞邊界的問題。</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總結來說，就是四種方法各有特色，我們可以比較它們在不同平台上的效能和資源使用情況。</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補:</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「Special word boundary handling（特殊單字邊界處理）」</a:t>
            </a:r>
            <a:r>
              <a:rPr lang="en-GB">
                <a:solidFill>
                  <a:schemeClr val="dk1"/>
                </a:solidFill>
              </a:rPr>
              <a:t> 指的是在將巨大的文字檔切割成小區塊（Blocks）分給成千上萬個 GPU 執行緒並行處理時，</a:t>
            </a:r>
            <a:r>
              <a:rPr b="1" lang="en-GB">
                <a:solidFill>
                  <a:schemeClr val="dk1"/>
                </a:solidFill>
              </a:rPr>
              <a:t>如何防止單字剛好被切斷而導致統計錯誤</a:t>
            </a:r>
            <a:r>
              <a:rPr lang="en-GB">
                <a:solidFill>
                  <a:schemeClr val="dk1"/>
                </a:solidFill>
              </a:rPr>
              <a:t>的技術機制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這在 CUDA 這種 massive parallel（大量並行）環境中特別重要，原因與解決方式如下：</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1. 問題情境：單字被「腰斬」</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在 CUDA 中，為了達到最高效能，我們通常會將輸入資料（例如 1GB 的文字檔）直接依照 Byte 大小切分成固定長度的區塊（Chunk），例如每個執行緒負責 1KB。但是，切割點是隨機的，很可能會切在單字中間。</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bc7392067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bc7392067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這邊會說明我們怎麼針對Map, Shuffle , Reduce這三個階段進行平行化，這邊的概念是OpnMP, Pthread, MPI 都是用類似的概念去進行實作的</a:t>
            </a:r>
            <a:endParaRPr/>
          </a:p>
          <a:p>
            <a:pPr indent="0" lvl="0" marL="0" rtl="0" algn="l">
              <a:lnSpc>
                <a:spcPct val="115000"/>
              </a:lnSpc>
              <a:spcBef>
                <a:spcPts val="1200"/>
              </a:spcBef>
              <a:spcAft>
                <a:spcPts val="0"/>
              </a:spcAft>
              <a:buClr>
                <a:schemeClr val="dk1"/>
              </a:buClr>
              <a:buSzPts val="1100"/>
              <a:buFont typeface="Arial"/>
              <a:buNone/>
            </a:pPr>
            <a:r>
              <a:rPr lang="en-GB"/>
              <a:t>現在我們進入 Map 階段。如圖所示，我們採用了 Segment-based data division（基於分段的資料分割） 策略。</a:t>
            </a:r>
            <a:endParaRPr/>
          </a:p>
          <a:p>
            <a:pPr indent="0" lvl="0" marL="0" rtl="0" algn="l">
              <a:lnSpc>
                <a:spcPct val="115000"/>
              </a:lnSpc>
              <a:spcBef>
                <a:spcPts val="1200"/>
              </a:spcBef>
              <a:spcAft>
                <a:spcPts val="0"/>
              </a:spcAft>
              <a:buClr>
                <a:schemeClr val="dk1"/>
              </a:buClr>
              <a:buSzPts val="1100"/>
              <a:buFont typeface="Arial"/>
              <a:buNone/>
            </a:pPr>
            <a:r>
              <a:rPr lang="en-GB"/>
              <a:t>（手勢從左側文件圖示滑向右側） 首先，我們將巨大的輸入文本分割成多個區塊（Chunks）。每個 Thread（執行緒）被分配處理一個獨立的區塊，這讓我們能夠達到完全的平行化（Embarrassingly Parallel）。</a:t>
            </a:r>
            <a:endParaRPr/>
          </a:p>
          <a:p>
            <a:pPr indent="0" lvl="0" marL="0" rtl="0" algn="l">
              <a:lnSpc>
                <a:spcPct val="115000"/>
              </a:lnSpc>
              <a:spcBef>
                <a:spcPts val="1200"/>
              </a:spcBef>
              <a:spcAft>
                <a:spcPts val="0"/>
              </a:spcAft>
              <a:buClr>
                <a:schemeClr val="dk1"/>
              </a:buClr>
              <a:buSzPts val="1100"/>
              <a:buFont typeface="Arial"/>
              <a:buNone/>
            </a:pPr>
            <a:r>
              <a:rPr lang="en-GB"/>
              <a:t>（指著右側的方塊） 在處理過程中，執行緒會對文本進行 Tokenization（斷詞），並產生 中間鍵值對（Intermediate Key-Value Pairs）。 請注意，在這個階段，我們尚未進行加總。每一次遇到單字，我們就生成一個 </a:t>
            </a:r>
            <a:r>
              <a:rPr lang="en-GB">
                <a:latin typeface="Roboto Mono"/>
                <a:ea typeface="Roboto Mono"/>
                <a:cs typeface="Roboto Mono"/>
                <a:sym typeface="Roboto Mono"/>
              </a:rPr>
              <a:t>("word", 1)</a:t>
            </a:r>
            <a:r>
              <a:rPr lang="en-GB"/>
              <a:t> 的紀錄。例如圖中可以看到，Thread 1 輸出了兩次 </a:t>
            </a:r>
            <a:r>
              <a:rPr lang="en-GB">
                <a:latin typeface="Roboto Mono"/>
                <a:ea typeface="Roboto Mono"/>
                <a:cs typeface="Roboto Mono"/>
                <a:sym typeface="Roboto Mono"/>
              </a:rPr>
              <a:t>("the", 1)</a:t>
            </a:r>
            <a:r>
              <a:rPr lang="en-GB"/>
              <a:t>。這些原始的列表將會留待下一個階段進行處理。</a:t>
            </a:r>
            <a:endParaRPr/>
          </a:p>
          <a:p>
            <a:pPr indent="0" lvl="0" marL="0" rtl="0" algn="l">
              <a:spcBef>
                <a:spcPts val="1200"/>
              </a:spcBef>
              <a:spcAft>
                <a:spcPts val="0"/>
              </a:spcAft>
              <a:buNone/>
            </a:pPr>
            <a:r>
              <a:rPr lang="en-GB"/>
              <a:t>補:</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[斷詞]</a:t>
            </a:r>
            <a:r>
              <a:rPr b="1" lang="en-GB">
                <a:solidFill>
                  <a:schemeClr val="dk1"/>
                </a:solidFill>
              </a:rPr>
              <a:t>輸入 (Raw Text)：</a:t>
            </a:r>
            <a:r>
              <a:rPr lang="en-GB">
                <a:solidFill>
                  <a:schemeClr val="dk1"/>
                </a:solidFill>
              </a:rPr>
              <a:t> </a:t>
            </a:r>
            <a:r>
              <a:rPr lang="en-GB">
                <a:solidFill>
                  <a:srgbClr val="188038"/>
                </a:solidFill>
                <a:latin typeface="Roboto Mono"/>
                <a:ea typeface="Roboto Mono"/>
                <a:cs typeface="Roboto Mono"/>
                <a:sym typeface="Roboto Mono"/>
              </a:rPr>
              <a:t>"Hello, world! I am coding."</a:t>
            </a:r>
            <a:endParaRPr>
              <a:solidFill>
                <a:srgbClr val="188038"/>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GB">
                <a:solidFill>
                  <a:schemeClr val="dk1"/>
                </a:solidFill>
              </a:rPr>
              <a:t>     斷詞 (Tokenization)：</a:t>
            </a:r>
            <a:r>
              <a:rPr lang="en-GB">
                <a:solidFill>
                  <a:schemeClr val="dk1"/>
                </a:solidFill>
              </a:rPr>
              <a:t> </a:t>
            </a:r>
            <a:r>
              <a:rPr lang="en-GB">
                <a:solidFill>
                  <a:srgbClr val="188038"/>
                </a:solidFill>
                <a:latin typeface="Roboto Mono"/>
                <a:ea typeface="Roboto Mono"/>
                <a:cs typeface="Roboto Mono"/>
                <a:sym typeface="Roboto Mono"/>
              </a:rPr>
              <a:t>["hello", "world", "i", "am", "coding"]</a:t>
            </a:r>
            <a:endParaRPr>
              <a:solidFill>
                <a:srgbClr val="188038"/>
              </a:solidFill>
              <a:latin typeface="Roboto Mono"/>
              <a:ea typeface="Roboto Mono"/>
              <a:cs typeface="Roboto Mono"/>
              <a:sym typeface="Roboto Mon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abc7392067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abc7392067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接下來是 Shuffle（洗牌） 階段，這是 MapReduce 流程中連結 Map 與 Reduce 的關鍵橋樑。</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（指著左側） 大家可以看到投影片左側，這是 Map 階段輸出的「中間鍵值對（Intermediate Key-Value Pairs）」，例如 </a:t>
            </a:r>
            <a:r>
              <a:rPr lang="en-GB">
                <a:solidFill>
                  <a:schemeClr val="dk1"/>
                </a:solidFill>
                <a:latin typeface="Roboto Mono"/>
                <a:ea typeface="Roboto Mono"/>
                <a:cs typeface="Roboto Mono"/>
                <a:sym typeface="Roboto Mono"/>
              </a:rPr>
              <a:t>("the", 1)</a:t>
            </a:r>
            <a:r>
              <a:rPr lang="en-GB">
                <a:solidFill>
                  <a:schemeClr val="dk1"/>
                </a:solidFill>
              </a:rPr>
              <a:t> 或 </a:t>
            </a:r>
            <a:r>
              <a:rPr lang="en-GB">
                <a:solidFill>
                  <a:schemeClr val="dk1"/>
                </a:solidFill>
                <a:latin typeface="Roboto Mono"/>
                <a:ea typeface="Roboto Mono"/>
                <a:cs typeface="Roboto Mono"/>
                <a:sym typeface="Roboto Mono"/>
              </a:rPr>
              <a:t>("cat", 1)</a:t>
            </a:r>
            <a:r>
              <a:rPr lang="en-GB">
                <a:solidFill>
                  <a:schemeClr val="dk1"/>
                </a:solidFill>
              </a:rPr>
              <a:t>。此時，數據還是散亂分布在不同的處理單元中。</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（指著中間與右側） Shuffle 的工作，就是將這些散亂的數據，依照「Key（關鍵字）」進行分組與排序。</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（舉例） 就像圖中顯示的，所有的 </a:t>
            </a:r>
            <a:r>
              <a:rPr lang="en-GB">
                <a:solidFill>
                  <a:schemeClr val="dk1"/>
                </a:solidFill>
                <a:latin typeface="Roboto Mono"/>
                <a:ea typeface="Roboto Mono"/>
                <a:cs typeface="Roboto Mono"/>
                <a:sym typeface="Roboto Mono"/>
              </a:rPr>
              <a:t>"the"</a:t>
            </a:r>
            <a:r>
              <a:rPr lang="en-GB">
                <a:solidFill>
                  <a:schemeClr val="dk1"/>
                </a:solidFill>
              </a:rPr>
              <a:t> 被歸類到一組，所有的 </a:t>
            </a:r>
            <a:r>
              <a:rPr lang="en-GB">
                <a:solidFill>
                  <a:schemeClr val="dk1"/>
                </a:solidFill>
                <a:latin typeface="Roboto Mono"/>
                <a:ea typeface="Roboto Mono"/>
                <a:cs typeface="Roboto Mono"/>
                <a:sym typeface="Roboto Mono"/>
              </a:rPr>
              <a:t>"cat"</a:t>
            </a:r>
            <a:r>
              <a:rPr lang="en-GB">
                <a:solidFill>
                  <a:schemeClr val="dk1"/>
                </a:solidFill>
              </a:rPr>
              <a:t> 也被歸類到一組。這樣一來，Reduce 函數才能針對每一組去計算最終的總數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在我們的專案中，這個階段是效能差異的關鍵點。</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對於 MPI 來說，這代表著跨節點的通訊與資料交換（Collective Communication）。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對於 Pthreads，我們利用共享記憶體架構，實作了「Hash Partitioning（雜湊分區）」。每個執行緒會計算 Key 的雜湊值，直接將資料分發到全域記憶體中對應的 Partition，這樣不僅完成了資料分組，更避免了使用 Mutex 鎖造成的效能瓶頸。</a:t>
            </a:r>
            <a:endParaRPr>
              <a:solidFill>
                <a:schemeClr val="dk1"/>
              </a:solidFill>
            </a:endParaRPr>
          </a:p>
          <a:p>
            <a:pPr indent="0" lvl="0" marL="457200" rtl="0" algn="l">
              <a:lnSpc>
                <a:spcPct val="115000"/>
              </a:lnSpc>
              <a:spcBef>
                <a:spcPts val="1200"/>
              </a:spcBef>
              <a:spcAft>
                <a:spcPts val="0"/>
              </a:spcAft>
              <a:buNone/>
            </a:pPr>
            <a:r>
              <a:rPr lang="en-GB">
                <a:solidFill>
                  <a:schemeClr val="dk1"/>
                </a:solidFill>
              </a:rPr>
              <a:t>(這裡發生了什麼事？</a:t>
            </a:r>
            <a:endParaRPr>
              <a:solidFill>
                <a:schemeClr val="dk1"/>
              </a:solidFill>
            </a:endParaRPr>
          </a:p>
          <a:p>
            <a:pPr indent="0" lvl="0" marL="457200" rtl="0" algn="l">
              <a:lnSpc>
                <a:spcPct val="115000"/>
              </a:lnSpc>
              <a:spcBef>
                <a:spcPts val="1200"/>
              </a:spcBef>
              <a:spcAft>
                <a:spcPts val="0"/>
              </a:spcAft>
              <a:buNone/>
            </a:pPr>
            <a:r>
              <a:rPr lang="en-GB">
                <a:solidFill>
                  <a:schemeClr val="dk1"/>
                </a:solidFill>
              </a:rPr>
              <a:t>假設有兩個執行緒：Thread A 和 Thread B。</a:t>
            </a:r>
            <a:endParaRPr>
              <a:solidFill>
                <a:schemeClr val="dk1"/>
              </a:solidFill>
            </a:endParaRPr>
          </a:p>
          <a:p>
            <a:pPr indent="0" lvl="0" marL="457200" rtl="0" algn="l">
              <a:lnSpc>
                <a:spcPct val="115000"/>
              </a:lnSpc>
              <a:spcBef>
                <a:spcPts val="1200"/>
              </a:spcBef>
              <a:spcAft>
                <a:spcPts val="0"/>
              </a:spcAft>
              <a:buNone/>
            </a:pPr>
            <a:r>
              <a:rPr lang="en-GB">
                <a:solidFill>
                  <a:schemeClr val="dk1"/>
                </a:solidFill>
              </a:rPr>
              <a:t>假設它們同時處理到了單字 "apple"，並且算出 "apple" 應該送到 Partition 0。此時：</a:t>
            </a:r>
            <a:endParaRPr>
              <a:solidFill>
                <a:schemeClr val="dk1"/>
              </a:solidFill>
            </a:endParaRPr>
          </a:p>
          <a:p>
            <a:pPr indent="0" lvl="0" marL="457200" rtl="0" algn="l">
              <a:lnSpc>
                <a:spcPct val="115000"/>
              </a:lnSpc>
              <a:spcBef>
                <a:spcPts val="1200"/>
              </a:spcBef>
              <a:spcAft>
                <a:spcPts val="0"/>
              </a:spcAft>
              <a:buNone/>
            </a:pPr>
            <a:r>
              <a:rPr lang="en-GB">
                <a:solidFill>
                  <a:schemeClr val="dk1"/>
                </a:solidFill>
              </a:rPr>
              <a:t>Thread A 會寫入：</a:t>
            </a:r>
            <a:r>
              <a:rPr lang="en-GB">
                <a:solidFill>
                  <a:schemeClr val="dk1"/>
                </a:solidFill>
                <a:latin typeface="Roboto Mono"/>
                <a:ea typeface="Roboto Mono"/>
                <a:cs typeface="Roboto Mono"/>
                <a:sym typeface="Roboto Mono"/>
              </a:rPr>
              <a:t>partitions[A][0].push_back("apple")</a:t>
            </a:r>
            <a:endParaRPr>
              <a:solidFill>
                <a:schemeClr val="dk1"/>
              </a:solidFill>
              <a:latin typeface="Roboto Mono"/>
              <a:ea typeface="Roboto Mono"/>
              <a:cs typeface="Roboto Mono"/>
              <a:sym typeface="Roboto Mono"/>
            </a:endParaRPr>
          </a:p>
          <a:p>
            <a:pPr indent="0" lvl="0" marL="457200" rtl="0" algn="l">
              <a:lnSpc>
                <a:spcPct val="115000"/>
              </a:lnSpc>
              <a:spcBef>
                <a:spcPts val="1200"/>
              </a:spcBef>
              <a:spcAft>
                <a:spcPts val="0"/>
              </a:spcAft>
              <a:buNone/>
            </a:pPr>
            <a:r>
              <a:rPr lang="en-GB">
                <a:solidFill>
                  <a:schemeClr val="dk1"/>
                </a:solidFill>
              </a:rPr>
              <a:t>Thread B 會寫入：</a:t>
            </a:r>
            <a:r>
              <a:rPr lang="en-GB">
                <a:solidFill>
                  <a:schemeClr val="dk1"/>
                </a:solidFill>
                <a:latin typeface="Roboto Mono"/>
                <a:ea typeface="Roboto Mono"/>
                <a:cs typeface="Roboto Mono"/>
                <a:sym typeface="Roboto Mono"/>
              </a:rPr>
              <a:t>partitions[B][0].push_back("apple")</a:t>
            </a:r>
            <a:r>
              <a:rPr lang="en-GB">
                <a:solidFill>
                  <a:schemeClr val="dk1"/>
                </a:solidFill>
              </a:rPr>
              <a:t>)</a:t>
            </a:r>
            <a:endParaRPr>
              <a:solidFill>
                <a:schemeClr val="dk1"/>
              </a:solidFill>
            </a:endParaRPr>
          </a:p>
          <a:p>
            <a:pPr indent="0" lvl="0" marL="0" rtl="0" algn="l">
              <a:lnSpc>
                <a:spcPct val="115000"/>
              </a:lnSpc>
              <a:spcBef>
                <a:spcPts val="1200"/>
              </a:spcBef>
              <a:spcAft>
                <a:spcPts val="1200"/>
              </a:spcAft>
              <a:buNone/>
            </a:pPr>
            <a:r>
              <a:rPr lang="en-GB">
                <a:solidFill>
                  <a:schemeClr val="dk1"/>
                </a:solidFill>
              </a:rPr>
              <a:t>我們將分析不同模型在處理這個資料重組過程時的通訊開銷與記憶體管理效率。</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abc7392067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abc7392067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t>最後，我們來到 Reduce） 階段。</a:t>
            </a:r>
            <a:endParaRPr/>
          </a:p>
          <a:p>
            <a:pPr indent="0" lvl="0" marL="0" rtl="0" algn="l">
              <a:lnSpc>
                <a:spcPct val="115000"/>
              </a:lnSpc>
              <a:spcBef>
                <a:spcPts val="1200"/>
              </a:spcBef>
              <a:spcAft>
                <a:spcPts val="0"/>
              </a:spcAft>
              <a:buClr>
                <a:schemeClr val="dk1"/>
              </a:buClr>
              <a:buSzPts val="1100"/>
              <a:buFont typeface="Arial"/>
              <a:buNone/>
            </a:pPr>
            <a:r>
              <a:rPr lang="en-GB"/>
              <a:t>大家可以看到，經過 Shuffle 之後，相同的單字已經被歸類在一起了。 （指著左側） 例如所有的 </a:t>
            </a:r>
            <a:r>
              <a:rPr lang="en-GB">
                <a:latin typeface="Roboto Mono"/>
                <a:ea typeface="Roboto Mono"/>
                <a:cs typeface="Roboto Mono"/>
                <a:sym typeface="Roboto Mono"/>
              </a:rPr>
              <a:t>"the"</a:t>
            </a:r>
            <a:r>
              <a:rPr lang="en-GB"/>
              <a:t> 都已經準備好被加總，所有的 </a:t>
            </a:r>
            <a:r>
              <a:rPr lang="en-GB">
                <a:latin typeface="Roboto Mono"/>
                <a:ea typeface="Roboto Mono"/>
                <a:cs typeface="Roboto Mono"/>
                <a:sym typeface="Roboto Mono"/>
              </a:rPr>
              <a:t>"cat"</a:t>
            </a:r>
            <a:r>
              <a:rPr lang="en-GB"/>
              <a:t> 也都在一起了。</a:t>
            </a:r>
            <a:endParaRPr/>
          </a:p>
          <a:p>
            <a:pPr indent="0" lvl="0" marL="0" rtl="0" algn="l">
              <a:lnSpc>
                <a:spcPct val="115000"/>
              </a:lnSpc>
              <a:spcBef>
                <a:spcPts val="1200"/>
              </a:spcBef>
              <a:spcAft>
                <a:spcPts val="0"/>
              </a:spcAft>
              <a:buClr>
                <a:schemeClr val="dk1"/>
              </a:buClr>
              <a:buSzPts val="1100"/>
              <a:buFont typeface="Arial"/>
              <a:buNone/>
            </a:pPr>
            <a:r>
              <a:rPr lang="en-GB"/>
              <a:t>在這個階段：</a:t>
            </a:r>
            <a:endParaRPr/>
          </a:p>
          <a:p>
            <a:pPr indent="-298450" lvl="0" marL="457200" rtl="0" algn="l">
              <a:lnSpc>
                <a:spcPct val="115000"/>
              </a:lnSpc>
              <a:spcBef>
                <a:spcPts val="1200"/>
              </a:spcBef>
              <a:spcAft>
                <a:spcPts val="0"/>
              </a:spcAft>
              <a:buClr>
                <a:srgbClr val="000000"/>
              </a:buClr>
              <a:buSzPts val="1100"/>
              <a:buAutoNum type="arabicPeriod"/>
            </a:pPr>
            <a:r>
              <a:rPr lang="en-GB"/>
              <a:t>每個執行緒只需要負責處理一個特定的 Partition。</a:t>
            </a:r>
            <a:endParaRPr/>
          </a:p>
          <a:p>
            <a:pPr indent="-298450" lvl="0" marL="457200" rtl="0" algn="l">
              <a:lnSpc>
                <a:spcPct val="115000"/>
              </a:lnSpc>
              <a:spcBef>
                <a:spcPts val="0"/>
              </a:spcBef>
              <a:spcAft>
                <a:spcPts val="0"/>
              </a:spcAft>
              <a:buClr>
                <a:srgbClr val="000000"/>
              </a:buClr>
              <a:buSzPts val="1100"/>
              <a:buAutoNum type="arabicPeriod"/>
            </a:pPr>
            <a:r>
              <a:rPr lang="en-GB"/>
              <a:t>它會從全域記憶體中讀取屬於它的資料片段，並將這些 </a:t>
            </a:r>
            <a:r>
              <a:rPr lang="en-GB">
                <a:latin typeface="Roboto Mono"/>
                <a:ea typeface="Roboto Mono"/>
                <a:cs typeface="Roboto Mono"/>
                <a:sym typeface="Roboto Mono"/>
              </a:rPr>
              <a:t>("word", 1)</a:t>
            </a:r>
            <a:r>
              <a:rPr lang="en-GB"/>
              <a:t> 的列表，加總成最終的計數，例如右邊看到的 </a:t>
            </a:r>
            <a:r>
              <a:rPr lang="en-GB">
                <a:latin typeface="Roboto Mono"/>
                <a:ea typeface="Roboto Mono"/>
                <a:cs typeface="Roboto Mono"/>
                <a:sym typeface="Roboto Mono"/>
              </a:rPr>
              <a:t>("the", 6)</a:t>
            </a:r>
            <a:r>
              <a:rPr lang="en-GB"/>
              <a:t>。</a:t>
            </a:r>
            <a:endParaRPr/>
          </a:p>
          <a:p>
            <a:pPr indent="0" lvl="0" marL="0" rtl="0" algn="l">
              <a:lnSpc>
                <a:spcPct val="115000"/>
              </a:lnSpc>
              <a:spcBef>
                <a:spcPts val="1200"/>
              </a:spcBef>
              <a:spcAft>
                <a:spcPts val="0"/>
              </a:spcAft>
              <a:buNone/>
            </a:pPr>
            <a:r>
              <a:rPr lang="en-GB"/>
              <a:t>(當 Thread 0 在讀取 </a:t>
            </a:r>
            <a:r>
              <a:rPr lang="en-GB">
                <a:latin typeface="Roboto Mono"/>
                <a:ea typeface="Roboto Mono"/>
                <a:cs typeface="Roboto Mono"/>
                <a:sym typeface="Roboto Mono"/>
              </a:rPr>
              <a:t>partitions[A][0]</a:t>
            </a:r>
            <a:r>
              <a:rPr lang="en-GB"/>
              <a:t> 和 </a:t>
            </a:r>
            <a:r>
              <a:rPr lang="en-GB">
                <a:latin typeface="Roboto Mono"/>
                <a:ea typeface="Roboto Mono"/>
                <a:cs typeface="Roboto Mono"/>
                <a:sym typeface="Roboto Mono"/>
              </a:rPr>
              <a:t>partitions[B][0]</a:t>
            </a:r>
            <a:r>
              <a:rPr lang="en-GB"/>
              <a:t> 時，因為有 Barrier（屏障）擋在中間，Thread A 和 B 早就寫完並且停手了。</a:t>
            </a:r>
            <a:endParaRPr/>
          </a:p>
          <a:p>
            <a:pPr indent="0" lvl="0" marL="0" rtl="0" algn="l">
              <a:lnSpc>
                <a:spcPct val="115000"/>
              </a:lnSpc>
              <a:spcBef>
                <a:spcPts val="1200"/>
              </a:spcBef>
              <a:spcAft>
                <a:spcPts val="1200"/>
              </a:spcAft>
              <a:buNone/>
            </a:pPr>
            <a:r>
              <a:rPr lang="en-GB"/>
              <a:t>所以讀取也是安全的。)</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abc7392067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abc7392067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這個程式採用MapReduce 三階段架構：</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第一階段是 MAP，我們用兩個 CUDA kernels 平行處理文本。首先 find boundaries 找出所有單詞的起始位置，接著 process words 提取單詞、轉小寫、過濾 stopwords，最後輸出pairs。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第二階段是 SHUFFLE，這是整個架構的核心。我們用 Hash Table 來重組資料， assign groups kernel 會把相同的單詞分到同一組，建立Hash Table。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第三階段是 REDUCE，reduce_kernel 對每個 key 的 value list 求和，產生最終的統計結果。"</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ab6b144d46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ab6b144d46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這是我們遇到的問題</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在 Pthreads 跟 OpenMP 中，最大的問題是多個執行緒同時更新全域資料結構，會造成很大的 contention。為了解決這個問題，我們改用 Thread-Local Storage，讓每個 thread 先把自己的 Map 結果存到 local buffer，最後在 Reduce 階段才合併，成功移除 lock 造成的瓶頸。</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在 MPI 裡面，我們遇到的問題是 Rank 0 要讀整個檔案，再 broadcast 給其他 ranks，這個 I/O 非常慢。所以我們改用平行的 I/O，讓每個 rank 自己跳到對應的 offset，同時讀取檔案，消除單一節點的 I/O bottleneck。</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最後是 CUDA。GPU 上沒有 std::map，標準做法是先 thrust::sort 進行 key-grouping，但這是 O(N log N) 的成本。我們實作了一個 MurmurHash3 + linear probing 的 custom Hash Table，有效避免 sorting 的開銷。</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ab6b144d46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ab6b144d46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我們測試環境是在 WSL2 的 Ubuntu 上，CPU使用 Intel i5-13500HX 共有14核 GPU使用 NVIDIA RTX 4060(8G VRAM)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ab6b144d46_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ab6b144d46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資料及分成大中小</a:t>
            </a:r>
            <a:endParaRPr/>
          </a:p>
          <a:p>
            <a:pPr indent="0" lvl="0" marL="0" rtl="0" algn="l">
              <a:spcBef>
                <a:spcPts val="0"/>
              </a:spcBef>
              <a:spcAft>
                <a:spcPts val="0"/>
              </a:spcAft>
              <a:buNone/>
            </a:pPr>
            <a:r>
              <a:rPr lang="en-GB"/>
              <a:t>小的有170  kb</a:t>
            </a:r>
            <a:endParaRPr/>
          </a:p>
          <a:p>
            <a:pPr indent="0" lvl="0" marL="0" rtl="0" algn="l">
              <a:spcBef>
                <a:spcPts val="0"/>
              </a:spcBef>
              <a:spcAft>
                <a:spcPts val="0"/>
              </a:spcAft>
              <a:buNone/>
            </a:pPr>
            <a:r>
              <a:rPr lang="en-GB"/>
              <a:t>中的有100  MB</a:t>
            </a:r>
            <a:endParaRPr/>
          </a:p>
          <a:p>
            <a:pPr indent="0" lvl="0" marL="0" rtl="0" algn="l">
              <a:spcBef>
                <a:spcPts val="0"/>
              </a:spcBef>
              <a:spcAft>
                <a:spcPts val="0"/>
              </a:spcAft>
              <a:buNone/>
            </a:pPr>
            <a:r>
              <a:rPr lang="en-GB"/>
              <a:t>大的有1  GB</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abc739206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abc739206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結果圖片皆為左邊為小資料集 中間為中資料集 右邊為大資料集</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首先看整題時間的speed up 可以觀察到在小資料集上平行化幾乎沒有優勢，甚至因為 Overhead 而變慢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在中右圖中平行化的優勢展現出來了，可以看到 CUDA 資料量大時表現出擴展性，但整體實驗下來的結果表現還是pthread和openMP效果比較好</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a3d1379ec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a3d1379ec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在 Map 階段的效能評估中，首先可以看到在小資料集上，所有方法的加速效果都不顯著。這是因為平行化的初始化開銷過高，抵消了計算收益：(例如 Pthread 與 OpenMP 的執行緒建立與 Context Switch 成本、CUDA 的 Kernel 啟動與 PCIe 資料傳輸延遲、以及 MPI 的通訊環境建置，在資料量不足時都會成為主要瓶頸)</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接著分析兩個觀察到的現象。第一，CUDA 的效能差異：在中資料集時 CUDA 展現了驚人的 60 倍加速，但在大資料集卻大幅跌落。推測是因為當資料量達到 1GB 時，GPU 面臨了嚴重的 Global Memory 寫入瓶頸 ，加上巨量資料的 PCIe 傳輸成本以及 Map 階段大量的邏輯分支判斷，使得 GPU 優勢不再。</a:t>
            </a:r>
            <a:endParaRPr>
              <a:solidFill>
                <a:schemeClr val="dk1"/>
              </a:solidFill>
            </a:endParaRPr>
          </a:p>
          <a:p>
            <a:pPr indent="0" lvl="0" marL="0" marR="381000" rtl="0" algn="l">
              <a:lnSpc>
                <a:spcPct val="115000"/>
              </a:lnSpc>
              <a:spcBef>
                <a:spcPts val="1200"/>
              </a:spcBef>
              <a:spcAft>
                <a:spcPts val="1200"/>
              </a:spcAft>
              <a:buClr>
                <a:schemeClr val="dk1"/>
              </a:buClr>
              <a:buSzPts val="1100"/>
              <a:buFont typeface="Arial"/>
              <a:buNone/>
            </a:pPr>
            <a:r>
              <a:rPr lang="en-GB">
                <a:solidFill>
                  <a:schemeClr val="dk1"/>
                </a:solidFill>
              </a:rPr>
              <a:t>第二，關於 Pthread 與 OpenMP 的線性成長瓶頸：雖然它們在大資料集下接近線性加速，但在中資料集中卻提早出現效能飽和。推測這主要受限於硬體架構與記憶體競爭的雙重影響。首先，我們的CPU 僅有 6 個 P-Cores，當執行緒數超過 6 個時，靜態分割導致 P-Cores 必須等待較慢的 E-Cores 完成，產生了嚴重的拖油瓶效應，且此時記憶體頻寬往往已達到物理上限。</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a3d1379ec1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a3d1379ec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a:solidFill>
                  <a:schemeClr val="dk1"/>
                </a:solidFill>
              </a:rPr>
              <a:t>接著是Shuffle 階段。我們觀察到資料規模對不同架構的效能有著重大的影響。在小資料集，圖中顯示 Speedup 起伏非常劇烈。這主要是因為資料量太小，Shuffle 的實際工作量不足，導致平行化的開銷比計算加速還大。在中資料集，CUDA 的表現最為優異。</a:t>
            </a:r>
            <a:r>
              <a:rPr lang="en-GB">
                <a:solidFill>
                  <a:schemeClr val="dk1"/>
                </a:solidFill>
              </a:rPr>
              <a:t>這是因為我們前面提到的 Hash Table 的優化</a:t>
            </a:r>
            <a:r>
              <a:rPr lang="en-GB">
                <a:solidFill>
                  <a:schemeClr val="dk1"/>
                </a:solidFill>
              </a:rPr>
              <a:t>，</a:t>
            </a:r>
            <a:r>
              <a:rPr lang="en-GB">
                <a:solidFill>
                  <a:schemeClr val="dk1"/>
                </a:solidFill>
              </a:rPr>
              <a:t>讓 GPU 在資料分組時不需要進行排序費時的操作。</a:t>
            </a:r>
            <a:r>
              <a:rPr lang="en-GB">
                <a:solidFill>
                  <a:schemeClr val="dk1"/>
                </a:solidFill>
              </a:rPr>
              <a:t>然而，在大資料集，CUDA 的效能反而下降，</a:t>
            </a:r>
            <a:r>
              <a:rPr lang="en-GB">
                <a:solidFill>
                  <a:schemeClr val="dk1"/>
                </a:solidFill>
              </a:rPr>
              <a:t>主要是因為受限於記憶體大小，Hash Table可能放不進 GPU 的 L2 Cache。</a:t>
            </a:r>
            <a:endParaRPr>
              <a:solidFill>
                <a:schemeClr val="dk1"/>
              </a:solidFill>
            </a:endParaRPr>
          </a:p>
          <a:p>
            <a:pPr indent="0" lvl="0" marL="0" rtl="0" algn="l">
              <a:spcBef>
                <a:spcPts val="1200"/>
              </a:spcBef>
              <a:spcAft>
                <a:spcPts val="0"/>
              </a:spcAft>
              <a:buNone/>
            </a:pPr>
            <a:r>
              <a:rPr lang="en-GB">
                <a:solidFill>
                  <a:schemeClr val="dk1"/>
                </a:solidFill>
              </a:rPr>
              <a:t>回到CPU端，我們發現各種架構的speedup都隨資料集增大及執行續的數量增加而顯著提升，推測是因為計算量充足，平行化開銷被攤平，</a:t>
            </a:r>
            <a:endParaRPr>
              <a:solidFill>
                <a:schemeClr val="dk1"/>
              </a:solidFill>
            </a:endParaRPr>
          </a:p>
          <a:p>
            <a:pPr indent="0" lvl="0" marL="0" rtl="0" algn="l">
              <a:lnSpc>
                <a:spcPct val="115000"/>
              </a:lnSpc>
              <a:spcBef>
                <a:spcPts val="0"/>
              </a:spcBef>
              <a:spcAft>
                <a:spcPts val="1200"/>
              </a:spcAft>
              <a:buNone/>
            </a:pPr>
            <a:r>
              <a:rPr lang="en-GB">
                <a:solidFill>
                  <a:schemeClr val="dk1"/>
                </a:solidFill>
              </a:rPr>
              <a:t>OpenMP 與 Pthread 因為使用了TLS，每個執行緒都在自己的 Cache 中操作，完全沒有競爭。因此在計算量充足的大資料集下，它們呈現了穩定的線性成長，顯示共享記憶體架構非常適合處理這類大規模 Shuffle 操作。MPI雖然是穩定成長但依然受限於process間通訊成本，即使資料變大，通訊開銷仍是瓶頸</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a3d1379ec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a3d1379ec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最後是reduce階段 可以看到cuda在中和大資料集的地方表現都非常好，推測主要有兩個原因，</a:t>
            </a:r>
            <a:endParaRPr>
              <a:solidFill>
                <a:schemeClr val="dk1"/>
              </a:solidFill>
            </a:endParaRPr>
          </a:p>
          <a:p>
            <a:pPr indent="0" lvl="0" marL="0" rtl="0" algn="l">
              <a:spcBef>
                <a:spcPts val="0"/>
              </a:spcBef>
              <a:spcAft>
                <a:spcPts val="0"/>
              </a:spcAft>
              <a:buNone/>
            </a:pPr>
            <a:r>
              <a:rPr lang="en-GB">
                <a:solidFill>
                  <a:schemeClr val="dk1"/>
                </a:solidFill>
              </a:rPr>
              <a:t>第一是因為</a:t>
            </a:r>
            <a:r>
              <a:rPr lang="en-GB">
                <a:solidFill>
                  <a:schemeClr val="dk1"/>
                </a:solidFill>
              </a:rPr>
              <a:t>記憶體存取模式因為CUDA 在 Shuffle 階段已經將每個單字對應的數值預先重組並存入連續的記憶體空間。因此Reduce 階段本質上轉變為對連續陣列的線性掃描與加法。 ，另一個原因是CDUA只需針對一個for迴圈去做加總，</a:t>
            </a:r>
            <a:r>
              <a:rPr lang="en-GB">
                <a:solidFill>
                  <a:schemeClr val="dk1"/>
                </a:solidFill>
              </a:rPr>
              <a:t>而其他方法則因為採用前面提到的TLS策略，導致在這階段需要合併hash map，</a:t>
            </a:r>
            <a:r>
              <a:rPr lang="en-GB">
                <a:solidFill>
                  <a:schemeClr val="dk1"/>
                </a:solidFill>
              </a:rPr>
              <a:t>這包含大量的 Pointer Chasing (指標跳轉)、Rehashing (重新雜湊) 和記憶體配置等問題，這些都比單純的陣列加法還慢。MPI 除了上述的合併砸湊開銷外，還必須處理跨節點的通訊成本，因此速度會更慢</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ab6b144d46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ab6b144d46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最後總結我們的研究發現。不同的資料規模是決定平行化效能的關鍵因素。在處理像170KB 這樣的小型資料集時，平行化反而沒有優勢。這是因為啟動成本像是</a:t>
            </a:r>
            <a:r>
              <a:rPr lang="en-GB">
                <a:solidFill>
                  <a:schemeClr val="dk1"/>
                </a:solidFill>
              </a:rPr>
              <a:t>執行緒的建立與切換，或是 GPU 的記憶體傳輸時間</a:t>
            </a:r>
            <a:r>
              <a:rPr lang="en-GB">
                <a:solidFill>
                  <a:schemeClr val="dk1"/>
                </a:solidFill>
              </a:rPr>
              <a:t>大於實際收益，</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而也需要針對不同平行化的瓶頸進行各自優化，像是</a:t>
            </a:r>
            <a:r>
              <a:rPr lang="en-GB">
                <a:solidFill>
                  <a:schemeClr val="dk1"/>
                </a:solidFill>
              </a:rPr>
              <a:t>Pthread 與 OpenMP，我們採用了 Thread-Local Storage。避免了多執行緒同時搶奪同一個資料結構。而MPI方面，我們使用了平行化 I/O 技術。讓每個 Rank 直接讀取屬於自己的檔案區段，大幅減少原本只有 Rank 0 讀檔並將資料傳遞給其他rank所造成的成</a:t>
            </a:r>
            <a:r>
              <a:rPr lang="en-GB">
                <a:solidFill>
                  <a:schemeClr val="dk1"/>
                </a:solidFill>
              </a:rPr>
              <a:t>本。</a:t>
            </a:r>
            <a:r>
              <a:rPr lang="en-GB">
                <a:solidFill>
                  <a:schemeClr val="dk1"/>
                </a:solidFill>
              </a:rPr>
              <a:t>在 CUDA 方面，捨棄傳統O(NlogN)的排序，改用自製的Hash Table將複雜度降至線性時間。</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我們不只比較了四種架構的效能，也在固定演算法下針對它們各自的瓶頸做了最佳化。</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ab6b144d46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ab6b144d46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分工</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ac9da04f70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ac9da04f70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阿哩嘎斗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ab6b144d46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ab6b144d46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acfb91dea4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acfb91dea4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acfb91dea4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acfb91dea4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acfb91dea4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acfb91dea4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acfb91dea4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acfb91dea4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www.gutenberg.org/ebooks/11" TargetMode="External"/><Relationship Id="rId4" Type="http://schemas.openxmlformats.org/officeDocument/2006/relationships/hyperlink" Target="https://www.kaggle.com/datasets/yorkyong/text8-zip?resource=download" TargetMode="External"/><Relationship Id="rId5" Type="http://schemas.openxmlformats.org/officeDocument/2006/relationships/hyperlink" Target="https://mattmahoney.net/dc/textdata.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1004150" y="1751764"/>
            <a:ext cx="7136700" cy="102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GB" sz="3060"/>
              <a:t>Comparative Study of Parallelization Techniques for Word Counting Map Reduce Algorithm</a:t>
            </a:r>
            <a:endParaRPr sz="3060"/>
          </a:p>
        </p:txBody>
      </p:sp>
      <p:sp>
        <p:nvSpPr>
          <p:cNvPr id="67" name="Google Shape;67;p13"/>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fontScale="25000" lnSpcReduction="20000"/>
          </a:bodyPr>
          <a:lstStyle/>
          <a:p>
            <a:pPr indent="0" lvl="0" marL="0" rtl="0" algn="ctr">
              <a:lnSpc>
                <a:spcPct val="115000"/>
              </a:lnSpc>
              <a:spcBef>
                <a:spcPts val="0"/>
              </a:spcBef>
              <a:spcAft>
                <a:spcPts val="0"/>
              </a:spcAft>
              <a:buNone/>
            </a:pPr>
            <a:r>
              <a:rPr lang="en-GB" sz="5059"/>
              <a:t>Group 30</a:t>
            </a:r>
            <a:endParaRPr sz="5059"/>
          </a:p>
          <a:p>
            <a:pPr indent="0" lvl="0" marL="0" rtl="0" algn="ctr">
              <a:lnSpc>
                <a:spcPct val="115000"/>
              </a:lnSpc>
              <a:spcBef>
                <a:spcPts val="0"/>
              </a:spcBef>
              <a:spcAft>
                <a:spcPts val="0"/>
              </a:spcAft>
              <a:buNone/>
            </a:pPr>
            <a:r>
              <a:t/>
            </a:r>
            <a:endParaRPr sz="5059"/>
          </a:p>
          <a:p>
            <a:pPr indent="0" lvl="0" marL="0" rtl="0" algn="ctr">
              <a:lnSpc>
                <a:spcPct val="115000"/>
              </a:lnSpc>
              <a:spcBef>
                <a:spcPts val="0"/>
              </a:spcBef>
              <a:spcAft>
                <a:spcPts val="0"/>
              </a:spcAft>
              <a:buNone/>
            </a:pPr>
            <a:r>
              <a:rPr lang="en-GB" sz="5059"/>
              <a:t>314553008 </a:t>
            </a:r>
            <a:r>
              <a:rPr lang="en-GB" sz="5059"/>
              <a:t>陳姿蓉</a:t>
            </a:r>
            <a:endParaRPr sz="5059"/>
          </a:p>
          <a:p>
            <a:pPr indent="0" lvl="0" marL="0" rtl="0" algn="ctr">
              <a:lnSpc>
                <a:spcPct val="115000"/>
              </a:lnSpc>
              <a:spcBef>
                <a:spcPts val="0"/>
              </a:spcBef>
              <a:spcAft>
                <a:spcPts val="0"/>
              </a:spcAft>
              <a:buNone/>
            </a:pPr>
            <a:r>
              <a:rPr lang="en-GB" sz="5059"/>
              <a:t>314552021 林孝欣</a:t>
            </a:r>
            <a:endParaRPr sz="5059"/>
          </a:p>
          <a:p>
            <a:pPr indent="0" lvl="0" marL="0" rtl="0" algn="ctr">
              <a:lnSpc>
                <a:spcPct val="115000"/>
              </a:lnSpc>
              <a:spcBef>
                <a:spcPts val="0"/>
              </a:spcBef>
              <a:spcAft>
                <a:spcPts val="0"/>
              </a:spcAft>
              <a:buNone/>
            </a:pPr>
            <a:r>
              <a:rPr lang="en-GB" sz="5059"/>
              <a:t>314554046 朱冠熙</a:t>
            </a:r>
            <a:r>
              <a:rPr lang="en-GB" sz="1600"/>
              <a:t> </a:t>
            </a:r>
            <a:endParaRPr sz="1600"/>
          </a:p>
          <a:p>
            <a:pPr indent="0" lvl="0" marL="0" rtl="0" algn="ctr">
              <a:lnSpc>
                <a:spcPct val="80000"/>
              </a:lnSpc>
              <a:spcBef>
                <a:spcPts val="0"/>
              </a:spcBef>
              <a:spcAft>
                <a:spcPts val="0"/>
              </a:spcAft>
              <a:buNone/>
            </a:pPr>
            <a:r>
              <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Introduction</a:t>
            </a:r>
            <a:endParaRPr/>
          </a:p>
        </p:txBody>
      </p:sp>
      <p:sp>
        <p:nvSpPr>
          <p:cNvPr id="73" name="Google Shape;73;p1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Font typeface="Times New Roman"/>
              <a:buChar char="●"/>
            </a:pPr>
            <a:r>
              <a:rPr lang="en-GB">
                <a:solidFill>
                  <a:srgbClr val="000000"/>
                </a:solidFill>
                <a:latin typeface="Times New Roman"/>
                <a:ea typeface="Times New Roman"/>
                <a:cs typeface="Times New Roman"/>
                <a:sym typeface="Times New Roman"/>
              </a:rPr>
              <a:t>Industrial frameworks like Hadoop and Spark abstract parallelization details, but understanding underlying hardware and programming models is crucial for performance tuning.</a:t>
            </a:r>
            <a:endParaRPr>
              <a:solidFill>
                <a:srgbClr val="000000"/>
              </a:solidFill>
              <a:latin typeface="Times New Roman"/>
              <a:ea typeface="Times New Roman"/>
              <a:cs typeface="Times New Roman"/>
              <a:sym typeface="Times New Roman"/>
            </a:endParaRPr>
          </a:p>
          <a:p>
            <a:pPr indent="0" lvl="0" marL="457200" rtl="0" algn="l">
              <a:spcBef>
                <a:spcPts val="1200"/>
              </a:spcBef>
              <a:spcAft>
                <a:spcPts val="0"/>
              </a:spcAft>
              <a:buNone/>
            </a:pPr>
            <a:r>
              <a:t/>
            </a:r>
            <a:endParaRPr>
              <a:solidFill>
                <a:srgbClr val="000000"/>
              </a:solidFill>
              <a:latin typeface="Times New Roman"/>
              <a:ea typeface="Times New Roman"/>
              <a:cs typeface="Times New Roman"/>
              <a:sym typeface="Times New Roman"/>
            </a:endParaRPr>
          </a:p>
          <a:p>
            <a:pPr indent="-342900" lvl="0" marL="457200" rtl="0" algn="l">
              <a:spcBef>
                <a:spcPts val="1200"/>
              </a:spcBef>
              <a:spcAft>
                <a:spcPts val="0"/>
              </a:spcAft>
              <a:buClr>
                <a:srgbClr val="000000"/>
              </a:buClr>
              <a:buSzPts val="1800"/>
              <a:buChar char="●"/>
            </a:pPr>
            <a:r>
              <a:rPr lang="en-GB">
                <a:solidFill>
                  <a:srgbClr val="000000"/>
                </a:solidFill>
                <a:latin typeface="Times New Roman"/>
                <a:ea typeface="Times New Roman"/>
                <a:cs typeface="Times New Roman"/>
                <a:sym typeface="Times New Roman"/>
              </a:rPr>
              <a:t>Evaluate how different parallel programming models perform on the same task — </a:t>
            </a:r>
            <a:r>
              <a:rPr b="1" lang="en-GB">
                <a:solidFill>
                  <a:srgbClr val="000000"/>
                </a:solidFill>
                <a:latin typeface="Times New Roman"/>
                <a:ea typeface="Times New Roman"/>
                <a:cs typeface="Times New Roman"/>
                <a:sym typeface="Times New Roman"/>
              </a:rPr>
              <a:t>Word Counting using the MapReduce workflow</a:t>
            </a:r>
            <a:r>
              <a:rPr lang="en-GB">
                <a:solidFill>
                  <a:srgbClr val="000000"/>
                </a:solidFill>
                <a:latin typeface="Times New Roman"/>
                <a:ea typeface="Times New Roman"/>
                <a:cs typeface="Times New Roman"/>
                <a:sym typeface="Times New Roman"/>
              </a:rPr>
              <a:t>.</a:t>
            </a:r>
            <a:endParaRPr>
              <a:solidFill>
                <a:srgbClr val="000000"/>
              </a:solidFill>
              <a:latin typeface="Times New Roman"/>
              <a:ea typeface="Times New Roman"/>
              <a:cs typeface="Times New Roman"/>
              <a:sym typeface="Times New Roman"/>
            </a:endParaRPr>
          </a:p>
          <a:p>
            <a:pPr indent="0" lvl="0" marL="457200" rtl="0" algn="l">
              <a:spcBef>
                <a:spcPts val="1200"/>
              </a:spcBef>
              <a:spcAft>
                <a:spcPts val="0"/>
              </a:spcAft>
              <a:buNone/>
            </a:pPr>
            <a:r>
              <a:t/>
            </a:r>
            <a:endParaRPr>
              <a:solidFill>
                <a:srgbClr val="000000"/>
              </a:solidFill>
              <a:latin typeface="Times New Roman"/>
              <a:ea typeface="Times New Roman"/>
              <a:cs typeface="Times New Roman"/>
              <a:sym typeface="Times New Roman"/>
            </a:endParaRPr>
          </a:p>
          <a:p>
            <a:pPr indent="-342900" lvl="0" marL="457200" rtl="0" algn="l">
              <a:spcBef>
                <a:spcPts val="1200"/>
              </a:spcBef>
              <a:spcAft>
                <a:spcPts val="0"/>
              </a:spcAft>
              <a:buClr>
                <a:srgbClr val="000000"/>
              </a:buClr>
              <a:buSzPts val="1800"/>
              <a:buFont typeface="Times New Roman"/>
              <a:buChar char="●"/>
            </a:pPr>
            <a:r>
              <a:rPr lang="en-GB">
                <a:solidFill>
                  <a:srgbClr val="000000"/>
                </a:solidFill>
                <a:latin typeface="Times New Roman"/>
                <a:ea typeface="Times New Roman"/>
                <a:cs typeface="Times New Roman"/>
                <a:sym typeface="Times New Roman"/>
              </a:rPr>
              <a:t>Provides insight into when and why each parallel model is effective.</a:t>
            </a:r>
            <a:endParaRPr>
              <a:solidFill>
                <a:srgbClr val="000000"/>
              </a:solidFill>
              <a:latin typeface="Times New Roman"/>
              <a:ea typeface="Times New Roman"/>
              <a:cs typeface="Times New Roman"/>
              <a:sym typeface="Times New Roman"/>
            </a:endParaRPr>
          </a:p>
        </p:txBody>
      </p:sp>
      <p:sp>
        <p:nvSpPr>
          <p:cNvPr id="74" name="Google Shape;74;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Problem statement</a:t>
            </a:r>
            <a:endParaRPr/>
          </a:p>
        </p:txBody>
      </p:sp>
      <p:sp>
        <p:nvSpPr>
          <p:cNvPr id="80" name="Google Shape;80;p1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Char char="●"/>
            </a:pPr>
            <a:r>
              <a:rPr lang="en-GB">
                <a:solidFill>
                  <a:srgbClr val="000000"/>
                </a:solidFill>
                <a:latin typeface="Times New Roman"/>
                <a:ea typeface="Times New Roman"/>
                <a:cs typeface="Times New Roman"/>
                <a:sym typeface="Times New Roman"/>
              </a:rPr>
              <a:t>Implement Word Count using </a:t>
            </a:r>
            <a:r>
              <a:rPr b="1" lang="en-GB">
                <a:solidFill>
                  <a:srgbClr val="000000"/>
                </a:solidFill>
                <a:latin typeface="Times New Roman"/>
                <a:ea typeface="Times New Roman"/>
                <a:cs typeface="Times New Roman"/>
                <a:sym typeface="Times New Roman"/>
              </a:rPr>
              <a:t>MapReduce</a:t>
            </a:r>
            <a:r>
              <a:rPr lang="en-GB">
                <a:solidFill>
                  <a:srgbClr val="000000"/>
                </a:solidFill>
                <a:latin typeface="Times New Roman"/>
                <a:ea typeface="Times New Roman"/>
                <a:cs typeface="Times New Roman"/>
                <a:sym typeface="Times New Roman"/>
              </a:rPr>
              <a:t> principles across four distinct parallelization architectures to enable direct quantitative comparison of performance, scalability, and resource utilization.</a:t>
            </a:r>
            <a:endParaRPr>
              <a:solidFill>
                <a:srgbClr val="000000"/>
              </a:solidFill>
              <a:latin typeface="Times New Roman"/>
              <a:ea typeface="Times New Roman"/>
              <a:cs typeface="Times New Roman"/>
              <a:sym typeface="Times New Roman"/>
            </a:endParaRPr>
          </a:p>
        </p:txBody>
      </p:sp>
      <p:sp>
        <p:nvSpPr>
          <p:cNvPr id="81" name="Google Shape;81;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Problem statement - </a:t>
            </a:r>
            <a:r>
              <a:rPr lang="en-GB" sz="2933"/>
              <a:t>MapReduce Introduction</a:t>
            </a:r>
            <a:endParaRPr sz="2933"/>
          </a:p>
        </p:txBody>
      </p:sp>
      <p:sp>
        <p:nvSpPr>
          <p:cNvPr id="87" name="Google Shape;87;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88" name="Google Shape;88;p16"/>
          <p:cNvPicPr preferRelativeResize="0"/>
          <p:nvPr/>
        </p:nvPicPr>
        <p:blipFill>
          <a:blip r:embed="rId3">
            <a:alphaModFix/>
          </a:blip>
          <a:stretch>
            <a:fillRect/>
          </a:stretch>
        </p:blipFill>
        <p:spPr>
          <a:xfrm>
            <a:off x="277201" y="2562123"/>
            <a:ext cx="856654" cy="856627"/>
          </a:xfrm>
          <a:prstGeom prst="rect">
            <a:avLst/>
          </a:prstGeom>
          <a:noFill/>
          <a:ln>
            <a:noFill/>
          </a:ln>
        </p:spPr>
      </p:pic>
      <p:cxnSp>
        <p:nvCxnSpPr>
          <p:cNvPr id="89" name="Google Shape;89;p16"/>
          <p:cNvCxnSpPr>
            <a:endCxn id="90" idx="1"/>
          </p:cNvCxnSpPr>
          <p:nvPr/>
        </p:nvCxnSpPr>
        <p:spPr>
          <a:xfrm flipH="1" rot="10800000">
            <a:off x="1137176" y="2876407"/>
            <a:ext cx="985200" cy="95400"/>
          </a:xfrm>
          <a:prstGeom prst="straightConnector1">
            <a:avLst/>
          </a:prstGeom>
          <a:noFill/>
          <a:ln cap="flat" cmpd="sng" w="30875">
            <a:solidFill>
              <a:srgbClr val="000000"/>
            </a:solidFill>
            <a:prstDash val="solid"/>
            <a:round/>
            <a:headEnd len="med" w="med" type="none"/>
            <a:tailEnd len="med" w="med" type="triangle"/>
          </a:ln>
        </p:spPr>
      </p:cxnSp>
      <p:cxnSp>
        <p:nvCxnSpPr>
          <p:cNvPr id="91" name="Google Shape;91;p16"/>
          <p:cNvCxnSpPr>
            <a:endCxn id="92" idx="1"/>
          </p:cNvCxnSpPr>
          <p:nvPr/>
        </p:nvCxnSpPr>
        <p:spPr>
          <a:xfrm flipH="1" rot="10800000">
            <a:off x="1133876" y="2443698"/>
            <a:ext cx="988500" cy="528900"/>
          </a:xfrm>
          <a:prstGeom prst="straightConnector1">
            <a:avLst/>
          </a:prstGeom>
          <a:noFill/>
          <a:ln cap="flat" cmpd="sng" w="30875">
            <a:solidFill>
              <a:srgbClr val="000000"/>
            </a:solidFill>
            <a:prstDash val="solid"/>
            <a:round/>
            <a:headEnd len="med" w="med" type="none"/>
            <a:tailEnd len="med" w="med" type="triangle"/>
          </a:ln>
        </p:spPr>
      </p:cxnSp>
      <p:cxnSp>
        <p:nvCxnSpPr>
          <p:cNvPr id="93" name="Google Shape;93;p16"/>
          <p:cNvCxnSpPr>
            <a:endCxn id="94" idx="1"/>
          </p:cNvCxnSpPr>
          <p:nvPr/>
        </p:nvCxnSpPr>
        <p:spPr>
          <a:xfrm>
            <a:off x="1141976" y="2969216"/>
            <a:ext cx="980400" cy="339900"/>
          </a:xfrm>
          <a:prstGeom prst="straightConnector1">
            <a:avLst/>
          </a:prstGeom>
          <a:noFill/>
          <a:ln cap="flat" cmpd="sng" w="30875">
            <a:solidFill>
              <a:srgbClr val="000000"/>
            </a:solidFill>
            <a:prstDash val="solid"/>
            <a:round/>
            <a:headEnd len="med" w="med" type="none"/>
            <a:tailEnd len="med" w="med" type="triangle"/>
          </a:ln>
        </p:spPr>
      </p:cxnSp>
      <p:cxnSp>
        <p:nvCxnSpPr>
          <p:cNvPr id="95" name="Google Shape;95;p16"/>
          <p:cNvCxnSpPr>
            <a:endCxn id="96" idx="1"/>
          </p:cNvCxnSpPr>
          <p:nvPr/>
        </p:nvCxnSpPr>
        <p:spPr>
          <a:xfrm>
            <a:off x="1126376" y="2972366"/>
            <a:ext cx="996000" cy="790200"/>
          </a:xfrm>
          <a:prstGeom prst="straightConnector1">
            <a:avLst/>
          </a:prstGeom>
          <a:noFill/>
          <a:ln cap="flat" cmpd="sng" w="30875">
            <a:solidFill>
              <a:srgbClr val="000000"/>
            </a:solidFill>
            <a:prstDash val="solid"/>
            <a:round/>
            <a:headEnd len="med" w="med" type="none"/>
            <a:tailEnd len="med" w="med" type="triangle"/>
          </a:ln>
        </p:spPr>
      </p:cxnSp>
      <p:sp>
        <p:nvSpPr>
          <p:cNvPr id="92" name="Google Shape;92;p16"/>
          <p:cNvSpPr/>
          <p:nvPr/>
        </p:nvSpPr>
        <p:spPr>
          <a:xfrm>
            <a:off x="2122376" y="2252298"/>
            <a:ext cx="856500" cy="382800"/>
          </a:xfrm>
          <a:prstGeom prst="roundRect">
            <a:avLst>
              <a:gd fmla="val 16667" name="adj"/>
            </a:avLst>
          </a:prstGeom>
          <a:noFill/>
          <a:ln cap="flat" cmpd="sng" w="7725">
            <a:solidFill>
              <a:srgbClr val="000000"/>
            </a:solidFill>
            <a:prstDash val="solid"/>
            <a:round/>
            <a:headEnd len="sm" w="sm" type="none"/>
            <a:tailEnd len="sm" w="sm" type="none"/>
          </a:ln>
        </p:spPr>
        <p:txBody>
          <a:bodyPr anchorCtr="0" anchor="ctr" bIns="74150" lIns="74150" spcFirstLastPara="1" rIns="74150" wrap="square" tIns="74150">
            <a:noAutofit/>
          </a:bodyPr>
          <a:lstStyle/>
          <a:p>
            <a:pPr indent="0" lvl="0" marL="0" rtl="0" algn="ctr">
              <a:spcBef>
                <a:spcPts val="0"/>
              </a:spcBef>
              <a:spcAft>
                <a:spcPts val="0"/>
              </a:spcAft>
              <a:buNone/>
            </a:pPr>
            <a:r>
              <a:rPr lang="en-GB" sz="1135">
                <a:latin typeface="Open Sans"/>
                <a:ea typeface="Open Sans"/>
                <a:cs typeface="Open Sans"/>
                <a:sym typeface="Open Sans"/>
              </a:rPr>
              <a:t>("the",1)</a:t>
            </a:r>
            <a:endParaRPr sz="1135">
              <a:latin typeface="Open Sans"/>
              <a:ea typeface="Open Sans"/>
              <a:cs typeface="Open Sans"/>
              <a:sym typeface="Open Sans"/>
            </a:endParaRPr>
          </a:p>
        </p:txBody>
      </p:sp>
      <p:sp>
        <p:nvSpPr>
          <p:cNvPr id="90" name="Google Shape;90;p16"/>
          <p:cNvSpPr/>
          <p:nvPr/>
        </p:nvSpPr>
        <p:spPr>
          <a:xfrm>
            <a:off x="2122376" y="2685007"/>
            <a:ext cx="856500" cy="382800"/>
          </a:xfrm>
          <a:prstGeom prst="roundRect">
            <a:avLst>
              <a:gd fmla="val 16667" name="adj"/>
            </a:avLst>
          </a:prstGeom>
          <a:noFill/>
          <a:ln cap="flat" cmpd="sng" w="7725">
            <a:solidFill>
              <a:srgbClr val="000000"/>
            </a:solidFill>
            <a:prstDash val="solid"/>
            <a:round/>
            <a:headEnd len="sm" w="sm" type="none"/>
            <a:tailEnd len="sm" w="sm" type="none"/>
          </a:ln>
        </p:spPr>
        <p:txBody>
          <a:bodyPr anchorCtr="0" anchor="ctr" bIns="74150" lIns="74150" spcFirstLastPara="1" rIns="74150" wrap="square" tIns="74150">
            <a:noAutofit/>
          </a:bodyPr>
          <a:lstStyle/>
          <a:p>
            <a:pPr indent="0" lvl="0" marL="0" rtl="0" algn="ctr">
              <a:spcBef>
                <a:spcPts val="0"/>
              </a:spcBef>
              <a:spcAft>
                <a:spcPts val="0"/>
              </a:spcAft>
              <a:buNone/>
            </a:pPr>
            <a:r>
              <a:rPr lang="en-GB" sz="1135">
                <a:latin typeface="Open Sans"/>
                <a:ea typeface="Open Sans"/>
                <a:cs typeface="Open Sans"/>
                <a:sym typeface="Open Sans"/>
              </a:rPr>
              <a:t>("cat",1)</a:t>
            </a:r>
            <a:endParaRPr sz="1135">
              <a:latin typeface="Open Sans"/>
              <a:ea typeface="Open Sans"/>
              <a:cs typeface="Open Sans"/>
              <a:sym typeface="Open Sans"/>
            </a:endParaRPr>
          </a:p>
        </p:txBody>
      </p:sp>
      <p:sp>
        <p:nvSpPr>
          <p:cNvPr id="94" name="Google Shape;94;p16"/>
          <p:cNvSpPr/>
          <p:nvPr/>
        </p:nvSpPr>
        <p:spPr>
          <a:xfrm>
            <a:off x="2122376" y="3117716"/>
            <a:ext cx="856500" cy="382800"/>
          </a:xfrm>
          <a:prstGeom prst="roundRect">
            <a:avLst>
              <a:gd fmla="val 16667" name="adj"/>
            </a:avLst>
          </a:prstGeom>
          <a:noFill/>
          <a:ln cap="flat" cmpd="sng" w="7725">
            <a:solidFill>
              <a:srgbClr val="000000"/>
            </a:solidFill>
            <a:prstDash val="solid"/>
            <a:round/>
            <a:headEnd len="sm" w="sm" type="none"/>
            <a:tailEnd len="sm" w="sm" type="none"/>
          </a:ln>
        </p:spPr>
        <p:txBody>
          <a:bodyPr anchorCtr="0" anchor="ctr" bIns="74150" lIns="74150" spcFirstLastPara="1" rIns="74150" wrap="square" tIns="74150">
            <a:noAutofit/>
          </a:bodyPr>
          <a:lstStyle/>
          <a:p>
            <a:pPr indent="0" lvl="0" marL="0" rtl="0" algn="ctr">
              <a:spcBef>
                <a:spcPts val="0"/>
              </a:spcBef>
              <a:spcAft>
                <a:spcPts val="0"/>
              </a:spcAft>
              <a:buNone/>
            </a:pPr>
            <a:r>
              <a:rPr lang="en-GB" sz="1135">
                <a:latin typeface="Open Sans"/>
                <a:ea typeface="Open Sans"/>
                <a:cs typeface="Open Sans"/>
                <a:sym typeface="Open Sans"/>
              </a:rPr>
              <a:t>("the",1)</a:t>
            </a:r>
            <a:endParaRPr sz="1135">
              <a:latin typeface="Open Sans"/>
              <a:ea typeface="Open Sans"/>
              <a:cs typeface="Open Sans"/>
              <a:sym typeface="Open Sans"/>
            </a:endParaRPr>
          </a:p>
        </p:txBody>
      </p:sp>
      <p:sp>
        <p:nvSpPr>
          <p:cNvPr id="96" name="Google Shape;96;p16"/>
          <p:cNvSpPr/>
          <p:nvPr/>
        </p:nvSpPr>
        <p:spPr>
          <a:xfrm>
            <a:off x="2122376" y="3571166"/>
            <a:ext cx="856500" cy="382800"/>
          </a:xfrm>
          <a:prstGeom prst="roundRect">
            <a:avLst>
              <a:gd fmla="val 16667" name="adj"/>
            </a:avLst>
          </a:prstGeom>
          <a:noFill/>
          <a:ln cap="flat" cmpd="sng" w="7725">
            <a:solidFill>
              <a:srgbClr val="000000"/>
            </a:solidFill>
            <a:prstDash val="solid"/>
            <a:round/>
            <a:headEnd len="sm" w="sm" type="none"/>
            <a:tailEnd len="sm" w="sm" type="none"/>
          </a:ln>
        </p:spPr>
        <p:txBody>
          <a:bodyPr anchorCtr="0" anchor="ctr" bIns="74150" lIns="74150" spcFirstLastPara="1" rIns="74150" wrap="square" tIns="74150">
            <a:noAutofit/>
          </a:bodyPr>
          <a:lstStyle/>
          <a:p>
            <a:pPr indent="0" lvl="0" marL="0" rtl="0" algn="ctr">
              <a:spcBef>
                <a:spcPts val="0"/>
              </a:spcBef>
              <a:spcAft>
                <a:spcPts val="0"/>
              </a:spcAft>
              <a:buNone/>
            </a:pPr>
            <a:r>
              <a:rPr lang="en-GB" sz="1135">
                <a:latin typeface="Open Sans"/>
                <a:ea typeface="Open Sans"/>
                <a:cs typeface="Open Sans"/>
                <a:sym typeface="Open Sans"/>
              </a:rPr>
              <a:t>("sat",1)</a:t>
            </a:r>
            <a:endParaRPr sz="1135">
              <a:latin typeface="Open Sans"/>
              <a:ea typeface="Open Sans"/>
              <a:cs typeface="Open Sans"/>
              <a:sym typeface="Open Sans"/>
            </a:endParaRPr>
          </a:p>
        </p:txBody>
      </p:sp>
      <p:cxnSp>
        <p:nvCxnSpPr>
          <p:cNvPr id="97" name="Google Shape;97;p16"/>
          <p:cNvCxnSpPr>
            <a:stCxn id="98" idx="3"/>
            <a:endCxn id="99" idx="1"/>
          </p:cNvCxnSpPr>
          <p:nvPr/>
        </p:nvCxnSpPr>
        <p:spPr>
          <a:xfrm>
            <a:off x="3140040" y="3081915"/>
            <a:ext cx="739200" cy="0"/>
          </a:xfrm>
          <a:prstGeom prst="straightConnector1">
            <a:avLst/>
          </a:prstGeom>
          <a:noFill/>
          <a:ln cap="flat" cmpd="sng" w="30875">
            <a:solidFill>
              <a:srgbClr val="000000"/>
            </a:solidFill>
            <a:prstDash val="solid"/>
            <a:round/>
            <a:headEnd len="med" w="med" type="none"/>
            <a:tailEnd len="med" w="med" type="triangle"/>
          </a:ln>
        </p:spPr>
      </p:cxnSp>
      <p:grpSp>
        <p:nvGrpSpPr>
          <p:cNvPr id="100" name="Google Shape;100;p16"/>
          <p:cNvGrpSpPr/>
          <p:nvPr/>
        </p:nvGrpSpPr>
        <p:grpSpPr>
          <a:xfrm>
            <a:off x="3879240" y="2137424"/>
            <a:ext cx="1528167" cy="1888981"/>
            <a:chOff x="5030025" y="2294200"/>
            <a:chExt cx="1884300" cy="2329200"/>
          </a:xfrm>
        </p:grpSpPr>
        <p:sp>
          <p:nvSpPr>
            <p:cNvPr id="99" name="Google Shape;99;p16"/>
            <p:cNvSpPr/>
            <p:nvPr/>
          </p:nvSpPr>
          <p:spPr>
            <a:xfrm>
              <a:off x="5030025" y="2294200"/>
              <a:ext cx="1884300" cy="2329200"/>
            </a:xfrm>
            <a:prstGeom prst="roundRect">
              <a:avLst>
                <a:gd fmla="val 16667" name="adj"/>
              </a:avLst>
            </a:prstGeom>
            <a:noFill/>
            <a:ln cap="flat" cmpd="sng" w="7725">
              <a:solidFill>
                <a:schemeClr val="dk2"/>
              </a:solidFill>
              <a:prstDash val="solid"/>
              <a:round/>
              <a:headEnd len="sm" w="sm" type="none"/>
              <a:tailEnd len="sm" w="sm" type="none"/>
            </a:ln>
          </p:spPr>
          <p:txBody>
            <a:bodyPr anchorCtr="0" anchor="ctr" bIns="74150" lIns="74150" spcFirstLastPara="1" rIns="74150" wrap="square" tIns="74150">
              <a:noAutofit/>
            </a:bodyPr>
            <a:lstStyle/>
            <a:p>
              <a:pPr indent="0" lvl="0" marL="0" rtl="0" algn="ctr">
                <a:spcBef>
                  <a:spcPts val="0"/>
                </a:spcBef>
                <a:spcAft>
                  <a:spcPts val="0"/>
                </a:spcAft>
                <a:buNone/>
              </a:pPr>
              <a:r>
                <a:t/>
              </a:r>
              <a:endParaRPr sz="1135">
                <a:latin typeface="Open Sans"/>
                <a:ea typeface="Open Sans"/>
                <a:cs typeface="Open Sans"/>
                <a:sym typeface="Open Sans"/>
              </a:endParaRPr>
            </a:p>
          </p:txBody>
        </p:sp>
        <p:sp>
          <p:nvSpPr>
            <p:cNvPr id="101" name="Google Shape;101;p16"/>
            <p:cNvSpPr/>
            <p:nvPr/>
          </p:nvSpPr>
          <p:spPr>
            <a:xfrm>
              <a:off x="5193770" y="2542400"/>
              <a:ext cx="1556700" cy="472200"/>
            </a:xfrm>
            <a:prstGeom prst="roundRect">
              <a:avLst>
                <a:gd fmla="val 16667" name="adj"/>
              </a:avLst>
            </a:prstGeom>
            <a:noFill/>
            <a:ln cap="flat" cmpd="sng" w="7725">
              <a:solidFill>
                <a:srgbClr val="000000"/>
              </a:solidFill>
              <a:prstDash val="solid"/>
              <a:round/>
              <a:headEnd len="sm" w="sm" type="none"/>
              <a:tailEnd len="sm" w="sm" type="none"/>
            </a:ln>
          </p:spPr>
          <p:txBody>
            <a:bodyPr anchorCtr="0" anchor="ctr" bIns="74150" lIns="74150" spcFirstLastPara="1" rIns="74150" wrap="square" tIns="74150">
              <a:noAutofit/>
            </a:bodyPr>
            <a:lstStyle/>
            <a:p>
              <a:pPr indent="0" lvl="0" marL="0" rtl="0" algn="ctr">
                <a:spcBef>
                  <a:spcPts val="0"/>
                </a:spcBef>
                <a:spcAft>
                  <a:spcPts val="0"/>
                </a:spcAft>
                <a:buNone/>
              </a:pPr>
              <a:r>
                <a:rPr lang="en-GB" sz="1135">
                  <a:latin typeface="Open Sans"/>
                  <a:ea typeface="Open Sans"/>
                  <a:cs typeface="Open Sans"/>
                  <a:sym typeface="Open Sans"/>
                </a:rPr>
                <a:t>("the",[1,1])</a:t>
              </a:r>
              <a:endParaRPr sz="1135">
                <a:latin typeface="Open Sans"/>
                <a:ea typeface="Open Sans"/>
                <a:cs typeface="Open Sans"/>
                <a:sym typeface="Open Sans"/>
              </a:endParaRPr>
            </a:p>
          </p:txBody>
        </p:sp>
        <p:sp>
          <p:nvSpPr>
            <p:cNvPr id="102" name="Google Shape;102;p16"/>
            <p:cNvSpPr/>
            <p:nvPr/>
          </p:nvSpPr>
          <p:spPr>
            <a:xfrm>
              <a:off x="5193820" y="3208263"/>
              <a:ext cx="1556700" cy="472200"/>
            </a:xfrm>
            <a:prstGeom prst="roundRect">
              <a:avLst>
                <a:gd fmla="val 16667" name="adj"/>
              </a:avLst>
            </a:prstGeom>
            <a:noFill/>
            <a:ln cap="flat" cmpd="sng" w="7725">
              <a:solidFill>
                <a:srgbClr val="000000"/>
              </a:solidFill>
              <a:prstDash val="solid"/>
              <a:round/>
              <a:headEnd len="sm" w="sm" type="none"/>
              <a:tailEnd len="sm" w="sm" type="none"/>
            </a:ln>
          </p:spPr>
          <p:txBody>
            <a:bodyPr anchorCtr="0" anchor="ctr" bIns="74150" lIns="74150" spcFirstLastPara="1" rIns="74150" wrap="square" tIns="74150">
              <a:noAutofit/>
            </a:bodyPr>
            <a:lstStyle/>
            <a:p>
              <a:pPr indent="0" lvl="0" marL="0" rtl="0" algn="ctr">
                <a:spcBef>
                  <a:spcPts val="0"/>
                </a:spcBef>
                <a:spcAft>
                  <a:spcPts val="0"/>
                </a:spcAft>
                <a:buNone/>
              </a:pPr>
              <a:r>
                <a:rPr lang="en-GB" sz="1135">
                  <a:latin typeface="Open Sans"/>
                  <a:ea typeface="Open Sans"/>
                  <a:cs typeface="Open Sans"/>
                  <a:sym typeface="Open Sans"/>
                </a:rPr>
                <a:t>("cat",[1])</a:t>
              </a:r>
              <a:endParaRPr sz="1135">
                <a:latin typeface="Open Sans"/>
                <a:ea typeface="Open Sans"/>
                <a:cs typeface="Open Sans"/>
                <a:sym typeface="Open Sans"/>
              </a:endParaRPr>
            </a:p>
          </p:txBody>
        </p:sp>
        <p:sp>
          <p:nvSpPr>
            <p:cNvPr id="103" name="Google Shape;103;p16"/>
            <p:cNvSpPr/>
            <p:nvPr/>
          </p:nvSpPr>
          <p:spPr>
            <a:xfrm>
              <a:off x="5193820" y="3874138"/>
              <a:ext cx="1556700" cy="472200"/>
            </a:xfrm>
            <a:prstGeom prst="roundRect">
              <a:avLst>
                <a:gd fmla="val 16667" name="adj"/>
              </a:avLst>
            </a:prstGeom>
            <a:noFill/>
            <a:ln cap="flat" cmpd="sng" w="7725">
              <a:solidFill>
                <a:srgbClr val="000000"/>
              </a:solidFill>
              <a:prstDash val="solid"/>
              <a:round/>
              <a:headEnd len="sm" w="sm" type="none"/>
              <a:tailEnd len="sm" w="sm" type="none"/>
            </a:ln>
          </p:spPr>
          <p:txBody>
            <a:bodyPr anchorCtr="0" anchor="ctr" bIns="74150" lIns="74150" spcFirstLastPara="1" rIns="74150" wrap="square" tIns="74150">
              <a:noAutofit/>
            </a:bodyPr>
            <a:lstStyle/>
            <a:p>
              <a:pPr indent="0" lvl="0" marL="0" rtl="0" algn="ctr">
                <a:spcBef>
                  <a:spcPts val="0"/>
                </a:spcBef>
                <a:spcAft>
                  <a:spcPts val="0"/>
                </a:spcAft>
                <a:buNone/>
              </a:pPr>
              <a:r>
                <a:rPr lang="en-GB" sz="1135">
                  <a:latin typeface="Open Sans"/>
                  <a:ea typeface="Open Sans"/>
                  <a:cs typeface="Open Sans"/>
                  <a:sym typeface="Open Sans"/>
                </a:rPr>
                <a:t>("sat",[1])</a:t>
              </a:r>
              <a:endParaRPr sz="1135">
                <a:latin typeface="Open Sans"/>
                <a:ea typeface="Open Sans"/>
                <a:cs typeface="Open Sans"/>
                <a:sym typeface="Open Sans"/>
              </a:endParaRPr>
            </a:p>
          </p:txBody>
        </p:sp>
      </p:grpSp>
      <p:sp>
        <p:nvSpPr>
          <p:cNvPr id="104" name="Google Shape;104;p16"/>
          <p:cNvSpPr txBox="1"/>
          <p:nvPr/>
        </p:nvSpPr>
        <p:spPr>
          <a:xfrm>
            <a:off x="3106701" y="2681540"/>
            <a:ext cx="822300" cy="319200"/>
          </a:xfrm>
          <a:prstGeom prst="rect">
            <a:avLst/>
          </a:prstGeom>
          <a:noFill/>
          <a:ln>
            <a:noFill/>
          </a:ln>
        </p:spPr>
        <p:txBody>
          <a:bodyPr anchorCtr="0" anchor="t" bIns="74150" lIns="74150" spcFirstLastPara="1" rIns="74150" wrap="square" tIns="74150">
            <a:noAutofit/>
          </a:bodyPr>
          <a:lstStyle/>
          <a:p>
            <a:pPr indent="0" lvl="0" marL="0" rtl="0" algn="l">
              <a:spcBef>
                <a:spcPts val="0"/>
              </a:spcBef>
              <a:spcAft>
                <a:spcPts val="0"/>
              </a:spcAft>
              <a:buNone/>
            </a:pPr>
            <a:r>
              <a:rPr lang="en-GB" sz="1459">
                <a:solidFill>
                  <a:schemeClr val="dk2"/>
                </a:solidFill>
                <a:latin typeface="Open Sans"/>
                <a:ea typeface="Open Sans"/>
                <a:cs typeface="Open Sans"/>
                <a:sym typeface="Open Sans"/>
              </a:rPr>
              <a:t>Shuffle</a:t>
            </a:r>
            <a:endParaRPr sz="1459">
              <a:solidFill>
                <a:schemeClr val="dk2"/>
              </a:solidFill>
              <a:latin typeface="Open Sans"/>
              <a:ea typeface="Open Sans"/>
              <a:cs typeface="Open Sans"/>
              <a:sym typeface="Open Sans"/>
            </a:endParaRPr>
          </a:p>
        </p:txBody>
      </p:sp>
      <p:cxnSp>
        <p:nvCxnSpPr>
          <p:cNvPr id="105" name="Google Shape;105;p16"/>
          <p:cNvCxnSpPr>
            <a:endCxn id="106" idx="1"/>
          </p:cNvCxnSpPr>
          <p:nvPr/>
        </p:nvCxnSpPr>
        <p:spPr>
          <a:xfrm flipH="1" rot="10800000">
            <a:off x="5411204" y="3144410"/>
            <a:ext cx="784200" cy="11100"/>
          </a:xfrm>
          <a:prstGeom prst="straightConnector1">
            <a:avLst/>
          </a:prstGeom>
          <a:noFill/>
          <a:ln cap="flat" cmpd="sng" w="30875">
            <a:solidFill>
              <a:srgbClr val="000000"/>
            </a:solidFill>
            <a:prstDash val="solid"/>
            <a:round/>
            <a:headEnd len="med" w="med" type="none"/>
            <a:tailEnd len="med" w="med" type="triangle"/>
          </a:ln>
        </p:spPr>
      </p:cxnSp>
      <p:sp>
        <p:nvSpPr>
          <p:cNvPr id="107" name="Google Shape;107;p16"/>
          <p:cNvSpPr txBox="1"/>
          <p:nvPr/>
        </p:nvSpPr>
        <p:spPr>
          <a:xfrm>
            <a:off x="5407389" y="2734258"/>
            <a:ext cx="822300" cy="319200"/>
          </a:xfrm>
          <a:prstGeom prst="rect">
            <a:avLst/>
          </a:prstGeom>
          <a:noFill/>
          <a:ln>
            <a:noFill/>
          </a:ln>
        </p:spPr>
        <p:txBody>
          <a:bodyPr anchorCtr="0" anchor="t" bIns="74150" lIns="74150" spcFirstLastPara="1" rIns="74150" wrap="square" tIns="74150">
            <a:noAutofit/>
          </a:bodyPr>
          <a:lstStyle/>
          <a:p>
            <a:pPr indent="0" lvl="0" marL="0" rtl="0" algn="l">
              <a:spcBef>
                <a:spcPts val="0"/>
              </a:spcBef>
              <a:spcAft>
                <a:spcPts val="0"/>
              </a:spcAft>
              <a:buNone/>
            </a:pPr>
            <a:r>
              <a:rPr lang="en-GB" sz="1459">
                <a:solidFill>
                  <a:schemeClr val="dk2"/>
                </a:solidFill>
                <a:latin typeface="Open Sans"/>
                <a:ea typeface="Open Sans"/>
                <a:cs typeface="Open Sans"/>
                <a:sym typeface="Open Sans"/>
              </a:rPr>
              <a:t>Reduce</a:t>
            </a:r>
            <a:endParaRPr sz="1459">
              <a:solidFill>
                <a:schemeClr val="dk2"/>
              </a:solidFill>
              <a:latin typeface="Open Sans"/>
              <a:ea typeface="Open Sans"/>
              <a:cs typeface="Open Sans"/>
              <a:sym typeface="Open Sans"/>
            </a:endParaRPr>
          </a:p>
        </p:txBody>
      </p:sp>
      <p:grpSp>
        <p:nvGrpSpPr>
          <p:cNvPr id="108" name="Google Shape;108;p16"/>
          <p:cNvGrpSpPr/>
          <p:nvPr/>
        </p:nvGrpSpPr>
        <p:grpSpPr>
          <a:xfrm>
            <a:off x="6195404" y="2199919"/>
            <a:ext cx="1528167" cy="1888981"/>
            <a:chOff x="5030025" y="2294200"/>
            <a:chExt cx="1884300" cy="2329200"/>
          </a:xfrm>
        </p:grpSpPr>
        <p:sp>
          <p:nvSpPr>
            <p:cNvPr id="106" name="Google Shape;106;p16"/>
            <p:cNvSpPr/>
            <p:nvPr/>
          </p:nvSpPr>
          <p:spPr>
            <a:xfrm>
              <a:off x="5030025" y="2294200"/>
              <a:ext cx="1884300" cy="2329200"/>
            </a:xfrm>
            <a:prstGeom prst="roundRect">
              <a:avLst>
                <a:gd fmla="val 16667" name="adj"/>
              </a:avLst>
            </a:prstGeom>
            <a:noFill/>
            <a:ln cap="flat" cmpd="sng" w="7725">
              <a:solidFill>
                <a:schemeClr val="dk2"/>
              </a:solidFill>
              <a:prstDash val="solid"/>
              <a:round/>
              <a:headEnd len="sm" w="sm" type="none"/>
              <a:tailEnd len="sm" w="sm" type="none"/>
            </a:ln>
          </p:spPr>
          <p:txBody>
            <a:bodyPr anchorCtr="0" anchor="ctr" bIns="74150" lIns="74150" spcFirstLastPara="1" rIns="74150" wrap="square" tIns="74150">
              <a:noAutofit/>
            </a:bodyPr>
            <a:lstStyle/>
            <a:p>
              <a:pPr indent="0" lvl="0" marL="0" rtl="0" algn="ctr">
                <a:spcBef>
                  <a:spcPts val="0"/>
                </a:spcBef>
                <a:spcAft>
                  <a:spcPts val="0"/>
                </a:spcAft>
                <a:buNone/>
              </a:pPr>
              <a:r>
                <a:t/>
              </a:r>
              <a:endParaRPr sz="1135">
                <a:latin typeface="Open Sans"/>
                <a:ea typeface="Open Sans"/>
                <a:cs typeface="Open Sans"/>
                <a:sym typeface="Open Sans"/>
              </a:endParaRPr>
            </a:p>
          </p:txBody>
        </p:sp>
        <p:sp>
          <p:nvSpPr>
            <p:cNvPr id="109" name="Google Shape;109;p16"/>
            <p:cNvSpPr/>
            <p:nvPr/>
          </p:nvSpPr>
          <p:spPr>
            <a:xfrm>
              <a:off x="5193770" y="2542400"/>
              <a:ext cx="1556700" cy="472200"/>
            </a:xfrm>
            <a:prstGeom prst="roundRect">
              <a:avLst>
                <a:gd fmla="val 16667" name="adj"/>
              </a:avLst>
            </a:prstGeom>
            <a:noFill/>
            <a:ln cap="flat" cmpd="sng" w="7725">
              <a:solidFill>
                <a:srgbClr val="000000"/>
              </a:solidFill>
              <a:prstDash val="solid"/>
              <a:round/>
              <a:headEnd len="sm" w="sm" type="none"/>
              <a:tailEnd len="sm" w="sm" type="none"/>
            </a:ln>
          </p:spPr>
          <p:txBody>
            <a:bodyPr anchorCtr="0" anchor="ctr" bIns="74150" lIns="74150" spcFirstLastPara="1" rIns="74150" wrap="square" tIns="74150">
              <a:noAutofit/>
            </a:bodyPr>
            <a:lstStyle/>
            <a:p>
              <a:pPr indent="0" lvl="0" marL="0" rtl="0" algn="ctr">
                <a:spcBef>
                  <a:spcPts val="0"/>
                </a:spcBef>
                <a:spcAft>
                  <a:spcPts val="0"/>
                </a:spcAft>
                <a:buNone/>
              </a:pPr>
              <a:r>
                <a:rPr lang="en-GB" sz="1135">
                  <a:latin typeface="Open Sans"/>
                  <a:ea typeface="Open Sans"/>
                  <a:cs typeface="Open Sans"/>
                  <a:sym typeface="Open Sans"/>
                </a:rPr>
                <a:t>("the",2 )</a:t>
              </a:r>
              <a:endParaRPr sz="1135">
                <a:latin typeface="Open Sans"/>
                <a:ea typeface="Open Sans"/>
                <a:cs typeface="Open Sans"/>
                <a:sym typeface="Open Sans"/>
              </a:endParaRPr>
            </a:p>
          </p:txBody>
        </p:sp>
        <p:sp>
          <p:nvSpPr>
            <p:cNvPr id="110" name="Google Shape;110;p16"/>
            <p:cNvSpPr/>
            <p:nvPr/>
          </p:nvSpPr>
          <p:spPr>
            <a:xfrm>
              <a:off x="5193820" y="3208263"/>
              <a:ext cx="1556700" cy="472200"/>
            </a:xfrm>
            <a:prstGeom prst="roundRect">
              <a:avLst>
                <a:gd fmla="val 16667" name="adj"/>
              </a:avLst>
            </a:prstGeom>
            <a:noFill/>
            <a:ln cap="flat" cmpd="sng" w="7725">
              <a:solidFill>
                <a:srgbClr val="000000"/>
              </a:solidFill>
              <a:prstDash val="solid"/>
              <a:round/>
              <a:headEnd len="sm" w="sm" type="none"/>
              <a:tailEnd len="sm" w="sm" type="none"/>
            </a:ln>
          </p:spPr>
          <p:txBody>
            <a:bodyPr anchorCtr="0" anchor="ctr" bIns="74150" lIns="74150" spcFirstLastPara="1" rIns="74150" wrap="square" tIns="74150">
              <a:noAutofit/>
            </a:bodyPr>
            <a:lstStyle/>
            <a:p>
              <a:pPr indent="0" lvl="0" marL="0" rtl="0" algn="ctr">
                <a:spcBef>
                  <a:spcPts val="0"/>
                </a:spcBef>
                <a:spcAft>
                  <a:spcPts val="0"/>
                </a:spcAft>
                <a:buNone/>
              </a:pPr>
              <a:r>
                <a:rPr lang="en-GB" sz="1135">
                  <a:latin typeface="Open Sans"/>
                  <a:ea typeface="Open Sans"/>
                  <a:cs typeface="Open Sans"/>
                  <a:sym typeface="Open Sans"/>
                </a:rPr>
                <a:t>("cat", 1 )</a:t>
              </a:r>
              <a:endParaRPr sz="1135">
                <a:latin typeface="Open Sans"/>
                <a:ea typeface="Open Sans"/>
                <a:cs typeface="Open Sans"/>
                <a:sym typeface="Open Sans"/>
              </a:endParaRPr>
            </a:p>
          </p:txBody>
        </p:sp>
        <p:sp>
          <p:nvSpPr>
            <p:cNvPr id="111" name="Google Shape;111;p16"/>
            <p:cNvSpPr/>
            <p:nvPr/>
          </p:nvSpPr>
          <p:spPr>
            <a:xfrm>
              <a:off x="5193820" y="3874138"/>
              <a:ext cx="1556700" cy="472200"/>
            </a:xfrm>
            <a:prstGeom prst="roundRect">
              <a:avLst>
                <a:gd fmla="val 16667" name="adj"/>
              </a:avLst>
            </a:prstGeom>
            <a:noFill/>
            <a:ln cap="flat" cmpd="sng" w="7725">
              <a:solidFill>
                <a:srgbClr val="000000"/>
              </a:solidFill>
              <a:prstDash val="solid"/>
              <a:round/>
              <a:headEnd len="sm" w="sm" type="none"/>
              <a:tailEnd len="sm" w="sm" type="none"/>
            </a:ln>
          </p:spPr>
          <p:txBody>
            <a:bodyPr anchorCtr="0" anchor="ctr" bIns="74150" lIns="74150" spcFirstLastPara="1" rIns="74150" wrap="square" tIns="74150">
              <a:noAutofit/>
            </a:bodyPr>
            <a:lstStyle/>
            <a:p>
              <a:pPr indent="0" lvl="0" marL="0" rtl="0" algn="ctr">
                <a:spcBef>
                  <a:spcPts val="0"/>
                </a:spcBef>
                <a:spcAft>
                  <a:spcPts val="0"/>
                </a:spcAft>
                <a:buNone/>
              </a:pPr>
              <a:r>
                <a:rPr lang="en-GB" sz="1135">
                  <a:latin typeface="Open Sans"/>
                  <a:ea typeface="Open Sans"/>
                  <a:cs typeface="Open Sans"/>
                  <a:sym typeface="Open Sans"/>
                </a:rPr>
                <a:t>("sat",1 )</a:t>
              </a:r>
              <a:endParaRPr sz="1135">
                <a:latin typeface="Open Sans"/>
                <a:ea typeface="Open Sans"/>
                <a:cs typeface="Open Sans"/>
                <a:sym typeface="Open Sans"/>
              </a:endParaRPr>
            </a:p>
          </p:txBody>
        </p:sp>
      </p:grpSp>
      <p:pic>
        <p:nvPicPr>
          <p:cNvPr id="112" name="Google Shape;112;p16" title="螢幕擷取畫面 2025-12-01 183428.png"/>
          <p:cNvPicPr preferRelativeResize="0"/>
          <p:nvPr/>
        </p:nvPicPr>
        <p:blipFill>
          <a:blip r:embed="rId4">
            <a:alphaModFix/>
          </a:blip>
          <a:stretch>
            <a:fillRect/>
          </a:stretch>
        </p:blipFill>
        <p:spPr>
          <a:xfrm>
            <a:off x="134937" y="1980763"/>
            <a:ext cx="9016775" cy="2316825"/>
          </a:xfrm>
          <a:prstGeom prst="rect">
            <a:avLst/>
          </a:prstGeom>
          <a:noFill/>
          <a:ln>
            <a:noFill/>
          </a:ln>
        </p:spPr>
      </p:pic>
      <p:sp>
        <p:nvSpPr>
          <p:cNvPr id="113" name="Google Shape;113;p16"/>
          <p:cNvSpPr txBox="1"/>
          <p:nvPr/>
        </p:nvSpPr>
        <p:spPr>
          <a:xfrm>
            <a:off x="1733450" y="4099850"/>
            <a:ext cx="631800" cy="48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chemeClr val="dk2"/>
                </a:solidFill>
                <a:latin typeface="Open Sans"/>
                <a:ea typeface="Open Sans"/>
                <a:cs typeface="Open Sans"/>
                <a:sym typeface="Open Sans"/>
              </a:rPr>
              <a:t>Key</a:t>
            </a:r>
            <a:endParaRPr b="1" sz="1800">
              <a:solidFill>
                <a:schemeClr val="dk2"/>
              </a:solidFill>
              <a:latin typeface="Open Sans"/>
              <a:ea typeface="Open Sans"/>
              <a:cs typeface="Open Sans"/>
              <a:sym typeface="Open Sans"/>
            </a:endParaRPr>
          </a:p>
        </p:txBody>
      </p:sp>
      <p:sp>
        <p:nvSpPr>
          <p:cNvPr id="114" name="Google Shape;114;p16"/>
          <p:cNvSpPr txBox="1"/>
          <p:nvPr/>
        </p:nvSpPr>
        <p:spPr>
          <a:xfrm>
            <a:off x="2250200" y="4099850"/>
            <a:ext cx="856500" cy="48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chemeClr val="dk2"/>
                </a:solidFill>
                <a:latin typeface="Open Sans"/>
                <a:ea typeface="Open Sans"/>
                <a:cs typeface="Open Sans"/>
                <a:sym typeface="Open Sans"/>
              </a:rPr>
              <a:t>Value</a:t>
            </a:r>
            <a:endParaRPr b="1" sz="1800">
              <a:solidFill>
                <a:schemeClr val="dk2"/>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Proposed solution</a:t>
            </a:r>
            <a:endParaRPr/>
          </a:p>
        </p:txBody>
      </p:sp>
      <p:sp>
        <p:nvSpPr>
          <p:cNvPr id="120" name="Google Shape;120;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21" name="Google Shape;121;p17"/>
          <p:cNvSpPr txBox="1"/>
          <p:nvPr/>
        </p:nvSpPr>
        <p:spPr>
          <a:xfrm>
            <a:off x="478900" y="1276651"/>
            <a:ext cx="3000000" cy="181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100">
                <a:solidFill>
                  <a:srgbClr val="713F12"/>
                </a:solidFill>
              </a:rPr>
              <a:t>Pthreads</a:t>
            </a:r>
            <a:endParaRPr b="1" sz="1100">
              <a:solidFill>
                <a:srgbClr val="713F12"/>
              </a:solidFill>
            </a:endParaRPr>
          </a:p>
          <a:p>
            <a:pPr indent="0" lvl="0" marL="0" rtl="0" algn="l">
              <a:lnSpc>
                <a:spcPct val="115000"/>
              </a:lnSpc>
              <a:spcBef>
                <a:spcPts val="200"/>
              </a:spcBef>
              <a:spcAft>
                <a:spcPts val="0"/>
              </a:spcAft>
              <a:buNone/>
            </a:pPr>
            <a:r>
              <a:rPr lang="en-GB" sz="1100">
                <a:solidFill>
                  <a:srgbClr val="374151"/>
                </a:solidFill>
              </a:rPr>
              <a:t>Fine-grained thread control on CPU</a:t>
            </a:r>
            <a:endParaRPr sz="1100">
              <a:solidFill>
                <a:srgbClr val="374151"/>
              </a:solidFill>
            </a:endParaRPr>
          </a:p>
          <a:p>
            <a:pPr indent="-298450" lvl="0" marL="457200" rtl="0" algn="l">
              <a:lnSpc>
                <a:spcPct val="115000"/>
              </a:lnSpc>
              <a:spcBef>
                <a:spcPts val="600"/>
              </a:spcBef>
              <a:spcAft>
                <a:spcPts val="0"/>
              </a:spcAft>
              <a:buClr>
                <a:srgbClr val="4B5563"/>
              </a:buClr>
              <a:buSzPts val="1100"/>
              <a:buChar char="●"/>
            </a:pPr>
            <a:r>
              <a:rPr lang="en-GB" sz="1100">
                <a:solidFill>
                  <a:srgbClr val="4B5563"/>
                </a:solidFill>
              </a:rPr>
              <a:t>Manual thread creation &amp; Barrier synchronization</a:t>
            </a:r>
            <a:endParaRPr sz="1100">
              <a:solidFill>
                <a:srgbClr val="4B5563"/>
              </a:solidFill>
            </a:endParaRPr>
          </a:p>
          <a:p>
            <a:pPr indent="-298450" lvl="0" marL="457200" rtl="0" algn="l">
              <a:lnSpc>
                <a:spcPct val="115000"/>
              </a:lnSpc>
              <a:spcBef>
                <a:spcPts val="0"/>
              </a:spcBef>
              <a:spcAft>
                <a:spcPts val="0"/>
              </a:spcAft>
              <a:buClr>
                <a:srgbClr val="4B5563"/>
              </a:buClr>
              <a:buSzPts val="1100"/>
              <a:buChar char="●"/>
            </a:pPr>
            <a:r>
              <a:rPr lang="en-GB" sz="1100">
                <a:solidFill>
                  <a:srgbClr val="4B5563"/>
                </a:solidFill>
              </a:rPr>
              <a:t>Segment-based data division</a:t>
            </a:r>
            <a:endParaRPr sz="1100">
              <a:solidFill>
                <a:srgbClr val="4B5563"/>
              </a:solidFill>
            </a:endParaRPr>
          </a:p>
          <a:p>
            <a:pPr indent="-298450" lvl="0" marL="457200" rtl="0" algn="l">
              <a:lnSpc>
                <a:spcPct val="115000"/>
              </a:lnSpc>
              <a:spcBef>
                <a:spcPts val="0"/>
              </a:spcBef>
              <a:spcAft>
                <a:spcPts val="0"/>
              </a:spcAft>
              <a:buClr>
                <a:srgbClr val="4B5563"/>
              </a:buClr>
              <a:buSzPts val="1100"/>
              <a:buChar char="●"/>
            </a:pPr>
            <a:r>
              <a:rPr lang="en-GB" sz="1100">
                <a:solidFill>
                  <a:srgbClr val="4B5563"/>
                </a:solidFill>
              </a:rPr>
              <a:t>Local intermediate KV-pairs</a:t>
            </a:r>
            <a:endParaRPr sz="1100">
              <a:solidFill>
                <a:srgbClr val="4B5563"/>
              </a:solidFill>
            </a:endParaRPr>
          </a:p>
          <a:p>
            <a:pPr indent="-298450" lvl="0" marL="457200" rtl="0" algn="l">
              <a:lnSpc>
                <a:spcPct val="115000"/>
              </a:lnSpc>
              <a:spcBef>
                <a:spcPts val="0"/>
              </a:spcBef>
              <a:spcAft>
                <a:spcPts val="0"/>
              </a:spcAft>
              <a:buClr>
                <a:srgbClr val="4B5563"/>
              </a:buClr>
              <a:buSzPts val="1100"/>
              <a:buChar char="●"/>
            </a:pPr>
            <a:r>
              <a:rPr lang="en-GB" sz="1100">
                <a:solidFill>
                  <a:srgbClr val="4B5563"/>
                </a:solidFill>
              </a:rPr>
              <a:t>Partition-based Merging (Lock-free Reduce)</a:t>
            </a:r>
            <a:endParaRPr sz="1100">
              <a:solidFill>
                <a:srgbClr val="4B5563"/>
              </a:solidFill>
            </a:endParaRPr>
          </a:p>
        </p:txBody>
      </p:sp>
      <p:sp>
        <p:nvSpPr>
          <p:cNvPr id="122" name="Google Shape;122;p17"/>
          <p:cNvSpPr txBox="1"/>
          <p:nvPr/>
        </p:nvSpPr>
        <p:spPr>
          <a:xfrm>
            <a:off x="3919700" y="1272035"/>
            <a:ext cx="3000000" cy="1430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100">
                <a:solidFill>
                  <a:srgbClr val="14532D"/>
                </a:solidFill>
              </a:rPr>
              <a:t>OpenMP</a:t>
            </a:r>
            <a:endParaRPr b="1" sz="1100">
              <a:solidFill>
                <a:srgbClr val="14532D"/>
              </a:solidFill>
            </a:endParaRPr>
          </a:p>
          <a:p>
            <a:pPr indent="0" lvl="0" marL="0" rtl="0" algn="l">
              <a:lnSpc>
                <a:spcPct val="115000"/>
              </a:lnSpc>
              <a:spcBef>
                <a:spcPts val="200"/>
              </a:spcBef>
              <a:spcAft>
                <a:spcPts val="0"/>
              </a:spcAft>
              <a:buNone/>
            </a:pPr>
            <a:r>
              <a:rPr lang="en-GB" sz="1100">
                <a:solidFill>
                  <a:srgbClr val="374151"/>
                </a:solidFill>
              </a:rPr>
              <a:t>Loop-level parallelization on CPU</a:t>
            </a:r>
            <a:endParaRPr sz="1100">
              <a:solidFill>
                <a:srgbClr val="374151"/>
              </a:solidFill>
            </a:endParaRPr>
          </a:p>
          <a:p>
            <a:pPr indent="-298450" lvl="0" marL="457200" rtl="0" algn="l">
              <a:lnSpc>
                <a:spcPct val="115000"/>
              </a:lnSpc>
              <a:spcBef>
                <a:spcPts val="600"/>
              </a:spcBef>
              <a:spcAft>
                <a:spcPts val="0"/>
              </a:spcAft>
              <a:buClr>
                <a:srgbClr val="4B5563"/>
              </a:buClr>
              <a:buSzPts val="1100"/>
              <a:buChar char="●"/>
            </a:pPr>
            <a:r>
              <a:rPr lang="en-GB" sz="1100">
                <a:solidFill>
                  <a:srgbClr val="4B5563"/>
                </a:solidFill>
              </a:rPr>
              <a:t>Pragma-based parallelization</a:t>
            </a:r>
            <a:endParaRPr sz="1100">
              <a:solidFill>
                <a:srgbClr val="4B5563"/>
              </a:solidFill>
            </a:endParaRPr>
          </a:p>
          <a:p>
            <a:pPr indent="-298450" lvl="0" marL="457200" rtl="0" algn="l">
              <a:lnSpc>
                <a:spcPct val="115000"/>
              </a:lnSpc>
              <a:spcBef>
                <a:spcPts val="0"/>
              </a:spcBef>
              <a:spcAft>
                <a:spcPts val="0"/>
              </a:spcAft>
              <a:buClr>
                <a:srgbClr val="4B5563"/>
              </a:buClr>
              <a:buSzPts val="1100"/>
              <a:buChar char="●"/>
            </a:pPr>
            <a:r>
              <a:rPr lang="en-GB" sz="1100">
                <a:solidFill>
                  <a:srgbClr val="4B5563"/>
                </a:solidFill>
              </a:rPr>
              <a:t>Simplified implementation</a:t>
            </a:r>
            <a:endParaRPr sz="1100">
              <a:solidFill>
                <a:srgbClr val="4B5563"/>
              </a:solidFill>
            </a:endParaRPr>
          </a:p>
          <a:p>
            <a:pPr indent="-298450" lvl="0" marL="457200" rtl="0" algn="l">
              <a:lnSpc>
                <a:spcPct val="115000"/>
              </a:lnSpc>
              <a:spcBef>
                <a:spcPts val="0"/>
              </a:spcBef>
              <a:spcAft>
                <a:spcPts val="0"/>
              </a:spcAft>
              <a:buClr>
                <a:srgbClr val="4B5563"/>
              </a:buClr>
              <a:buSzPts val="1100"/>
              <a:buChar char="●"/>
            </a:pPr>
            <a:r>
              <a:rPr lang="en-GB" sz="1100">
                <a:solidFill>
                  <a:srgbClr val="4B5563"/>
                </a:solidFill>
              </a:rPr>
              <a:t>Automatic workload distribution</a:t>
            </a:r>
            <a:endParaRPr sz="1100">
              <a:solidFill>
                <a:srgbClr val="4B5563"/>
              </a:solidFill>
            </a:endParaRPr>
          </a:p>
          <a:p>
            <a:pPr indent="-298450" lvl="0" marL="457200" rtl="0" algn="l">
              <a:lnSpc>
                <a:spcPct val="115000"/>
              </a:lnSpc>
              <a:spcBef>
                <a:spcPts val="0"/>
              </a:spcBef>
              <a:spcAft>
                <a:spcPts val="0"/>
              </a:spcAft>
              <a:buClr>
                <a:srgbClr val="4B5563"/>
              </a:buClr>
              <a:buSzPts val="1100"/>
              <a:buChar char="●"/>
            </a:pPr>
            <a:r>
              <a:rPr lang="en-GB" sz="1100">
                <a:solidFill>
                  <a:srgbClr val="4B5563"/>
                </a:solidFill>
              </a:rPr>
              <a:t>Built-in reduction support</a:t>
            </a:r>
            <a:endParaRPr sz="1100">
              <a:solidFill>
                <a:srgbClr val="4B5563"/>
              </a:solidFill>
            </a:endParaRPr>
          </a:p>
        </p:txBody>
      </p:sp>
      <p:sp>
        <p:nvSpPr>
          <p:cNvPr id="123" name="Google Shape;123;p17"/>
          <p:cNvSpPr txBox="1"/>
          <p:nvPr/>
        </p:nvSpPr>
        <p:spPr>
          <a:xfrm>
            <a:off x="363600" y="3140591"/>
            <a:ext cx="3000000" cy="1430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100">
                <a:solidFill>
                  <a:srgbClr val="1E3A8A"/>
                </a:solidFill>
              </a:rPr>
              <a:t>MPI</a:t>
            </a:r>
            <a:endParaRPr b="1" sz="1100">
              <a:solidFill>
                <a:srgbClr val="1E3A8A"/>
              </a:solidFill>
            </a:endParaRPr>
          </a:p>
          <a:p>
            <a:pPr indent="0" lvl="0" marL="0" rtl="0" algn="l">
              <a:lnSpc>
                <a:spcPct val="115000"/>
              </a:lnSpc>
              <a:spcBef>
                <a:spcPts val="200"/>
              </a:spcBef>
              <a:spcAft>
                <a:spcPts val="0"/>
              </a:spcAft>
              <a:buNone/>
            </a:pPr>
            <a:r>
              <a:rPr lang="en-GB" sz="1100">
                <a:solidFill>
                  <a:srgbClr val="374151"/>
                </a:solidFill>
              </a:rPr>
              <a:t>Distributed computation across nodes</a:t>
            </a:r>
            <a:endParaRPr sz="1100">
              <a:solidFill>
                <a:srgbClr val="374151"/>
              </a:solidFill>
            </a:endParaRPr>
          </a:p>
          <a:p>
            <a:pPr indent="-298450" lvl="0" marL="457200" rtl="0" algn="l">
              <a:lnSpc>
                <a:spcPct val="115000"/>
              </a:lnSpc>
              <a:spcBef>
                <a:spcPts val="600"/>
              </a:spcBef>
              <a:spcAft>
                <a:spcPts val="0"/>
              </a:spcAft>
              <a:buClr>
                <a:srgbClr val="4B5563"/>
              </a:buClr>
              <a:buSzPts val="1100"/>
              <a:buChar char="●"/>
            </a:pPr>
            <a:r>
              <a:rPr lang="en-GB" sz="1100">
                <a:solidFill>
                  <a:srgbClr val="4B5563"/>
                </a:solidFill>
              </a:rPr>
              <a:t>Multi-process cluster computing</a:t>
            </a:r>
            <a:endParaRPr sz="1100">
              <a:solidFill>
                <a:srgbClr val="4B5563"/>
              </a:solidFill>
            </a:endParaRPr>
          </a:p>
          <a:p>
            <a:pPr indent="-298450" lvl="0" marL="457200" rtl="0" algn="l">
              <a:lnSpc>
                <a:spcPct val="115000"/>
              </a:lnSpc>
              <a:spcBef>
                <a:spcPts val="0"/>
              </a:spcBef>
              <a:spcAft>
                <a:spcPts val="0"/>
              </a:spcAft>
              <a:buClr>
                <a:srgbClr val="4B5563"/>
              </a:buClr>
              <a:buSzPts val="1100"/>
              <a:buChar char="●"/>
            </a:pPr>
            <a:r>
              <a:rPr lang="en-GB" sz="1100">
                <a:solidFill>
                  <a:srgbClr val="4B5563"/>
                </a:solidFill>
              </a:rPr>
              <a:t>Message passing communication</a:t>
            </a:r>
            <a:endParaRPr sz="1100">
              <a:solidFill>
                <a:srgbClr val="4B5563"/>
              </a:solidFill>
            </a:endParaRPr>
          </a:p>
          <a:p>
            <a:pPr indent="-298450" lvl="0" marL="457200" rtl="0" algn="l">
              <a:lnSpc>
                <a:spcPct val="115000"/>
              </a:lnSpc>
              <a:spcBef>
                <a:spcPts val="0"/>
              </a:spcBef>
              <a:spcAft>
                <a:spcPts val="0"/>
              </a:spcAft>
              <a:buClr>
                <a:srgbClr val="4B5563"/>
              </a:buClr>
              <a:buSzPts val="1100"/>
              <a:buChar char="●"/>
            </a:pPr>
            <a:r>
              <a:rPr lang="en-GB" sz="1100">
                <a:solidFill>
                  <a:srgbClr val="4B5563"/>
                </a:solidFill>
              </a:rPr>
              <a:t>MPI_Reduce for aggregation</a:t>
            </a:r>
            <a:endParaRPr sz="1100">
              <a:solidFill>
                <a:srgbClr val="4B5563"/>
              </a:solidFill>
            </a:endParaRPr>
          </a:p>
          <a:p>
            <a:pPr indent="-298450" lvl="0" marL="457200" rtl="0" algn="l">
              <a:lnSpc>
                <a:spcPct val="115000"/>
              </a:lnSpc>
              <a:spcBef>
                <a:spcPts val="0"/>
              </a:spcBef>
              <a:spcAft>
                <a:spcPts val="0"/>
              </a:spcAft>
              <a:buClr>
                <a:srgbClr val="4B5563"/>
              </a:buClr>
              <a:buSzPts val="1100"/>
              <a:buChar char="●"/>
            </a:pPr>
            <a:r>
              <a:rPr lang="en-GB" sz="1100">
                <a:solidFill>
                  <a:srgbClr val="4B5563"/>
                </a:solidFill>
              </a:rPr>
              <a:t>Distributed memory model</a:t>
            </a:r>
            <a:endParaRPr sz="1100">
              <a:solidFill>
                <a:srgbClr val="4B5563"/>
              </a:solidFill>
            </a:endParaRPr>
          </a:p>
        </p:txBody>
      </p:sp>
      <p:sp>
        <p:nvSpPr>
          <p:cNvPr id="124" name="Google Shape;124;p17"/>
          <p:cNvSpPr txBox="1"/>
          <p:nvPr/>
        </p:nvSpPr>
        <p:spPr>
          <a:xfrm>
            <a:off x="3955175" y="3209249"/>
            <a:ext cx="3000000" cy="127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100">
                <a:solidFill>
                  <a:srgbClr val="581C87"/>
                </a:solidFill>
              </a:rPr>
              <a:t>CUDA</a:t>
            </a:r>
            <a:endParaRPr b="1" sz="1100">
              <a:solidFill>
                <a:srgbClr val="581C87"/>
              </a:solidFill>
            </a:endParaRPr>
          </a:p>
          <a:p>
            <a:pPr indent="0" lvl="0" marL="0" rtl="0" algn="l">
              <a:lnSpc>
                <a:spcPct val="115000"/>
              </a:lnSpc>
              <a:spcBef>
                <a:spcPts val="200"/>
              </a:spcBef>
              <a:spcAft>
                <a:spcPts val="0"/>
              </a:spcAft>
              <a:buNone/>
            </a:pPr>
            <a:r>
              <a:rPr lang="en-GB" sz="1100">
                <a:solidFill>
                  <a:srgbClr val="374151"/>
                </a:solidFill>
              </a:rPr>
              <a:t>Massive parallelism on GPU</a:t>
            </a:r>
            <a:endParaRPr sz="1100">
              <a:solidFill>
                <a:srgbClr val="374151"/>
              </a:solidFill>
            </a:endParaRPr>
          </a:p>
          <a:p>
            <a:pPr indent="-298450" lvl="0" marL="457200" rtl="0" algn="l">
              <a:lnSpc>
                <a:spcPct val="115000"/>
              </a:lnSpc>
              <a:spcBef>
                <a:spcPts val="600"/>
              </a:spcBef>
              <a:spcAft>
                <a:spcPts val="0"/>
              </a:spcAft>
              <a:buClr>
                <a:srgbClr val="4B5563"/>
              </a:buClr>
              <a:buSzPts val="1100"/>
              <a:buChar char="●"/>
            </a:pPr>
            <a:r>
              <a:rPr lang="en-GB" sz="1100">
                <a:solidFill>
                  <a:srgbClr val="4B5563"/>
                </a:solidFill>
              </a:rPr>
              <a:t>Block-based GPU thread assignment</a:t>
            </a:r>
            <a:endParaRPr sz="1100">
              <a:solidFill>
                <a:srgbClr val="4B5563"/>
              </a:solidFill>
            </a:endParaRPr>
          </a:p>
          <a:p>
            <a:pPr indent="-298450" lvl="0" marL="457200" rtl="0" algn="l">
              <a:lnSpc>
                <a:spcPct val="115000"/>
              </a:lnSpc>
              <a:spcBef>
                <a:spcPts val="0"/>
              </a:spcBef>
              <a:spcAft>
                <a:spcPts val="0"/>
              </a:spcAft>
              <a:buClr>
                <a:srgbClr val="4B5563"/>
              </a:buClr>
              <a:buSzPts val="1100"/>
              <a:buChar char="●"/>
            </a:pPr>
            <a:r>
              <a:rPr lang="en-GB" sz="1100">
                <a:solidFill>
                  <a:srgbClr val="4B5563"/>
                </a:solidFill>
              </a:rPr>
              <a:t>Special word boundary handling</a:t>
            </a:r>
            <a:endParaRPr sz="1100">
              <a:solidFill>
                <a:srgbClr val="4B5563"/>
              </a:solidFill>
            </a:endParaRPr>
          </a:p>
          <a:p>
            <a:pPr indent="0" lvl="0" marL="0" rtl="0" algn="l">
              <a:lnSpc>
                <a:spcPct val="115000"/>
              </a:lnSpc>
              <a:spcBef>
                <a:spcPts val="300"/>
              </a:spcBef>
              <a:spcAft>
                <a:spcPts val="0"/>
              </a:spcAft>
              <a:buNone/>
            </a:pPr>
            <a:r>
              <a:t/>
            </a:r>
            <a:endParaRPr sz="1100">
              <a:solidFill>
                <a:srgbClr val="4B5563"/>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Proposed solution- [Map]</a:t>
            </a:r>
            <a:endParaRPr/>
          </a:p>
        </p:txBody>
      </p:sp>
      <p:pic>
        <p:nvPicPr>
          <p:cNvPr id="130" name="Google Shape;130;p18"/>
          <p:cNvPicPr preferRelativeResize="0"/>
          <p:nvPr/>
        </p:nvPicPr>
        <p:blipFill>
          <a:blip r:embed="rId3">
            <a:alphaModFix/>
          </a:blip>
          <a:stretch>
            <a:fillRect/>
          </a:stretch>
        </p:blipFill>
        <p:spPr>
          <a:xfrm>
            <a:off x="1244351" y="2117635"/>
            <a:ext cx="856654" cy="856627"/>
          </a:xfrm>
          <a:prstGeom prst="rect">
            <a:avLst/>
          </a:prstGeom>
          <a:noFill/>
          <a:ln>
            <a:noFill/>
          </a:ln>
        </p:spPr>
      </p:pic>
      <p:cxnSp>
        <p:nvCxnSpPr>
          <p:cNvPr id="131" name="Google Shape;131;p18"/>
          <p:cNvCxnSpPr>
            <a:stCxn id="130" idx="3"/>
            <a:endCxn id="132" idx="1"/>
          </p:cNvCxnSpPr>
          <p:nvPr/>
        </p:nvCxnSpPr>
        <p:spPr>
          <a:xfrm>
            <a:off x="2101005" y="2545949"/>
            <a:ext cx="988500" cy="60000"/>
          </a:xfrm>
          <a:prstGeom prst="straightConnector1">
            <a:avLst/>
          </a:prstGeom>
          <a:noFill/>
          <a:ln cap="flat" cmpd="sng" w="30875">
            <a:solidFill>
              <a:srgbClr val="000000"/>
            </a:solidFill>
            <a:prstDash val="solid"/>
            <a:round/>
            <a:headEnd len="med" w="med" type="none"/>
            <a:tailEnd len="med" w="med" type="triangle"/>
          </a:ln>
        </p:spPr>
      </p:cxnSp>
      <p:cxnSp>
        <p:nvCxnSpPr>
          <p:cNvPr id="133" name="Google Shape;133;p18"/>
          <p:cNvCxnSpPr>
            <a:endCxn id="134" idx="1"/>
          </p:cNvCxnSpPr>
          <p:nvPr/>
        </p:nvCxnSpPr>
        <p:spPr>
          <a:xfrm flipH="1" rot="10800000">
            <a:off x="2101026" y="1999211"/>
            <a:ext cx="988500" cy="528900"/>
          </a:xfrm>
          <a:prstGeom prst="straightConnector1">
            <a:avLst/>
          </a:prstGeom>
          <a:noFill/>
          <a:ln cap="flat" cmpd="sng" w="30875">
            <a:solidFill>
              <a:srgbClr val="000000"/>
            </a:solidFill>
            <a:prstDash val="solid"/>
            <a:round/>
            <a:headEnd len="med" w="med" type="none"/>
            <a:tailEnd len="med" w="med" type="triangle"/>
          </a:ln>
        </p:spPr>
      </p:cxnSp>
      <p:cxnSp>
        <p:nvCxnSpPr>
          <p:cNvPr id="135" name="Google Shape;135;p18"/>
          <p:cNvCxnSpPr>
            <a:endCxn id="136" idx="1"/>
          </p:cNvCxnSpPr>
          <p:nvPr/>
        </p:nvCxnSpPr>
        <p:spPr>
          <a:xfrm>
            <a:off x="2093526" y="2527879"/>
            <a:ext cx="996000" cy="790200"/>
          </a:xfrm>
          <a:prstGeom prst="straightConnector1">
            <a:avLst/>
          </a:prstGeom>
          <a:noFill/>
          <a:ln cap="flat" cmpd="sng" w="30875">
            <a:solidFill>
              <a:srgbClr val="000000"/>
            </a:solidFill>
            <a:prstDash val="solid"/>
            <a:round/>
            <a:headEnd len="med" w="med" type="none"/>
            <a:tailEnd len="med" w="med" type="triangle"/>
          </a:ln>
        </p:spPr>
      </p:cxnSp>
      <p:sp>
        <p:nvSpPr>
          <p:cNvPr id="134" name="Google Shape;134;p18"/>
          <p:cNvSpPr/>
          <p:nvPr/>
        </p:nvSpPr>
        <p:spPr>
          <a:xfrm>
            <a:off x="3089526" y="1807811"/>
            <a:ext cx="856500" cy="382800"/>
          </a:xfrm>
          <a:prstGeom prst="roundRect">
            <a:avLst>
              <a:gd fmla="val 16667" name="adj"/>
            </a:avLst>
          </a:prstGeom>
          <a:noFill/>
          <a:ln cap="flat" cmpd="sng" w="7725">
            <a:solidFill>
              <a:srgbClr val="000000"/>
            </a:solidFill>
            <a:prstDash val="solid"/>
            <a:round/>
            <a:headEnd len="sm" w="sm" type="none"/>
            <a:tailEnd len="sm" w="sm" type="none"/>
          </a:ln>
        </p:spPr>
        <p:txBody>
          <a:bodyPr anchorCtr="0" anchor="ctr" bIns="74150" lIns="74150" spcFirstLastPara="1" rIns="74150" wrap="square" tIns="74150">
            <a:noAutofit/>
          </a:bodyPr>
          <a:lstStyle/>
          <a:p>
            <a:pPr indent="0" lvl="0" marL="0" rtl="0" algn="ctr">
              <a:spcBef>
                <a:spcPts val="0"/>
              </a:spcBef>
              <a:spcAft>
                <a:spcPts val="0"/>
              </a:spcAft>
              <a:buNone/>
            </a:pPr>
            <a:r>
              <a:rPr lang="en-GB" sz="1135">
                <a:latin typeface="Open Sans"/>
                <a:ea typeface="Open Sans"/>
                <a:cs typeface="Open Sans"/>
                <a:sym typeface="Open Sans"/>
              </a:rPr>
              <a:t>Thread 1</a:t>
            </a:r>
            <a:endParaRPr sz="1135">
              <a:latin typeface="Open Sans"/>
              <a:ea typeface="Open Sans"/>
              <a:cs typeface="Open Sans"/>
              <a:sym typeface="Open Sans"/>
            </a:endParaRPr>
          </a:p>
        </p:txBody>
      </p:sp>
      <p:sp>
        <p:nvSpPr>
          <p:cNvPr id="132" name="Google Shape;132;p18"/>
          <p:cNvSpPr/>
          <p:nvPr/>
        </p:nvSpPr>
        <p:spPr>
          <a:xfrm>
            <a:off x="3089526" y="2414633"/>
            <a:ext cx="856500" cy="382800"/>
          </a:xfrm>
          <a:prstGeom prst="roundRect">
            <a:avLst>
              <a:gd fmla="val 16667" name="adj"/>
            </a:avLst>
          </a:prstGeom>
          <a:noFill/>
          <a:ln cap="flat" cmpd="sng" w="7725">
            <a:solidFill>
              <a:srgbClr val="000000"/>
            </a:solidFill>
            <a:prstDash val="solid"/>
            <a:round/>
            <a:headEnd len="sm" w="sm" type="none"/>
            <a:tailEnd len="sm" w="sm" type="none"/>
          </a:ln>
        </p:spPr>
        <p:txBody>
          <a:bodyPr anchorCtr="0" anchor="ctr" bIns="74150" lIns="74150" spcFirstLastPara="1" rIns="74150" wrap="square" tIns="74150">
            <a:noAutofit/>
          </a:bodyPr>
          <a:lstStyle/>
          <a:p>
            <a:pPr indent="0" lvl="0" marL="0" rtl="0" algn="ctr">
              <a:spcBef>
                <a:spcPts val="0"/>
              </a:spcBef>
              <a:spcAft>
                <a:spcPts val="0"/>
              </a:spcAft>
              <a:buNone/>
            </a:pPr>
            <a:r>
              <a:rPr lang="en-GB" sz="1135">
                <a:latin typeface="Open Sans"/>
                <a:ea typeface="Open Sans"/>
                <a:cs typeface="Open Sans"/>
                <a:sym typeface="Open Sans"/>
              </a:rPr>
              <a:t>Thread 2</a:t>
            </a:r>
            <a:endParaRPr sz="1135">
              <a:latin typeface="Open Sans"/>
              <a:ea typeface="Open Sans"/>
              <a:cs typeface="Open Sans"/>
              <a:sym typeface="Open Sans"/>
            </a:endParaRPr>
          </a:p>
        </p:txBody>
      </p:sp>
      <p:sp>
        <p:nvSpPr>
          <p:cNvPr id="136" name="Google Shape;136;p18"/>
          <p:cNvSpPr/>
          <p:nvPr/>
        </p:nvSpPr>
        <p:spPr>
          <a:xfrm>
            <a:off x="3089526" y="3126679"/>
            <a:ext cx="856500" cy="382800"/>
          </a:xfrm>
          <a:prstGeom prst="roundRect">
            <a:avLst>
              <a:gd fmla="val 16667" name="adj"/>
            </a:avLst>
          </a:prstGeom>
          <a:noFill/>
          <a:ln cap="flat" cmpd="sng" w="7725">
            <a:solidFill>
              <a:srgbClr val="000000"/>
            </a:solidFill>
            <a:prstDash val="solid"/>
            <a:round/>
            <a:headEnd len="sm" w="sm" type="none"/>
            <a:tailEnd len="sm" w="sm" type="none"/>
          </a:ln>
        </p:spPr>
        <p:txBody>
          <a:bodyPr anchorCtr="0" anchor="ctr" bIns="74150" lIns="74150" spcFirstLastPara="1" rIns="74150" wrap="square" tIns="74150">
            <a:noAutofit/>
          </a:bodyPr>
          <a:lstStyle/>
          <a:p>
            <a:pPr indent="0" lvl="0" marL="0" rtl="0" algn="ctr">
              <a:spcBef>
                <a:spcPts val="0"/>
              </a:spcBef>
              <a:spcAft>
                <a:spcPts val="0"/>
              </a:spcAft>
              <a:buNone/>
            </a:pPr>
            <a:r>
              <a:rPr lang="en-GB" sz="1135">
                <a:latin typeface="Open Sans"/>
                <a:ea typeface="Open Sans"/>
                <a:cs typeface="Open Sans"/>
                <a:sym typeface="Open Sans"/>
              </a:rPr>
              <a:t>Thread 3</a:t>
            </a:r>
            <a:endParaRPr sz="1135">
              <a:latin typeface="Open Sans"/>
              <a:ea typeface="Open Sans"/>
              <a:cs typeface="Open Sans"/>
              <a:sym typeface="Open Sans"/>
            </a:endParaRPr>
          </a:p>
        </p:txBody>
      </p:sp>
      <p:cxnSp>
        <p:nvCxnSpPr>
          <p:cNvPr id="137" name="Google Shape;137;p18"/>
          <p:cNvCxnSpPr/>
          <p:nvPr/>
        </p:nvCxnSpPr>
        <p:spPr>
          <a:xfrm flipH="1" rot="10800000">
            <a:off x="3946025" y="2019312"/>
            <a:ext cx="444300" cy="9900"/>
          </a:xfrm>
          <a:prstGeom prst="straightConnector1">
            <a:avLst/>
          </a:prstGeom>
          <a:noFill/>
          <a:ln cap="flat" cmpd="sng" w="30875">
            <a:solidFill>
              <a:srgbClr val="000000"/>
            </a:solidFill>
            <a:prstDash val="solid"/>
            <a:round/>
            <a:headEnd len="med" w="med" type="none"/>
            <a:tailEnd len="med" w="med" type="triangle"/>
          </a:ln>
        </p:spPr>
      </p:cxnSp>
      <p:grpSp>
        <p:nvGrpSpPr>
          <p:cNvPr id="138" name="Google Shape;138;p18"/>
          <p:cNvGrpSpPr/>
          <p:nvPr/>
        </p:nvGrpSpPr>
        <p:grpSpPr>
          <a:xfrm>
            <a:off x="4390325" y="1547250"/>
            <a:ext cx="3509325" cy="673500"/>
            <a:chOff x="4425650" y="1420313"/>
            <a:chExt cx="3509325" cy="673500"/>
          </a:xfrm>
        </p:grpSpPr>
        <p:sp>
          <p:nvSpPr>
            <p:cNvPr id="139" name="Google Shape;139;p18"/>
            <p:cNvSpPr/>
            <p:nvPr/>
          </p:nvSpPr>
          <p:spPr>
            <a:xfrm>
              <a:off x="4562576" y="1561473"/>
              <a:ext cx="856500" cy="382800"/>
            </a:xfrm>
            <a:prstGeom prst="roundRect">
              <a:avLst>
                <a:gd fmla="val 16667" name="adj"/>
              </a:avLst>
            </a:prstGeom>
            <a:noFill/>
            <a:ln cap="flat" cmpd="sng" w="7725">
              <a:solidFill>
                <a:srgbClr val="000000"/>
              </a:solidFill>
              <a:prstDash val="solid"/>
              <a:round/>
              <a:headEnd len="sm" w="sm" type="none"/>
              <a:tailEnd len="sm" w="sm" type="none"/>
            </a:ln>
          </p:spPr>
          <p:txBody>
            <a:bodyPr anchorCtr="0" anchor="ctr" bIns="74150" lIns="74150" spcFirstLastPara="1" rIns="74150" wrap="square" tIns="74150">
              <a:noAutofit/>
            </a:bodyPr>
            <a:lstStyle/>
            <a:p>
              <a:pPr indent="0" lvl="0" marL="0" rtl="0" algn="ctr">
                <a:spcBef>
                  <a:spcPts val="0"/>
                </a:spcBef>
                <a:spcAft>
                  <a:spcPts val="0"/>
                </a:spcAft>
                <a:buNone/>
              </a:pPr>
              <a:r>
                <a:rPr lang="en-GB" sz="1135">
                  <a:latin typeface="Open Sans"/>
                  <a:ea typeface="Open Sans"/>
                  <a:cs typeface="Open Sans"/>
                  <a:sym typeface="Open Sans"/>
                </a:rPr>
                <a:t>("the",1)</a:t>
              </a:r>
              <a:endParaRPr sz="1135">
                <a:latin typeface="Open Sans"/>
                <a:ea typeface="Open Sans"/>
                <a:cs typeface="Open Sans"/>
                <a:sym typeface="Open Sans"/>
              </a:endParaRPr>
            </a:p>
          </p:txBody>
        </p:sp>
        <p:sp>
          <p:nvSpPr>
            <p:cNvPr id="140" name="Google Shape;140;p18"/>
            <p:cNvSpPr/>
            <p:nvPr/>
          </p:nvSpPr>
          <p:spPr>
            <a:xfrm>
              <a:off x="5567376" y="1561482"/>
              <a:ext cx="856500" cy="382800"/>
            </a:xfrm>
            <a:prstGeom prst="roundRect">
              <a:avLst>
                <a:gd fmla="val 16667" name="adj"/>
              </a:avLst>
            </a:prstGeom>
            <a:noFill/>
            <a:ln cap="flat" cmpd="sng" w="7725">
              <a:solidFill>
                <a:srgbClr val="000000"/>
              </a:solidFill>
              <a:prstDash val="solid"/>
              <a:round/>
              <a:headEnd len="sm" w="sm" type="none"/>
              <a:tailEnd len="sm" w="sm" type="none"/>
            </a:ln>
          </p:spPr>
          <p:txBody>
            <a:bodyPr anchorCtr="0" anchor="ctr" bIns="74150" lIns="74150" spcFirstLastPara="1" rIns="74150" wrap="square" tIns="74150">
              <a:noAutofit/>
            </a:bodyPr>
            <a:lstStyle/>
            <a:p>
              <a:pPr indent="0" lvl="0" marL="0" rtl="0" algn="ctr">
                <a:spcBef>
                  <a:spcPts val="0"/>
                </a:spcBef>
                <a:spcAft>
                  <a:spcPts val="0"/>
                </a:spcAft>
                <a:buNone/>
              </a:pPr>
              <a:r>
                <a:rPr lang="en-GB" sz="1135">
                  <a:latin typeface="Open Sans"/>
                  <a:ea typeface="Open Sans"/>
                  <a:cs typeface="Open Sans"/>
                  <a:sym typeface="Open Sans"/>
                </a:rPr>
                <a:t>("cat",1)</a:t>
              </a:r>
              <a:endParaRPr sz="1135">
                <a:latin typeface="Open Sans"/>
                <a:ea typeface="Open Sans"/>
                <a:cs typeface="Open Sans"/>
                <a:sym typeface="Open Sans"/>
              </a:endParaRPr>
            </a:p>
          </p:txBody>
        </p:sp>
        <p:sp>
          <p:nvSpPr>
            <p:cNvPr id="141" name="Google Shape;141;p18"/>
            <p:cNvSpPr/>
            <p:nvPr/>
          </p:nvSpPr>
          <p:spPr>
            <a:xfrm>
              <a:off x="6529026" y="1561466"/>
              <a:ext cx="856500" cy="382800"/>
            </a:xfrm>
            <a:prstGeom prst="roundRect">
              <a:avLst>
                <a:gd fmla="val 16667" name="adj"/>
              </a:avLst>
            </a:prstGeom>
            <a:noFill/>
            <a:ln cap="flat" cmpd="sng" w="7725">
              <a:solidFill>
                <a:srgbClr val="000000"/>
              </a:solidFill>
              <a:prstDash val="solid"/>
              <a:round/>
              <a:headEnd len="sm" w="sm" type="none"/>
              <a:tailEnd len="sm" w="sm" type="none"/>
            </a:ln>
          </p:spPr>
          <p:txBody>
            <a:bodyPr anchorCtr="0" anchor="ctr" bIns="74150" lIns="74150" spcFirstLastPara="1" rIns="74150" wrap="square" tIns="74150">
              <a:noAutofit/>
            </a:bodyPr>
            <a:lstStyle/>
            <a:p>
              <a:pPr indent="0" lvl="0" marL="0" rtl="0" algn="ctr">
                <a:spcBef>
                  <a:spcPts val="0"/>
                </a:spcBef>
                <a:spcAft>
                  <a:spcPts val="0"/>
                </a:spcAft>
                <a:buNone/>
              </a:pPr>
              <a:r>
                <a:rPr lang="en-GB" sz="1135">
                  <a:latin typeface="Open Sans"/>
                  <a:ea typeface="Open Sans"/>
                  <a:cs typeface="Open Sans"/>
                  <a:sym typeface="Open Sans"/>
                </a:rPr>
                <a:t>("the",1)</a:t>
              </a:r>
              <a:endParaRPr sz="1135">
                <a:latin typeface="Open Sans"/>
                <a:ea typeface="Open Sans"/>
                <a:cs typeface="Open Sans"/>
                <a:sym typeface="Open Sans"/>
              </a:endParaRPr>
            </a:p>
          </p:txBody>
        </p:sp>
        <p:sp>
          <p:nvSpPr>
            <p:cNvPr id="142" name="Google Shape;142;p18"/>
            <p:cNvSpPr/>
            <p:nvPr/>
          </p:nvSpPr>
          <p:spPr>
            <a:xfrm>
              <a:off x="4425650" y="1420313"/>
              <a:ext cx="3476100" cy="6735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3" name="Google Shape;143;p18"/>
            <p:cNvSpPr txBox="1"/>
            <p:nvPr/>
          </p:nvSpPr>
          <p:spPr>
            <a:xfrm>
              <a:off x="7490675" y="1582925"/>
              <a:ext cx="444300" cy="339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GB" sz="1300">
                  <a:latin typeface="Open Sans"/>
                  <a:ea typeface="Open Sans"/>
                  <a:cs typeface="Open Sans"/>
                  <a:sym typeface="Open Sans"/>
                </a:rPr>
                <a:t>. . .</a:t>
              </a:r>
              <a:endParaRPr b="1" sz="1300">
                <a:latin typeface="Open Sans"/>
                <a:ea typeface="Open Sans"/>
                <a:cs typeface="Open Sans"/>
                <a:sym typeface="Open Sans"/>
              </a:endParaRPr>
            </a:p>
          </p:txBody>
        </p:sp>
      </p:grpSp>
      <p:cxnSp>
        <p:nvCxnSpPr>
          <p:cNvPr id="144" name="Google Shape;144;p18"/>
          <p:cNvCxnSpPr/>
          <p:nvPr/>
        </p:nvCxnSpPr>
        <p:spPr>
          <a:xfrm flipH="1" rot="10800000">
            <a:off x="3946025" y="2616054"/>
            <a:ext cx="444300" cy="9900"/>
          </a:xfrm>
          <a:prstGeom prst="straightConnector1">
            <a:avLst/>
          </a:prstGeom>
          <a:noFill/>
          <a:ln cap="flat" cmpd="sng" w="30875">
            <a:solidFill>
              <a:srgbClr val="000000"/>
            </a:solidFill>
            <a:prstDash val="solid"/>
            <a:round/>
            <a:headEnd len="med" w="med" type="none"/>
            <a:tailEnd len="med" w="med" type="triangle"/>
          </a:ln>
        </p:spPr>
      </p:cxnSp>
      <p:cxnSp>
        <p:nvCxnSpPr>
          <p:cNvPr id="145" name="Google Shape;145;p18"/>
          <p:cNvCxnSpPr>
            <a:endCxn id="146" idx="1"/>
          </p:cNvCxnSpPr>
          <p:nvPr/>
        </p:nvCxnSpPr>
        <p:spPr>
          <a:xfrm>
            <a:off x="3955025" y="3248388"/>
            <a:ext cx="435300" cy="11100"/>
          </a:xfrm>
          <a:prstGeom prst="straightConnector1">
            <a:avLst/>
          </a:prstGeom>
          <a:noFill/>
          <a:ln cap="flat" cmpd="sng" w="30875">
            <a:solidFill>
              <a:srgbClr val="000000"/>
            </a:solidFill>
            <a:prstDash val="solid"/>
            <a:round/>
            <a:headEnd len="med" w="med" type="none"/>
            <a:tailEnd len="med" w="med" type="triangle"/>
          </a:ln>
        </p:spPr>
      </p:cxnSp>
      <p:sp>
        <p:nvSpPr>
          <p:cNvPr id="147" name="Google Shape;147;p18"/>
          <p:cNvSpPr/>
          <p:nvPr/>
        </p:nvSpPr>
        <p:spPr>
          <a:xfrm>
            <a:off x="4527251" y="2380348"/>
            <a:ext cx="856500" cy="382800"/>
          </a:xfrm>
          <a:prstGeom prst="roundRect">
            <a:avLst>
              <a:gd fmla="val 16667" name="adj"/>
            </a:avLst>
          </a:prstGeom>
          <a:noFill/>
          <a:ln cap="flat" cmpd="sng" w="7725">
            <a:solidFill>
              <a:srgbClr val="000000"/>
            </a:solidFill>
            <a:prstDash val="solid"/>
            <a:round/>
            <a:headEnd len="sm" w="sm" type="none"/>
            <a:tailEnd len="sm" w="sm" type="none"/>
          </a:ln>
        </p:spPr>
        <p:txBody>
          <a:bodyPr anchorCtr="0" anchor="ctr" bIns="74150" lIns="74150" spcFirstLastPara="1" rIns="74150" wrap="square" tIns="74150">
            <a:noAutofit/>
          </a:bodyPr>
          <a:lstStyle/>
          <a:p>
            <a:pPr indent="0" lvl="0" marL="0" rtl="0" algn="ctr">
              <a:spcBef>
                <a:spcPts val="0"/>
              </a:spcBef>
              <a:spcAft>
                <a:spcPts val="0"/>
              </a:spcAft>
              <a:buNone/>
            </a:pPr>
            <a:r>
              <a:rPr lang="en-GB" sz="1135">
                <a:latin typeface="Open Sans"/>
                <a:ea typeface="Open Sans"/>
                <a:cs typeface="Open Sans"/>
                <a:sym typeface="Open Sans"/>
              </a:rPr>
              <a:t>("sat",1)</a:t>
            </a:r>
            <a:endParaRPr sz="1135">
              <a:latin typeface="Open Sans"/>
              <a:ea typeface="Open Sans"/>
              <a:cs typeface="Open Sans"/>
              <a:sym typeface="Open Sans"/>
            </a:endParaRPr>
          </a:p>
        </p:txBody>
      </p:sp>
      <p:sp>
        <p:nvSpPr>
          <p:cNvPr id="148" name="Google Shape;148;p18"/>
          <p:cNvSpPr/>
          <p:nvPr/>
        </p:nvSpPr>
        <p:spPr>
          <a:xfrm>
            <a:off x="5532051" y="2380357"/>
            <a:ext cx="856500" cy="382800"/>
          </a:xfrm>
          <a:prstGeom prst="roundRect">
            <a:avLst>
              <a:gd fmla="val 16667" name="adj"/>
            </a:avLst>
          </a:prstGeom>
          <a:noFill/>
          <a:ln cap="flat" cmpd="sng" w="7725">
            <a:solidFill>
              <a:srgbClr val="000000"/>
            </a:solidFill>
            <a:prstDash val="solid"/>
            <a:round/>
            <a:headEnd len="sm" w="sm" type="none"/>
            <a:tailEnd len="sm" w="sm" type="none"/>
          </a:ln>
        </p:spPr>
        <p:txBody>
          <a:bodyPr anchorCtr="0" anchor="ctr" bIns="74150" lIns="74150" spcFirstLastPara="1" rIns="74150" wrap="square" tIns="74150">
            <a:noAutofit/>
          </a:bodyPr>
          <a:lstStyle/>
          <a:p>
            <a:pPr indent="0" lvl="0" marL="0" rtl="0" algn="ctr">
              <a:spcBef>
                <a:spcPts val="0"/>
              </a:spcBef>
              <a:spcAft>
                <a:spcPts val="0"/>
              </a:spcAft>
              <a:buNone/>
            </a:pPr>
            <a:r>
              <a:rPr lang="en-GB" sz="1135">
                <a:latin typeface="Open Sans"/>
                <a:ea typeface="Open Sans"/>
                <a:cs typeface="Open Sans"/>
                <a:sym typeface="Open Sans"/>
              </a:rPr>
              <a:t>("cat",1)</a:t>
            </a:r>
            <a:endParaRPr sz="1135">
              <a:latin typeface="Open Sans"/>
              <a:ea typeface="Open Sans"/>
              <a:cs typeface="Open Sans"/>
              <a:sym typeface="Open Sans"/>
            </a:endParaRPr>
          </a:p>
        </p:txBody>
      </p:sp>
      <p:sp>
        <p:nvSpPr>
          <p:cNvPr id="149" name="Google Shape;149;p18"/>
          <p:cNvSpPr/>
          <p:nvPr/>
        </p:nvSpPr>
        <p:spPr>
          <a:xfrm>
            <a:off x="6493701" y="2380341"/>
            <a:ext cx="856500" cy="382800"/>
          </a:xfrm>
          <a:prstGeom prst="roundRect">
            <a:avLst>
              <a:gd fmla="val 16667" name="adj"/>
            </a:avLst>
          </a:prstGeom>
          <a:noFill/>
          <a:ln cap="flat" cmpd="sng" w="7725">
            <a:solidFill>
              <a:srgbClr val="000000"/>
            </a:solidFill>
            <a:prstDash val="solid"/>
            <a:round/>
            <a:headEnd len="sm" w="sm" type="none"/>
            <a:tailEnd len="sm" w="sm" type="none"/>
          </a:ln>
        </p:spPr>
        <p:txBody>
          <a:bodyPr anchorCtr="0" anchor="ctr" bIns="74150" lIns="74150" spcFirstLastPara="1" rIns="74150" wrap="square" tIns="74150">
            <a:noAutofit/>
          </a:bodyPr>
          <a:lstStyle/>
          <a:p>
            <a:pPr indent="0" lvl="0" marL="0" rtl="0" algn="ctr">
              <a:spcBef>
                <a:spcPts val="0"/>
              </a:spcBef>
              <a:spcAft>
                <a:spcPts val="0"/>
              </a:spcAft>
              <a:buNone/>
            </a:pPr>
            <a:r>
              <a:rPr lang="en-GB" sz="1135">
                <a:latin typeface="Open Sans"/>
                <a:ea typeface="Open Sans"/>
                <a:cs typeface="Open Sans"/>
                <a:sym typeface="Open Sans"/>
              </a:rPr>
              <a:t>("pig",1)</a:t>
            </a:r>
            <a:endParaRPr sz="1135">
              <a:latin typeface="Open Sans"/>
              <a:ea typeface="Open Sans"/>
              <a:cs typeface="Open Sans"/>
              <a:sym typeface="Open Sans"/>
            </a:endParaRPr>
          </a:p>
        </p:txBody>
      </p:sp>
      <p:sp>
        <p:nvSpPr>
          <p:cNvPr id="150" name="Google Shape;150;p18"/>
          <p:cNvSpPr/>
          <p:nvPr/>
        </p:nvSpPr>
        <p:spPr>
          <a:xfrm>
            <a:off x="4390313" y="2209175"/>
            <a:ext cx="3476100" cy="6735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1" name="Google Shape;151;p18"/>
          <p:cNvSpPr txBox="1"/>
          <p:nvPr/>
        </p:nvSpPr>
        <p:spPr>
          <a:xfrm>
            <a:off x="7455350" y="2401800"/>
            <a:ext cx="444300" cy="339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GB" sz="1300">
                <a:latin typeface="Open Sans"/>
                <a:ea typeface="Open Sans"/>
                <a:cs typeface="Open Sans"/>
                <a:sym typeface="Open Sans"/>
              </a:rPr>
              <a:t>. . .</a:t>
            </a:r>
            <a:endParaRPr b="1" sz="1300">
              <a:latin typeface="Open Sans"/>
              <a:ea typeface="Open Sans"/>
              <a:cs typeface="Open Sans"/>
              <a:sym typeface="Open Sans"/>
            </a:endParaRPr>
          </a:p>
        </p:txBody>
      </p:sp>
      <p:sp>
        <p:nvSpPr>
          <p:cNvPr id="152" name="Google Shape;152;p18"/>
          <p:cNvSpPr/>
          <p:nvPr/>
        </p:nvSpPr>
        <p:spPr>
          <a:xfrm>
            <a:off x="4527251" y="3072298"/>
            <a:ext cx="856500" cy="382800"/>
          </a:xfrm>
          <a:prstGeom prst="roundRect">
            <a:avLst>
              <a:gd fmla="val 16667" name="adj"/>
            </a:avLst>
          </a:prstGeom>
          <a:noFill/>
          <a:ln cap="flat" cmpd="sng" w="7725">
            <a:solidFill>
              <a:srgbClr val="000000"/>
            </a:solidFill>
            <a:prstDash val="solid"/>
            <a:round/>
            <a:headEnd len="sm" w="sm" type="none"/>
            <a:tailEnd len="sm" w="sm" type="none"/>
          </a:ln>
        </p:spPr>
        <p:txBody>
          <a:bodyPr anchorCtr="0" anchor="ctr" bIns="74150" lIns="74150" spcFirstLastPara="1" rIns="74150" wrap="square" tIns="74150">
            <a:noAutofit/>
          </a:bodyPr>
          <a:lstStyle/>
          <a:p>
            <a:pPr indent="0" lvl="0" marL="0" rtl="0" algn="ctr">
              <a:spcBef>
                <a:spcPts val="0"/>
              </a:spcBef>
              <a:spcAft>
                <a:spcPts val="0"/>
              </a:spcAft>
              <a:buNone/>
            </a:pPr>
            <a:r>
              <a:rPr lang="en-GB" sz="1135">
                <a:latin typeface="Open Sans"/>
                <a:ea typeface="Open Sans"/>
                <a:cs typeface="Open Sans"/>
                <a:sym typeface="Open Sans"/>
              </a:rPr>
              <a:t>("the",1)</a:t>
            </a:r>
            <a:endParaRPr sz="1135">
              <a:latin typeface="Open Sans"/>
              <a:ea typeface="Open Sans"/>
              <a:cs typeface="Open Sans"/>
              <a:sym typeface="Open Sans"/>
            </a:endParaRPr>
          </a:p>
        </p:txBody>
      </p:sp>
      <p:sp>
        <p:nvSpPr>
          <p:cNvPr id="153" name="Google Shape;153;p18"/>
          <p:cNvSpPr/>
          <p:nvPr/>
        </p:nvSpPr>
        <p:spPr>
          <a:xfrm>
            <a:off x="5532051" y="3072307"/>
            <a:ext cx="856500" cy="382800"/>
          </a:xfrm>
          <a:prstGeom prst="roundRect">
            <a:avLst>
              <a:gd fmla="val 16667" name="adj"/>
            </a:avLst>
          </a:prstGeom>
          <a:noFill/>
          <a:ln cap="flat" cmpd="sng" w="7725">
            <a:solidFill>
              <a:srgbClr val="000000"/>
            </a:solidFill>
            <a:prstDash val="solid"/>
            <a:round/>
            <a:headEnd len="sm" w="sm" type="none"/>
            <a:tailEnd len="sm" w="sm" type="none"/>
          </a:ln>
        </p:spPr>
        <p:txBody>
          <a:bodyPr anchorCtr="0" anchor="ctr" bIns="74150" lIns="74150" spcFirstLastPara="1" rIns="74150" wrap="square" tIns="74150">
            <a:noAutofit/>
          </a:bodyPr>
          <a:lstStyle/>
          <a:p>
            <a:pPr indent="0" lvl="0" marL="0" rtl="0" algn="ctr">
              <a:spcBef>
                <a:spcPts val="0"/>
              </a:spcBef>
              <a:spcAft>
                <a:spcPts val="0"/>
              </a:spcAft>
              <a:buNone/>
            </a:pPr>
            <a:r>
              <a:rPr lang="en-GB" sz="1135">
                <a:latin typeface="Open Sans"/>
                <a:ea typeface="Open Sans"/>
                <a:cs typeface="Open Sans"/>
                <a:sym typeface="Open Sans"/>
              </a:rPr>
              <a:t>("the",1)</a:t>
            </a:r>
            <a:endParaRPr sz="1135">
              <a:latin typeface="Open Sans"/>
              <a:ea typeface="Open Sans"/>
              <a:cs typeface="Open Sans"/>
              <a:sym typeface="Open Sans"/>
            </a:endParaRPr>
          </a:p>
        </p:txBody>
      </p:sp>
      <p:sp>
        <p:nvSpPr>
          <p:cNvPr id="154" name="Google Shape;154;p18"/>
          <p:cNvSpPr/>
          <p:nvPr/>
        </p:nvSpPr>
        <p:spPr>
          <a:xfrm>
            <a:off x="6493701" y="3072291"/>
            <a:ext cx="856500" cy="382800"/>
          </a:xfrm>
          <a:prstGeom prst="roundRect">
            <a:avLst>
              <a:gd fmla="val 16667" name="adj"/>
            </a:avLst>
          </a:prstGeom>
          <a:noFill/>
          <a:ln cap="flat" cmpd="sng" w="7725">
            <a:solidFill>
              <a:srgbClr val="000000"/>
            </a:solidFill>
            <a:prstDash val="solid"/>
            <a:round/>
            <a:headEnd len="sm" w="sm" type="none"/>
            <a:tailEnd len="sm" w="sm" type="none"/>
          </a:ln>
        </p:spPr>
        <p:txBody>
          <a:bodyPr anchorCtr="0" anchor="ctr" bIns="74150" lIns="74150" spcFirstLastPara="1" rIns="74150" wrap="square" tIns="74150">
            <a:noAutofit/>
          </a:bodyPr>
          <a:lstStyle/>
          <a:p>
            <a:pPr indent="0" lvl="0" marL="0" rtl="0" algn="ctr">
              <a:spcBef>
                <a:spcPts val="0"/>
              </a:spcBef>
              <a:spcAft>
                <a:spcPts val="0"/>
              </a:spcAft>
              <a:buNone/>
            </a:pPr>
            <a:r>
              <a:rPr lang="en-GB" sz="1135">
                <a:latin typeface="Open Sans"/>
                <a:ea typeface="Open Sans"/>
                <a:cs typeface="Open Sans"/>
                <a:sym typeface="Open Sans"/>
              </a:rPr>
              <a:t>("the",1)</a:t>
            </a:r>
            <a:endParaRPr sz="1135">
              <a:latin typeface="Open Sans"/>
              <a:ea typeface="Open Sans"/>
              <a:cs typeface="Open Sans"/>
              <a:sym typeface="Open Sans"/>
            </a:endParaRPr>
          </a:p>
        </p:txBody>
      </p:sp>
      <p:sp>
        <p:nvSpPr>
          <p:cNvPr id="146" name="Google Shape;146;p18"/>
          <p:cNvSpPr/>
          <p:nvPr/>
        </p:nvSpPr>
        <p:spPr>
          <a:xfrm>
            <a:off x="4390325" y="2922738"/>
            <a:ext cx="3476100" cy="6735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5" name="Google Shape;155;p18"/>
          <p:cNvSpPr txBox="1"/>
          <p:nvPr/>
        </p:nvSpPr>
        <p:spPr>
          <a:xfrm>
            <a:off x="7455350" y="3093750"/>
            <a:ext cx="444300" cy="339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GB" sz="1300">
                <a:latin typeface="Open Sans"/>
                <a:ea typeface="Open Sans"/>
                <a:cs typeface="Open Sans"/>
                <a:sym typeface="Open Sans"/>
              </a:rPr>
              <a:t>. . .</a:t>
            </a:r>
            <a:endParaRPr b="1" sz="1300">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Proposed solution - [Shuffle]</a:t>
            </a:r>
            <a:endParaRPr/>
          </a:p>
        </p:txBody>
      </p:sp>
      <p:cxnSp>
        <p:nvCxnSpPr>
          <p:cNvPr id="161" name="Google Shape;161;p19"/>
          <p:cNvCxnSpPr/>
          <p:nvPr/>
        </p:nvCxnSpPr>
        <p:spPr>
          <a:xfrm>
            <a:off x="3672607" y="2193960"/>
            <a:ext cx="742800" cy="1800"/>
          </a:xfrm>
          <a:prstGeom prst="straightConnector1">
            <a:avLst/>
          </a:prstGeom>
          <a:noFill/>
          <a:ln cap="flat" cmpd="sng" w="30875">
            <a:solidFill>
              <a:srgbClr val="000000"/>
            </a:solidFill>
            <a:prstDash val="solid"/>
            <a:round/>
            <a:headEnd len="med" w="med" type="none"/>
            <a:tailEnd len="med" w="med" type="triangle"/>
          </a:ln>
        </p:spPr>
      </p:cxnSp>
      <p:sp>
        <p:nvSpPr>
          <p:cNvPr id="162" name="Google Shape;16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63" name="Google Shape;163;p19"/>
          <p:cNvSpPr/>
          <p:nvPr/>
        </p:nvSpPr>
        <p:spPr>
          <a:xfrm>
            <a:off x="4610438" y="1987600"/>
            <a:ext cx="2475900" cy="359700"/>
          </a:xfrm>
          <a:prstGeom prst="roundRect">
            <a:avLst>
              <a:gd fmla="val 16667" name="adj"/>
            </a:avLst>
          </a:prstGeom>
          <a:noFill/>
          <a:ln cap="flat" cmpd="sng" w="7250">
            <a:solidFill>
              <a:srgbClr val="000000"/>
            </a:solidFill>
            <a:prstDash val="solid"/>
            <a:round/>
            <a:headEnd len="sm" w="sm" type="none"/>
            <a:tailEnd len="sm" w="sm" type="none"/>
          </a:ln>
        </p:spPr>
        <p:txBody>
          <a:bodyPr anchorCtr="0" anchor="ctr" bIns="69625" lIns="69625" spcFirstLastPara="1" rIns="69625" wrap="square" tIns="69625">
            <a:noAutofit/>
          </a:bodyPr>
          <a:lstStyle/>
          <a:p>
            <a:pPr indent="0" lvl="0" marL="0" rtl="0" algn="ctr">
              <a:spcBef>
                <a:spcPts val="0"/>
              </a:spcBef>
              <a:spcAft>
                <a:spcPts val="0"/>
              </a:spcAft>
              <a:buNone/>
            </a:pPr>
            <a:r>
              <a:rPr lang="en-GB" sz="1166">
                <a:latin typeface="Open Sans"/>
                <a:ea typeface="Open Sans"/>
                <a:cs typeface="Open Sans"/>
                <a:sym typeface="Open Sans"/>
              </a:rPr>
              <a:t>[("the", 1), ("the", 1), …]</a:t>
            </a:r>
            <a:endParaRPr sz="1166">
              <a:latin typeface="Open Sans"/>
              <a:ea typeface="Open Sans"/>
              <a:cs typeface="Open Sans"/>
              <a:sym typeface="Open Sans"/>
            </a:endParaRPr>
          </a:p>
        </p:txBody>
      </p:sp>
      <p:sp>
        <p:nvSpPr>
          <p:cNvPr id="164" name="Google Shape;164;p19"/>
          <p:cNvSpPr txBox="1"/>
          <p:nvPr/>
        </p:nvSpPr>
        <p:spPr>
          <a:xfrm>
            <a:off x="3668100" y="1797468"/>
            <a:ext cx="822300" cy="319200"/>
          </a:xfrm>
          <a:prstGeom prst="rect">
            <a:avLst/>
          </a:prstGeom>
          <a:noFill/>
          <a:ln>
            <a:noFill/>
          </a:ln>
        </p:spPr>
        <p:txBody>
          <a:bodyPr anchorCtr="0" anchor="t" bIns="74150" lIns="74150" spcFirstLastPara="1" rIns="74150" wrap="square" tIns="74150">
            <a:noAutofit/>
          </a:bodyPr>
          <a:lstStyle/>
          <a:p>
            <a:pPr indent="0" lvl="0" marL="0" rtl="0" algn="l">
              <a:spcBef>
                <a:spcPts val="0"/>
              </a:spcBef>
              <a:spcAft>
                <a:spcPts val="0"/>
              </a:spcAft>
              <a:buNone/>
            </a:pPr>
            <a:r>
              <a:rPr lang="en-GB" sz="1459">
                <a:solidFill>
                  <a:schemeClr val="dk2"/>
                </a:solidFill>
                <a:latin typeface="Open Sans"/>
                <a:ea typeface="Open Sans"/>
                <a:cs typeface="Open Sans"/>
                <a:sym typeface="Open Sans"/>
              </a:rPr>
              <a:t>Shuffle</a:t>
            </a:r>
            <a:endParaRPr sz="1459">
              <a:solidFill>
                <a:schemeClr val="dk2"/>
              </a:solidFill>
              <a:latin typeface="Open Sans"/>
              <a:ea typeface="Open Sans"/>
              <a:cs typeface="Open Sans"/>
              <a:sym typeface="Open Sans"/>
            </a:endParaRPr>
          </a:p>
        </p:txBody>
      </p:sp>
      <p:sp>
        <p:nvSpPr>
          <p:cNvPr id="165" name="Google Shape;165;p19"/>
          <p:cNvSpPr/>
          <p:nvPr/>
        </p:nvSpPr>
        <p:spPr>
          <a:xfrm>
            <a:off x="7130176" y="1972449"/>
            <a:ext cx="1185300" cy="359700"/>
          </a:xfrm>
          <a:prstGeom prst="roundRect">
            <a:avLst>
              <a:gd fmla="val 16667" name="adj"/>
            </a:avLst>
          </a:prstGeom>
          <a:noFill/>
          <a:ln cap="flat" cmpd="sng" w="7250">
            <a:solidFill>
              <a:srgbClr val="000000"/>
            </a:solidFill>
            <a:prstDash val="solid"/>
            <a:round/>
            <a:headEnd len="sm" w="sm" type="none"/>
            <a:tailEnd len="sm" w="sm" type="none"/>
          </a:ln>
        </p:spPr>
        <p:txBody>
          <a:bodyPr anchorCtr="0" anchor="ctr" bIns="69625" lIns="69625" spcFirstLastPara="1" rIns="69625" wrap="square" tIns="69625">
            <a:noAutofit/>
          </a:bodyPr>
          <a:lstStyle/>
          <a:p>
            <a:pPr indent="0" lvl="0" marL="0" rtl="0" algn="ctr">
              <a:spcBef>
                <a:spcPts val="0"/>
              </a:spcBef>
              <a:spcAft>
                <a:spcPts val="0"/>
              </a:spcAft>
              <a:buNone/>
            </a:pPr>
            <a:r>
              <a:rPr lang="en-GB" sz="1166">
                <a:latin typeface="Open Sans"/>
                <a:ea typeface="Open Sans"/>
                <a:cs typeface="Open Sans"/>
                <a:sym typeface="Open Sans"/>
              </a:rPr>
              <a:t>[("cat",1), …]</a:t>
            </a:r>
            <a:endParaRPr sz="1166">
              <a:latin typeface="Open Sans"/>
              <a:ea typeface="Open Sans"/>
              <a:cs typeface="Open Sans"/>
              <a:sym typeface="Open Sans"/>
            </a:endParaRPr>
          </a:p>
        </p:txBody>
      </p:sp>
      <p:sp>
        <p:nvSpPr>
          <p:cNvPr id="166" name="Google Shape;166;p19"/>
          <p:cNvSpPr/>
          <p:nvPr/>
        </p:nvSpPr>
        <p:spPr>
          <a:xfrm>
            <a:off x="4485774" y="1870287"/>
            <a:ext cx="4113600" cy="584700"/>
          </a:xfrm>
          <a:prstGeom prst="roundRect">
            <a:avLst>
              <a:gd fmla="val 16667" name="adj"/>
            </a:avLst>
          </a:prstGeom>
          <a:noFill/>
          <a:ln cap="flat" cmpd="sng" w="7250">
            <a:solidFill>
              <a:schemeClr val="dk2"/>
            </a:solidFill>
            <a:prstDash val="solid"/>
            <a:round/>
            <a:headEnd len="sm" w="sm" type="none"/>
            <a:tailEnd len="sm" w="sm" type="none"/>
          </a:ln>
        </p:spPr>
        <p:txBody>
          <a:bodyPr anchorCtr="0" anchor="ctr" bIns="69625" lIns="69625" spcFirstLastPara="1" rIns="69625" wrap="square" tIns="69625">
            <a:noAutofit/>
          </a:bodyPr>
          <a:lstStyle/>
          <a:p>
            <a:pPr indent="0" lvl="0" marL="0" rtl="0" algn="ctr">
              <a:spcBef>
                <a:spcPts val="0"/>
              </a:spcBef>
              <a:spcAft>
                <a:spcPts val="0"/>
              </a:spcAft>
              <a:buNone/>
            </a:pPr>
            <a:r>
              <a:t/>
            </a:r>
            <a:endParaRPr sz="1066">
              <a:latin typeface="Open Sans"/>
              <a:ea typeface="Open Sans"/>
              <a:cs typeface="Open Sans"/>
              <a:sym typeface="Open Sans"/>
            </a:endParaRPr>
          </a:p>
        </p:txBody>
      </p:sp>
      <p:cxnSp>
        <p:nvCxnSpPr>
          <p:cNvPr id="167" name="Google Shape;167;p19"/>
          <p:cNvCxnSpPr/>
          <p:nvPr/>
        </p:nvCxnSpPr>
        <p:spPr>
          <a:xfrm flipH="1" rot="10800000">
            <a:off x="42388" y="2310289"/>
            <a:ext cx="407956" cy="9090"/>
          </a:xfrm>
          <a:prstGeom prst="straightConnector1">
            <a:avLst/>
          </a:prstGeom>
          <a:noFill/>
          <a:ln cap="flat" cmpd="sng" w="28350">
            <a:solidFill>
              <a:srgbClr val="000000"/>
            </a:solidFill>
            <a:prstDash val="solid"/>
            <a:round/>
            <a:headEnd len="med" w="med" type="none"/>
            <a:tailEnd len="med" w="med" type="triangle"/>
          </a:ln>
        </p:spPr>
      </p:cxnSp>
      <p:grpSp>
        <p:nvGrpSpPr>
          <p:cNvPr id="168" name="Google Shape;168;p19"/>
          <p:cNvGrpSpPr/>
          <p:nvPr/>
        </p:nvGrpSpPr>
        <p:grpSpPr>
          <a:xfrm>
            <a:off x="450345" y="1876841"/>
            <a:ext cx="3222262" cy="618408"/>
            <a:chOff x="4425650" y="1420313"/>
            <a:chExt cx="3509325" cy="673500"/>
          </a:xfrm>
        </p:grpSpPr>
        <p:sp>
          <p:nvSpPr>
            <p:cNvPr id="169" name="Google Shape;169;p19"/>
            <p:cNvSpPr/>
            <p:nvPr/>
          </p:nvSpPr>
          <p:spPr>
            <a:xfrm>
              <a:off x="4562576" y="1561473"/>
              <a:ext cx="856500" cy="382800"/>
            </a:xfrm>
            <a:prstGeom prst="roundRect">
              <a:avLst>
                <a:gd fmla="val 16667" name="adj"/>
              </a:avLst>
            </a:prstGeom>
            <a:noFill/>
            <a:ln cap="flat" cmpd="sng" w="7100">
              <a:solidFill>
                <a:srgbClr val="000000"/>
              </a:solidFill>
              <a:prstDash val="solid"/>
              <a:round/>
              <a:headEnd len="sm" w="sm" type="none"/>
              <a:tailEnd len="sm" w="sm" type="none"/>
            </a:ln>
          </p:spPr>
          <p:txBody>
            <a:bodyPr anchorCtr="0" anchor="ctr" bIns="68075" lIns="68075" spcFirstLastPara="1" rIns="68075" wrap="square" tIns="68075">
              <a:noAutofit/>
            </a:bodyPr>
            <a:lstStyle/>
            <a:p>
              <a:pPr indent="0" lvl="0" marL="0" rtl="0" algn="ctr">
                <a:spcBef>
                  <a:spcPts val="0"/>
                </a:spcBef>
                <a:spcAft>
                  <a:spcPts val="0"/>
                </a:spcAft>
                <a:buNone/>
              </a:pPr>
              <a:r>
                <a:rPr lang="en-GB" sz="1042">
                  <a:latin typeface="Open Sans"/>
                  <a:ea typeface="Open Sans"/>
                  <a:cs typeface="Open Sans"/>
                  <a:sym typeface="Open Sans"/>
                </a:rPr>
                <a:t>("the",1)</a:t>
              </a:r>
              <a:endParaRPr sz="1042">
                <a:latin typeface="Open Sans"/>
                <a:ea typeface="Open Sans"/>
                <a:cs typeface="Open Sans"/>
                <a:sym typeface="Open Sans"/>
              </a:endParaRPr>
            </a:p>
          </p:txBody>
        </p:sp>
        <p:sp>
          <p:nvSpPr>
            <p:cNvPr id="170" name="Google Shape;170;p19"/>
            <p:cNvSpPr/>
            <p:nvPr/>
          </p:nvSpPr>
          <p:spPr>
            <a:xfrm>
              <a:off x="5567376" y="1561482"/>
              <a:ext cx="856500" cy="382800"/>
            </a:xfrm>
            <a:prstGeom prst="roundRect">
              <a:avLst>
                <a:gd fmla="val 16667" name="adj"/>
              </a:avLst>
            </a:prstGeom>
            <a:noFill/>
            <a:ln cap="flat" cmpd="sng" w="7100">
              <a:solidFill>
                <a:srgbClr val="000000"/>
              </a:solidFill>
              <a:prstDash val="solid"/>
              <a:round/>
              <a:headEnd len="sm" w="sm" type="none"/>
              <a:tailEnd len="sm" w="sm" type="none"/>
            </a:ln>
          </p:spPr>
          <p:txBody>
            <a:bodyPr anchorCtr="0" anchor="ctr" bIns="68075" lIns="68075" spcFirstLastPara="1" rIns="68075" wrap="square" tIns="68075">
              <a:noAutofit/>
            </a:bodyPr>
            <a:lstStyle/>
            <a:p>
              <a:pPr indent="0" lvl="0" marL="0" rtl="0" algn="ctr">
                <a:spcBef>
                  <a:spcPts val="0"/>
                </a:spcBef>
                <a:spcAft>
                  <a:spcPts val="0"/>
                </a:spcAft>
                <a:buNone/>
              </a:pPr>
              <a:r>
                <a:rPr lang="en-GB" sz="1042">
                  <a:latin typeface="Open Sans"/>
                  <a:ea typeface="Open Sans"/>
                  <a:cs typeface="Open Sans"/>
                  <a:sym typeface="Open Sans"/>
                </a:rPr>
                <a:t>("cat",1)</a:t>
              </a:r>
              <a:endParaRPr sz="1042">
                <a:latin typeface="Open Sans"/>
                <a:ea typeface="Open Sans"/>
                <a:cs typeface="Open Sans"/>
                <a:sym typeface="Open Sans"/>
              </a:endParaRPr>
            </a:p>
          </p:txBody>
        </p:sp>
        <p:sp>
          <p:nvSpPr>
            <p:cNvPr id="171" name="Google Shape;171;p19"/>
            <p:cNvSpPr/>
            <p:nvPr/>
          </p:nvSpPr>
          <p:spPr>
            <a:xfrm>
              <a:off x="6529026" y="1561466"/>
              <a:ext cx="856500" cy="382800"/>
            </a:xfrm>
            <a:prstGeom prst="roundRect">
              <a:avLst>
                <a:gd fmla="val 16667" name="adj"/>
              </a:avLst>
            </a:prstGeom>
            <a:noFill/>
            <a:ln cap="flat" cmpd="sng" w="7100">
              <a:solidFill>
                <a:srgbClr val="000000"/>
              </a:solidFill>
              <a:prstDash val="solid"/>
              <a:round/>
              <a:headEnd len="sm" w="sm" type="none"/>
              <a:tailEnd len="sm" w="sm" type="none"/>
            </a:ln>
          </p:spPr>
          <p:txBody>
            <a:bodyPr anchorCtr="0" anchor="ctr" bIns="68075" lIns="68075" spcFirstLastPara="1" rIns="68075" wrap="square" tIns="68075">
              <a:noAutofit/>
            </a:bodyPr>
            <a:lstStyle/>
            <a:p>
              <a:pPr indent="0" lvl="0" marL="0" rtl="0" algn="ctr">
                <a:spcBef>
                  <a:spcPts val="0"/>
                </a:spcBef>
                <a:spcAft>
                  <a:spcPts val="0"/>
                </a:spcAft>
                <a:buNone/>
              </a:pPr>
              <a:r>
                <a:rPr lang="en-GB" sz="1042">
                  <a:latin typeface="Open Sans"/>
                  <a:ea typeface="Open Sans"/>
                  <a:cs typeface="Open Sans"/>
                  <a:sym typeface="Open Sans"/>
                </a:rPr>
                <a:t>("the",1)</a:t>
              </a:r>
              <a:endParaRPr sz="1042">
                <a:latin typeface="Open Sans"/>
                <a:ea typeface="Open Sans"/>
                <a:cs typeface="Open Sans"/>
                <a:sym typeface="Open Sans"/>
              </a:endParaRPr>
            </a:p>
          </p:txBody>
        </p:sp>
        <p:sp>
          <p:nvSpPr>
            <p:cNvPr id="172" name="Google Shape;172;p19"/>
            <p:cNvSpPr/>
            <p:nvPr/>
          </p:nvSpPr>
          <p:spPr>
            <a:xfrm>
              <a:off x="4425650" y="1420313"/>
              <a:ext cx="3476100" cy="673500"/>
            </a:xfrm>
            <a:prstGeom prst="rect">
              <a:avLst/>
            </a:prstGeom>
            <a:noFill/>
            <a:ln cap="flat" cmpd="sng" w="8750">
              <a:solidFill>
                <a:srgbClr val="000000"/>
              </a:solidFill>
              <a:prstDash val="solid"/>
              <a:round/>
              <a:headEnd len="sm" w="sm" type="none"/>
              <a:tailEnd len="sm" w="sm" type="none"/>
            </a:ln>
          </p:spPr>
          <p:txBody>
            <a:bodyPr anchorCtr="0" anchor="ctr" bIns="83975" lIns="83975" spcFirstLastPara="1" rIns="83975" wrap="square" tIns="83975">
              <a:noAutofit/>
            </a:bodyPr>
            <a:lstStyle/>
            <a:p>
              <a:pPr indent="0" lvl="0" marL="0" rtl="0" algn="ctr">
                <a:spcBef>
                  <a:spcPts val="0"/>
                </a:spcBef>
                <a:spcAft>
                  <a:spcPts val="0"/>
                </a:spcAft>
                <a:buNone/>
              </a:pPr>
              <a:r>
                <a:t/>
              </a:r>
              <a:endParaRPr sz="1285">
                <a:latin typeface="Open Sans"/>
                <a:ea typeface="Open Sans"/>
                <a:cs typeface="Open Sans"/>
                <a:sym typeface="Open Sans"/>
              </a:endParaRPr>
            </a:p>
          </p:txBody>
        </p:sp>
        <p:sp>
          <p:nvSpPr>
            <p:cNvPr id="173" name="Google Shape;173;p19"/>
            <p:cNvSpPr txBox="1"/>
            <p:nvPr/>
          </p:nvSpPr>
          <p:spPr>
            <a:xfrm>
              <a:off x="7490675" y="1582925"/>
              <a:ext cx="444300" cy="339900"/>
            </a:xfrm>
            <a:prstGeom prst="rect">
              <a:avLst/>
            </a:prstGeom>
            <a:noFill/>
            <a:ln>
              <a:noFill/>
            </a:ln>
          </p:spPr>
          <p:txBody>
            <a:bodyPr anchorCtr="0" anchor="t" bIns="83975" lIns="83975" spcFirstLastPara="1" rIns="83975" wrap="square" tIns="83975">
              <a:noAutofit/>
            </a:bodyPr>
            <a:lstStyle/>
            <a:p>
              <a:pPr indent="0" lvl="0" marL="0" rtl="0" algn="l">
                <a:lnSpc>
                  <a:spcPct val="100000"/>
                </a:lnSpc>
                <a:spcBef>
                  <a:spcPts val="0"/>
                </a:spcBef>
                <a:spcAft>
                  <a:spcPts val="0"/>
                </a:spcAft>
                <a:buNone/>
              </a:pPr>
              <a:r>
                <a:rPr b="1" lang="en-GB" sz="1193">
                  <a:latin typeface="Open Sans"/>
                  <a:ea typeface="Open Sans"/>
                  <a:cs typeface="Open Sans"/>
                  <a:sym typeface="Open Sans"/>
                </a:rPr>
                <a:t>. . .</a:t>
              </a:r>
              <a:endParaRPr b="1" sz="1193">
                <a:latin typeface="Open Sans"/>
                <a:ea typeface="Open Sans"/>
                <a:cs typeface="Open Sans"/>
                <a:sym typeface="Open Sans"/>
              </a:endParaRPr>
            </a:p>
          </p:txBody>
        </p:sp>
      </p:grpSp>
      <p:cxnSp>
        <p:nvCxnSpPr>
          <p:cNvPr id="174" name="Google Shape;174;p19"/>
          <p:cNvCxnSpPr/>
          <p:nvPr/>
        </p:nvCxnSpPr>
        <p:spPr>
          <a:xfrm flipH="1" rot="10800000">
            <a:off x="42388" y="2858217"/>
            <a:ext cx="407956" cy="9090"/>
          </a:xfrm>
          <a:prstGeom prst="straightConnector1">
            <a:avLst/>
          </a:prstGeom>
          <a:noFill/>
          <a:ln cap="flat" cmpd="sng" w="28350">
            <a:solidFill>
              <a:srgbClr val="000000"/>
            </a:solidFill>
            <a:prstDash val="solid"/>
            <a:round/>
            <a:headEnd len="med" w="med" type="none"/>
            <a:tailEnd len="med" w="med" type="triangle"/>
          </a:ln>
        </p:spPr>
      </p:cxnSp>
      <p:cxnSp>
        <p:nvCxnSpPr>
          <p:cNvPr id="175" name="Google Shape;175;p19"/>
          <p:cNvCxnSpPr/>
          <p:nvPr/>
        </p:nvCxnSpPr>
        <p:spPr>
          <a:xfrm flipH="1" rot="10800000">
            <a:off x="50664" y="3437503"/>
            <a:ext cx="407956" cy="9090"/>
          </a:xfrm>
          <a:prstGeom prst="straightConnector1">
            <a:avLst/>
          </a:prstGeom>
          <a:noFill/>
          <a:ln cap="flat" cmpd="sng" w="28350">
            <a:solidFill>
              <a:srgbClr val="000000"/>
            </a:solidFill>
            <a:prstDash val="solid"/>
            <a:round/>
            <a:headEnd len="med" w="med" type="none"/>
            <a:tailEnd len="med" w="med" type="triangle"/>
          </a:ln>
        </p:spPr>
      </p:cxnSp>
      <p:sp>
        <p:nvSpPr>
          <p:cNvPr id="176" name="Google Shape;176;p19"/>
          <p:cNvSpPr/>
          <p:nvPr/>
        </p:nvSpPr>
        <p:spPr>
          <a:xfrm>
            <a:off x="576070" y="2641792"/>
            <a:ext cx="786438" cy="351487"/>
          </a:xfrm>
          <a:prstGeom prst="roundRect">
            <a:avLst>
              <a:gd fmla="val 16667" name="adj"/>
            </a:avLst>
          </a:prstGeom>
          <a:noFill/>
          <a:ln cap="flat" cmpd="sng" w="7100">
            <a:solidFill>
              <a:srgbClr val="000000"/>
            </a:solidFill>
            <a:prstDash val="solid"/>
            <a:round/>
            <a:headEnd len="sm" w="sm" type="none"/>
            <a:tailEnd len="sm" w="sm" type="none"/>
          </a:ln>
        </p:spPr>
        <p:txBody>
          <a:bodyPr anchorCtr="0" anchor="ctr" bIns="68075" lIns="68075" spcFirstLastPara="1" rIns="68075" wrap="square" tIns="68075">
            <a:noAutofit/>
          </a:bodyPr>
          <a:lstStyle/>
          <a:p>
            <a:pPr indent="0" lvl="0" marL="0" rtl="0" algn="ctr">
              <a:spcBef>
                <a:spcPts val="0"/>
              </a:spcBef>
              <a:spcAft>
                <a:spcPts val="0"/>
              </a:spcAft>
              <a:buNone/>
            </a:pPr>
            <a:r>
              <a:rPr lang="en-GB" sz="1042">
                <a:latin typeface="Open Sans"/>
                <a:ea typeface="Open Sans"/>
                <a:cs typeface="Open Sans"/>
                <a:sym typeface="Open Sans"/>
              </a:rPr>
              <a:t>("sat",1)</a:t>
            </a:r>
            <a:endParaRPr sz="1042">
              <a:latin typeface="Open Sans"/>
              <a:ea typeface="Open Sans"/>
              <a:cs typeface="Open Sans"/>
              <a:sym typeface="Open Sans"/>
            </a:endParaRPr>
          </a:p>
        </p:txBody>
      </p:sp>
      <p:sp>
        <p:nvSpPr>
          <p:cNvPr id="177" name="Google Shape;177;p19"/>
          <p:cNvSpPr/>
          <p:nvPr/>
        </p:nvSpPr>
        <p:spPr>
          <a:xfrm>
            <a:off x="1498678" y="2641800"/>
            <a:ext cx="786438" cy="351487"/>
          </a:xfrm>
          <a:prstGeom prst="roundRect">
            <a:avLst>
              <a:gd fmla="val 16667" name="adj"/>
            </a:avLst>
          </a:prstGeom>
          <a:noFill/>
          <a:ln cap="flat" cmpd="sng" w="7100">
            <a:solidFill>
              <a:srgbClr val="000000"/>
            </a:solidFill>
            <a:prstDash val="solid"/>
            <a:round/>
            <a:headEnd len="sm" w="sm" type="none"/>
            <a:tailEnd len="sm" w="sm" type="none"/>
          </a:ln>
        </p:spPr>
        <p:txBody>
          <a:bodyPr anchorCtr="0" anchor="ctr" bIns="68075" lIns="68075" spcFirstLastPara="1" rIns="68075" wrap="square" tIns="68075">
            <a:noAutofit/>
          </a:bodyPr>
          <a:lstStyle/>
          <a:p>
            <a:pPr indent="0" lvl="0" marL="0" rtl="0" algn="ctr">
              <a:spcBef>
                <a:spcPts val="0"/>
              </a:spcBef>
              <a:spcAft>
                <a:spcPts val="0"/>
              </a:spcAft>
              <a:buNone/>
            </a:pPr>
            <a:r>
              <a:rPr lang="en-GB" sz="1042">
                <a:latin typeface="Open Sans"/>
                <a:ea typeface="Open Sans"/>
                <a:cs typeface="Open Sans"/>
                <a:sym typeface="Open Sans"/>
              </a:rPr>
              <a:t>("cat",1)</a:t>
            </a:r>
            <a:endParaRPr sz="1042">
              <a:latin typeface="Open Sans"/>
              <a:ea typeface="Open Sans"/>
              <a:cs typeface="Open Sans"/>
              <a:sym typeface="Open Sans"/>
            </a:endParaRPr>
          </a:p>
        </p:txBody>
      </p:sp>
      <p:sp>
        <p:nvSpPr>
          <p:cNvPr id="178" name="Google Shape;178;p19"/>
          <p:cNvSpPr/>
          <p:nvPr/>
        </p:nvSpPr>
        <p:spPr>
          <a:xfrm>
            <a:off x="2381665" y="2641786"/>
            <a:ext cx="786438" cy="351487"/>
          </a:xfrm>
          <a:prstGeom prst="roundRect">
            <a:avLst>
              <a:gd fmla="val 16667" name="adj"/>
            </a:avLst>
          </a:prstGeom>
          <a:noFill/>
          <a:ln cap="flat" cmpd="sng" w="7100">
            <a:solidFill>
              <a:srgbClr val="000000"/>
            </a:solidFill>
            <a:prstDash val="solid"/>
            <a:round/>
            <a:headEnd len="sm" w="sm" type="none"/>
            <a:tailEnd len="sm" w="sm" type="none"/>
          </a:ln>
        </p:spPr>
        <p:txBody>
          <a:bodyPr anchorCtr="0" anchor="ctr" bIns="68075" lIns="68075" spcFirstLastPara="1" rIns="68075" wrap="square" tIns="68075">
            <a:noAutofit/>
          </a:bodyPr>
          <a:lstStyle/>
          <a:p>
            <a:pPr indent="0" lvl="0" marL="0" rtl="0" algn="ctr">
              <a:spcBef>
                <a:spcPts val="0"/>
              </a:spcBef>
              <a:spcAft>
                <a:spcPts val="0"/>
              </a:spcAft>
              <a:buNone/>
            </a:pPr>
            <a:r>
              <a:rPr lang="en-GB" sz="1042">
                <a:latin typeface="Open Sans"/>
                <a:ea typeface="Open Sans"/>
                <a:cs typeface="Open Sans"/>
                <a:sym typeface="Open Sans"/>
              </a:rPr>
              <a:t>("pig",1)</a:t>
            </a:r>
            <a:endParaRPr sz="1042">
              <a:latin typeface="Open Sans"/>
              <a:ea typeface="Open Sans"/>
              <a:cs typeface="Open Sans"/>
              <a:sym typeface="Open Sans"/>
            </a:endParaRPr>
          </a:p>
        </p:txBody>
      </p:sp>
      <p:sp>
        <p:nvSpPr>
          <p:cNvPr id="179" name="Google Shape;179;p19"/>
          <p:cNvSpPr/>
          <p:nvPr/>
        </p:nvSpPr>
        <p:spPr>
          <a:xfrm>
            <a:off x="465620" y="2505803"/>
            <a:ext cx="3191700" cy="618300"/>
          </a:xfrm>
          <a:prstGeom prst="rect">
            <a:avLst/>
          </a:prstGeom>
          <a:noFill/>
          <a:ln cap="flat" cmpd="sng" w="8750">
            <a:solidFill>
              <a:srgbClr val="000000"/>
            </a:solidFill>
            <a:prstDash val="solid"/>
            <a:round/>
            <a:headEnd len="sm" w="sm" type="none"/>
            <a:tailEnd len="sm" w="sm" type="none"/>
          </a:ln>
        </p:spPr>
        <p:txBody>
          <a:bodyPr anchorCtr="0" anchor="ctr" bIns="83975" lIns="83975" spcFirstLastPara="1" rIns="83975" wrap="square" tIns="83975">
            <a:noAutofit/>
          </a:bodyPr>
          <a:lstStyle/>
          <a:p>
            <a:pPr indent="0" lvl="0" marL="0" rtl="0" algn="ctr">
              <a:spcBef>
                <a:spcPts val="0"/>
              </a:spcBef>
              <a:spcAft>
                <a:spcPts val="0"/>
              </a:spcAft>
              <a:buNone/>
            </a:pPr>
            <a:r>
              <a:t/>
            </a:r>
            <a:endParaRPr sz="1285">
              <a:latin typeface="Open Sans"/>
              <a:ea typeface="Open Sans"/>
              <a:cs typeface="Open Sans"/>
              <a:sym typeface="Open Sans"/>
            </a:endParaRPr>
          </a:p>
        </p:txBody>
      </p:sp>
      <p:sp>
        <p:nvSpPr>
          <p:cNvPr id="180" name="Google Shape;180;p19"/>
          <p:cNvSpPr txBox="1"/>
          <p:nvPr/>
        </p:nvSpPr>
        <p:spPr>
          <a:xfrm>
            <a:off x="3264651" y="2661489"/>
            <a:ext cx="407956" cy="312096"/>
          </a:xfrm>
          <a:prstGeom prst="rect">
            <a:avLst/>
          </a:prstGeom>
          <a:noFill/>
          <a:ln>
            <a:noFill/>
          </a:ln>
        </p:spPr>
        <p:txBody>
          <a:bodyPr anchorCtr="0" anchor="t" bIns="83975" lIns="83975" spcFirstLastPara="1" rIns="83975" wrap="square" tIns="83975">
            <a:noAutofit/>
          </a:bodyPr>
          <a:lstStyle/>
          <a:p>
            <a:pPr indent="0" lvl="0" marL="0" rtl="0" algn="l">
              <a:lnSpc>
                <a:spcPct val="100000"/>
              </a:lnSpc>
              <a:spcBef>
                <a:spcPts val="0"/>
              </a:spcBef>
              <a:spcAft>
                <a:spcPts val="0"/>
              </a:spcAft>
              <a:buNone/>
            </a:pPr>
            <a:r>
              <a:rPr b="1" lang="en-GB" sz="1193">
                <a:latin typeface="Open Sans"/>
                <a:ea typeface="Open Sans"/>
                <a:cs typeface="Open Sans"/>
                <a:sym typeface="Open Sans"/>
              </a:rPr>
              <a:t>. . .</a:t>
            </a:r>
            <a:endParaRPr b="1" sz="1193">
              <a:latin typeface="Open Sans"/>
              <a:ea typeface="Open Sans"/>
              <a:cs typeface="Open Sans"/>
              <a:sym typeface="Open Sans"/>
            </a:endParaRPr>
          </a:p>
        </p:txBody>
      </p:sp>
      <p:sp>
        <p:nvSpPr>
          <p:cNvPr id="181" name="Google Shape;181;p19"/>
          <p:cNvSpPr/>
          <p:nvPr/>
        </p:nvSpPr>
        <p:spPr>
          <a:xfrm>
            <a:off x="576070" y="3277141"/>
            <a:ext cx="786438" cy="351487"/>
          </a:xfrm>
          <a:prstGeom prst="roundRect">
            <a:avLst>
              <a:gd fmla="val 16667" name="adj"/>
            </a:avLst>
          </a:prstGeom>
          <a:noFill/>
          <a:ln cap="flat" cmpd="sng" w="7100">
            <a:solidFill>
              <a:srgbClr val="000000"/>
            </a:solidFill>
            <a:prstDash val="solid"/>
            <a:round/>
            <a:headEnd len="sm" w="sm" type="none"/>
            <a:tailEnd len="sm" w="sm" type="none"/>
          </a:ln>
        </p:spPr>
        <p:txBody>
          <a:bodyPr anchorCtr="0" anchor="ctr" bIns="68075" lIns="68075" spcFirstLastPara="1" rIns="68075" wrap="square" tIns="68075">
            <a:noAutofit/>
          </a:bodyPr>
          <a:lstStyle/>
          <a:p>
            <a:pPr indent="0" lvl="0" marL="0" rtl="0" algn="ctr">
              <a:spcBef>
                <a:spcPts val="0"/>
              </a:spcBef>
              <a:spcAft>
                <a:spcPts val="0"/>
              </a:spcAft>
              <a:buNone/>
            </a:pPr>
            <a:r>
              <a:rPr lang="en-GB" sz="1042">
                <a:latin typeface="Open Sans"/>
                <a:ea typeface="Open Sans"/>
                <a:cs typeface="Open Sans"/>
                <a:sym typeface="Open Sans"/>
              </a:rPr>
              <a:t>("the",1)</a:t>
            </a:r>
            <a:endParaRPr sz="1042">
              <a:latin typeface="Open Sans"/>
              <a:ea typeface="Open Sans"/>
              <a:cs typeface="Open Sans"/>
              <a:sym typeface="Open Sans"/>
            </a:endParaRPr>
          </a:p>
        </p:txBody>
      </p:sp>
      <p:sp>
        <p:nvSpPr>
          <p:cNvPr id="182" name="Google Shape;182;p19"/>
          <p:cNvSpPr/>
          <p:nvPr/>
        </p:nvSpPr>
        <p:spPr>
          <a:xfrm>
            <a:off x="1498678" y="3277149"/>
            <a:ext cx="786438" cy="351487"/>
          </a:xfrm>
          <a:prstGeom prst="roundRect">
            <a:avLst>
              <a:gd fmla="val 16667" name="adj"/>
            </a:avLst>
          </a:prstGeom>
          <a:noFill/>
          <a:ln cap="flat" cmpd="sng" w="7100">
            <a:solidFill>
              <a:srgbClr val="000000"/>
            </a:solidFill>
            <a:prstDash val="solid"/>
            <a:round/>
            <a:headEnd len="sm" w="sm" type="none"/>
            <a:tailEnd len="sm" w="sm" type="none"/>
          </a:ln>
        </p:spPr>
        <p:txBody>
          <a:bodyPr anchorCtr="0" anchor="ctr" bIns="68075" lIns="68075" spcFirstLastPara="1" rIns="68075" wrap="square" tIns="68075">
            <a:noAutofit/>
          </a:bodyPr>
          <a:lstStyle/>
          <a:p>
            <a:pPr indent="0" lvl="0" marL="0" rtl="0" algn="ctr">
              <a:spcBef>
                <a:spcPts val="0"/>
              </a:spcBef>
              <a:spcAft>
                <a:spcPts val="0"/>
              </a:spcAft>
              <a:buNone/>
            </a:pPr>
            <a:r>
              <a:rPr lang="en-GB" sz="1042">
                <a:latin typeface="Open Sans"/>
                <a:ea typeface="Open Sans"/>
                <a:cs typeface="Open Sans"/>
                <a:sym typeface="Open Sans"/>
              </a:rPr>
              <a:t>("the",1)</a:t>
            </a:r>
            <a:endParaRPr sz="1042">
              <a:latin typeface="Open Sans"/>
              <a:ea typeface="Open Sans"/>
              <a:cs typeface="Open Sans"/>
              <a:sym typeface="Open Sans"/>
            </a:endParaRPr>
          </a:p>
        </p:txBody>
      </p:sp>
      <p:sp>
        <p:nvSpPr>
          <p:cNvPr id="183" name="Google Shape;183;p19"/>
          <p:cNvSpPr/>
          <p:nvPr/>
        </p:nvSpPr>
        <p:spPr>
          <a:xfrm>
            <a:off x="2381665" y="3277134"/>
            <a:ext cx="786438" cy="351487"/>
          </a:xfrm>
          <a:prstGeom prst="roundRect">
            <a:avLst>
              <a:gd fmla="val 16667" name="adj"/>
            </a:avLst>
          </a:prstGeom>
          <a:noFill/>
          <a:ln cap="flat" cmpd="sng" w="7100">
            <a:solidFill>
              <a:srgbClr val="000000"/>
            </a:solidFill>
            <a:prstDash val="solid"/>
            <a:round/>
            <a:headEnd len="sm" w="sm" type="none"/>
            <a:tailEnd len="sm" w="sm" type="none"/>
          </a:ln>
        </p:spPr>
        <p:txBody>
          <a:bodyPr anchorCtr="0" anchor="ctr" bIns="68075" lIns="68075" spcFirstLastPara="1" rIns="68075" wrap="square" tIns="68075">
            <a:noAutofit/>
          </a:bodyPr>
          <a:lstStyle/>
          <a:p>
            <a:pPr indent="0" lvl="0" marL="0" rtl="0" algn="ctr">
              <a:spcBef>
                <a:spcPts val="0"/>
              </a:spcBef>
              <a:spcAft>
                <a:spcPts val="0"/>
              </a:spcAft>
              <a:buNone/>
            </a:pPr>
            <a:r>
              <a:rPr lang="en-GB" sz="1042">
                <a:latin typeface="Open Sans"/>
                <a:ea typeface="Open Sans"/>
                <a:cs typeface="Open Sans"/>
                <a:sym typeface="Open Sans"/>
              </a:rPr>
              <a:t>("the",1)</a:t>
            </a:r>
            <a:endParaRPr sz="1042">
              <a:latin typeface="Open Sans"/>
              <a:ea typeface="Open Sans"/>
              <a:cs typeface="Open Sans"/>
              <a:sym typeface="Open Sans"/>
            </a:endParaRPr>
          </a:p>
        </p:txBody>
      </p:sp>
      <p:sp>
        <p:nvSpPr>
          <p:cNvPr id="184" name="Google Shape;184;p19"/>
          <p:cNvSpPr/>
          <p:nvPr/>
        </p:nvSpPr>
        <p:spPr>
          <a:xfrm>
            <a:off x="466545" y="3134652"/>
            <a:ext cx="3191700" cy="618300"/>
          </a:xfrm>
          <a:prstGeom prst="rect">
            <a:avLst/>
          </a:prstGeom>
          <a:noFill/>
          <a:ln cap="flat" cmpd="sng" w="8750">
            <a:solidFill>
              <a:srgbClr val="000000"/>
            </a:solidFill>
            <a:prstDash val="solid"/>
            <a:round/>
            <a:headEnd len="sm" w="sm" type="none"/>
            <a:tailEnd len="sm" w="sm" type="none"/>
          </a:ln>
        </p:spPr>
        <p:txBody>
          <a:bodyPr anchorCtr="0" anchor="ctr" bIns="83975" lIns="83975" spcFirstLastPara="1" rIns="83975" wrap="square" tIns="83975">
            <a:noAutofit/>
          </a:bodyPr>
          <a:lstStyle/>
          <a:p>
            <a:pPr indent="0" lvl="0" marL="0" rtl="0" algn="ctr">
              <a:spcBef>
                <a:spcPts val="0"/>
              </a:spcBef>
              <a:spcAft>
                <a:spcPts val="0"/>
              </a:spcAft>
              <a:buNone/>
            </a:pPr>
            <a:r>
              <a:t/>
            </a:r>
            <a:endParaRPr sz="1285">
              <a:latin typeface="Open Sans"/>
              <a:ea typeface="Open Sans"/>
              <a:cs typeface="Open Sans"/>
              <a:sym typeface="Open Sans"/>
            </a:endParaRPr>
          </a:p>
          <a:p>
            <a:pPr indent="0" lvl="0" marL="0" rtl="0" algn="l">
              <a:spcBef>
                <a:spcPts val="0"/>
              </a:spcBef>
              <a:spcAft>
                <a:spcPts val="0"/>
              </a:spcAft>
              <a:buNone/>
            </a:pPr>
            <a:r>
              <a:t/>
            </a:r>
            <a:endParaRPr sz="1285">
              <a:latin typeface="Open Sans"/>
              <a:ea typeface="Open Sans"/>
              <a:cs typeface="Open Sans"/>
              <a:sym typeface="Open Sans"/>
            </a:endParaRPr>
          </a:p>
        </p:txBody>
      </p:sp>
      <p:sp>
        <p:nvSpPr>
          <p:cNvPr id="185" name="Google Shape;185;p19"/>
          <p:cNvSpPr txBox="1"/>
          <p:nvPr/>
        </p:nvSpPr>
        <p:spPr>
          <a:xfrm>
            <a:off x="3264651" y="3296838"/>
            <a:ext cx="408000" cy="312000"/>
          </a:xfrm>
          <a:prstGeom prst="rect">
            <a:avLst/>
          </a:prstGeom>
          <a:noFill/>
          <a:ln>
            <a:noFill/>
          </a:ln>
        </p:spPr>
        <p:txBody>
          <a:bodyPr anchorCtr="0" anchor="t" bIns="83975" lIns="83975" spcFirstLastPara="1" rIns="83975" wrap="square" tIns="83975">
            <a:noAutofit/>
          </a:bodyPr>
          <a:lstStyle/>
          <a:p>
            <a:pPr indent="0" lvl="0" marL="0" rtl="0" algn="l">
              <a:lnSpc>
                <a:spcPct val="100000"/>
              </a:lnSpc>
              <a:spcBef>
                <a:spcPts val="0"/>
              </a:spcBef>
              <a:spcAft>
                <a:spcPts val="0"/>
              </a:spcAft>
              <a:buNone/>
            </a:pPr>
            <a:r>
              <a:rPr b="1" lang="en-GB" sz="1193">
                <a:latin typeface="Open Sans"/>
                <a:ea typeface="Open Sans"/>
                <a:cs typeface="Open Sans"/>
                <a:sym typeface="Open Sans"/>
              </a:rPr>
              <a:t>. . .</a:t>
            </a:r>
            <a:endParaRPr b="1" sz="1193">
              <a:latin typeface="Open Sans"/>
              <a:ea typeface="Open Sans"/>
              <a:cs typeface="Open Sans"/>
              <a:sym typeface="Open Sans"/>
            </a:endParaRPr>
          </a:p>
        </p:txBody>
      </p:sp>
      <p:cxnSp>
        <p:nvCxnSpPr>
          <p:cNvPr id="186" name="Google Shape;186;p19"/>
          <p:cNvCxnSpPr>
            <a:stCxn id="180" idx="3"/>
            <a:endCxn id="187" idx="1"/>
          </p:cNvCxnSpPr>
          <p:nvPr/>
        </p:nvCxnSpPr>
        <p:spPr>
          <a:xfrm flipH="1" rot="10800000">
            <a:off x="3672607" y="2815737"/>
            <a:ext cx="813300" cy="1800"/>
          </a:xfrm>
          <a:prstGeom prst="straightConnector1">
            <a:avLst/>
          </a:prstGeom>
          <a:noFill/>
          <a:ln cap="flat" cmpd="sng" w="30875">
            <a:solidFill>
              <a:srgbClr val="000000"/>
            </a:solidFill>
            <a:prstDash val="solid"/>
            <a:round/>
            <a:headEnd len="med" w="med" type="none"/>
            <a:tailEnd len="med" w="med" type="triangle"/>
          </a:ln>
        </p:spPr>
      </p:cxnSp>
      <p:sp>
        <p:nvSpPr>
          <p:cNvPr id="187" name="Google Shape;187;p19"/>
          <p:cNvSpPr/>
          <p:nvPr/>
        </p:nvSpPr>
        <p:spPr>
          <a:xfrm>
            <a:off x="4485774" y="2523351"/>
            <a:ext cx="4113600" cy="584700"/>
          </a:xfrm>
          <a:prstGeom prst="roundRect">
            <a:avLst>
              <a:gd fmla="val 16667" name="adj"/>
            </a:avLst>
          </a:prstGeom>
          <a:noFill/>
          <a:ln cap="flat" cmpd="sng" w="7250">
            <a:solidFill>
              <a:schemeClr val="dk2"/>
            </a:solidFill>
            <a:prstDash val="solid"/>
            <a:round/>
            <a:headEnd len="sm" w="sm" type="none"/>
            <a:tailEnd len="sm" w="sm" type="none"/>
          </a:ln>
        </p:spPr>
        <p:txBody>
          <a:bodyPr anchorCtr="0" anchor="ctr" bIns="69625" lIns="69625" spcFirstLastPara="1" rIns="69625" wrap="square" tIns="69625">
            <a:noAutofit/>
          </a:bodyPr>
          <a:lstStyle/>
          <a:p>
            <a:pPr indent="0" lvl="0" marL="0" rtl="0" algn="ctr">
              <a:spcBef>
                <a:spcPts val="0"/>
              </a:spcBef>
              <a:spcAft>
                <a:spcPts val="0"/>
              </a:spcAft>
              <a:buNone/>
            </a:pPr>
            <a:r>
              <a:t/>
            </a:r>
            <a:endParaRPr sz="1066">
              <a:latin typeface="Open Sans"/>
              <a:ea typeface="Open Sans"/>
              <a:cs typeface="Open Sans"/>
              <a:sym typeface="Open Sans"/>
            </a:endParaRPr>
          </a:p>
        </p:txBody>
      </p:sp>
      <p:sp>
        <p:nvSpPr>
          <p:cNvPr id="188" name="Google Shape;188;p19"/>
          <p:cNvSpPr/>
          <p:nvPr/>
        </p:nvSpPr>
        <p:spPr>
          <a:xfrm>
            <a:off x="4641131" y="2640667"/>
            <a:ext cx="1185300" cy="359700"/>
          </a:xfrm>
          <a:prstGeom prst="roundRect">
            <a:avLst>
              <a:gd fmla="val 16667" name="adj"/>
            </a:avLst>
          </a:prstGeom>
          <a:noFill/>
          <a:ln cap="flat" cmpd="sng" w="7250">
            <a:solidFill>
              <a:srgbClr val="000000"/>
            </a:solidFill>
            <a:prstDash val="solid"/>
            <a:round/>
            <a:headEnd len="sm" w="sm" type="none"/>
            <a:tailEnd len="sm" w="sm" type="none"/>
          </a:ln>
        </p:spPr>
        <p:txBody>
          <a:bodyPr anchorCtr="0" anchor="ctr" bIns="69625" lIns="69625" spcFirstLastPara="1" rIns="69625" wrap="square" tIns="69625">
            <a:noAutofit/>
          </a:bodyPr>
          <a:lstStyle/>
          <a:p>
            <a:pPr indent="0" lvl="0" marL="0" rtl="0" algn="ctr">
              <a:spcBef>
                <a:spcPts val="0"/>
              </a:spcBef>
              <a:spcAft>
                <a:spcPts val="0"/>
              </a:spcAft>
              <a:buNone/>
            </a:pPr>
            <a:r>
              <a:rPr lang="en-GB" sz="1166">
                <a:latin typeface="Open Sans"/>
                <a:ea typeface="Open Sans"/>
                <a:cs typeface="Open Sans"/>
                <a:sym typeface="Open Sans"/>
              </a:rPr>
              <a:t>[</a:t>
            </a:r>
            <a:r>
              <a:rPr lang="en-GB" sz="1166">
                <a:latin typeface="Open Sans"/>
                <a:ea typeface="Open Sans"/>
                <a:cs typeface="Open Sans"/>
                <a:sym typeface="Open Sans"/>
              </a:rPr>
              <a:t>("pig",1), ...]</a:t>
            </a:r>
            <a:endParaRPr sz="1166">
              <a:latin typeface="Open Sans"/>
              <a:ea typeface="Open Sans"/>
              <a:cs typeface="Open Sans"/>
              <a:sym typeface="Open Sans"/>
            </a:endParaRPr>
          </a:p>
        </p:txBody>
      </p:sp>
      <p:sp>
        <p:nvSpPr>
          <p:cNvPr id="189" name="Google Shape;189;p19"/>
          <p:cNvSpPr/>
          <p:nvPr/>
        </p:nvSpPr>
        <p:spPr>
          <a:xfrm>
            <a:off x="5901019" y="2625497"/>
            <a:ext cx="1185300" cy="359700"/>
          </a:xfrm>
          <a:prstGeom prst="roundRect">
            <a:avLst>
              <a:gd fmla="val 16667" name="adj"/>
            </a:avLst>
          </a:prstGeom>
          <a:noFill/>
          <a:ln cap="flat" cmpd="sng" w="7250">
            <a:solidFill>
              <a:srgbClr val="000000"/>
            </a:solidFill>
            <a:prstDash val="solid"/>
            <a:round/>
            <a:headEnd len="sm" w="sm" type="none"/>
            <a:tailEnd len="sm" w="sm" type="none"/>
          </a:ln>
        </p:spPr>
        <p:txBody>
          <a:bodyPr anchorCtr="0" anchor="ctr" bIns="69625" lIns="69625" spcFirstLastPara="1" rIns="69625" wrap="square" tIns="69625">
            <a:noAutofit/>
          </a:bodyPr>
          <a:lstStyle/>
          <a:p>
            <a:pPr indent="0" lvl="0" marL="0" rtl="0" algn="ctr">
              <a:spcBef>
                <a:spcPts val="0"/>
              </a:spcBef>
              <a:spcAft>
                <a:spcPts val="0"/>
              </a:spcAft>
              <a:buNone/>
            </a:pPr>
            <a:r>
              <a:rPr lang="en-GB" sz="1166">
                <a:latin typeface="Open Sans"/>
                <a:ea typeface="Open Sans"/>
                <a:cs typeface="Open Sans"/>
                <a:sym typeface="Open Sans"/>
              </a:rPr>
              <a:t>[</a:t>
            </a:r>
            <a:r>
              <a:rPr lang="en-GB" sz="1166">
                <a:latin typeface="Open Sans"/>
                <a:ea typeface="Open Sans"/>
                <a:cs typeface="Open Sans"/>
                <a:sym typeface="Open Sans"/>
              </a:rPr>
              <a:t>("cat",1), …]</a:t>
            </a:r>
            <a:endParaRPr sz="1166">
              <a:latin typeface="Open Sans"/>
              <a:ea typeface="Open Sans"/>
              <a:cs typeface="Open Sans"/>
              <a:sym typeface="Open Sans"/>
            </a:endParaRPr>
          </a:p>
        </p:txBody>
      </p:sp>
      <p:sp>
        <p:nvSpPr>
          <p:cNvPr id="190" name="Google Shape;190;p19"/>
          <p:cNvSpPr/>
          <p:nvPr/>
        </p:nvSpPr>
        <p:spPr>
          <a:xfrm>
            <a:off x="7160894" y="2625511"/>
            <a:ext cx="1185300" cy="359700"/>
          </a:xfrm>
          <a:prstGeom prst="roundRect">
            <a:avLst>
              <a:gd fmla="val 16667" name="adj"/>
            </a:avLst>
          </a:prstGeom>
          <a:noFill/>
          <a:ln cap="flat" cmpd="sng" w="7250">
            <a:solidFill>
              <a:srgbClr val="000000"/>
            </a:solidFill>
            <a:prstDash val="solid"/>
            <a:round/>
            <a:headEnd len="sm" w="sm" type="none"/>
            <a:tailEnd len="sm" w="sm" type="none"/>
          </a:ln>
        </p:spPr>
        <p:txBody>
          <a:bodyPr anchorCtr="0" anchor="ctr" bIns="69625" lIns="69625" spcFirstLastPara="1" rIns="69625" wrap="square" tIns="69625">
            <a:noAutofit/>
          </a:bodyPr>
          <a:lstStyle/>
          <a:p>
            <a:pPr indent="0" lvl="0" marL="0" rtl="0" algn="ctr">
              <a:spcBef>
                <a:spcPts val="0"/>
              </a:spcBef>
              <a:spcAft>
                <a:spcPts val="0"/>
              </a:spcAft>
              <a:buNone/>
            </a:pPr>
            <a:r>
              <a:rPr lang="en-GB" sz="1266">
                <a:latin typeface="Open Sans"/>
                <a:ea typeface="Open Sans"/>
                <a:cs typeface="Open Sans"/>
                <a:sym typeface="Open Sans"/>
              </a:rPr>
              <a:t>[</a:t>
            </a:r>
            <a:r>
              <a:rPr lang="en-GB" sz="1266">
                <a:latin typeface="Open Sans"/>
                <a:ea typeface="Open Sans"/>
                <a:cs typeface="Open Sans"/>
                <a:sym typeface="Open Sans"/>
              </a:rPr>
              <a:t>("sat",1), …]</a:t>
            </a:r>
            <a:endParaRPr sz="1266">
              <a:latin typeface="Open Sans"/>
              <a:ea typeface="Open Sans"/>
              <a:cs typeface="Open Sans"/>
              <a:sym typeface="Open Sans"/>
            </a:endParaRPr>
          </a:p>
        </p:txBody>
      </p:sp>
      <p:sp>
        <p:nvSpPr>
          <p:cNvPr id="191" name="Google Shape;191;p19"/>
          <p:cNvSpPr txBox="1"/>
          <p:nvPr/>
        </p:nvSpPr>
        <p:spPr>
          <a:xfrm>
            <a:off x="3654997" y="2388653"/>
            <a:ext cx="822300" cy="319200"/>
          </a:xfrm>
          <a:prstGeom prst="rect">
            <a:avLst/>
          </a:prstGeom>
          <a:noFill/>
          <a:ln>
            <a:noFill/>
          </a:ln>
        </p:spPr>
        <p:txBody>
          <a:bodyPr anchorCtr="0" anchor="t" bIns="74150" lIns="74150" spcFirstLastPara="1" rIns="74150" wrap="square" tIns="74150">
            <a:noAutofit/>
          </a:bodyPr>
          <a:lstStyle/>
          <a:p>
            <a:pPr indent="0" lvl="0" marL="0" rtl="0" algn="l">
              <a:spcBef>
                <a:spcPts val="0"/>
              </a:spcBef>
              <a:spcAft>
                <a:spcPts val="0"/>
              </a:spcAft>
              <a:buNone/>
            </a:pPr>
            <a:r>
              <a:rPr lang="en-GB" sz="1459">
                <a:solidFill>
                  <a:schemeClr val="dk2"/>
                </a:solidFill>
                <a:latin typeface="Open Sans"/>
                <a:ea typeface="Open Sans"/>
                <a:cs typeface="Open Sans"/>
                <a:sym typeface="Open Sans"/>
              </a:rPr>
              <a:t>Shuffle</a:t>
            </a:r>
            <a:endParaRPr sz="1459">
              <a:solidFill>
                <a:schemeClr val="dk2"/>
              </a:solidFill>
              <a:latin typeface="Open Sans"/>
              <a:ea typeface="Open Sans"/>
              <a:cs typeface="Open Sans"/>
              <a:sym typeface="Open Sans"/>
            </a:endParaRPr>
          </a:p>
        </p:txBody>
      </p:sp>
      <p:cxnSp>
        <p:nvCxnSpPr>
          <p:cNvPr id="192" name="Google Shape;192;p19"/>
          <p:cNvCxnSpPr>
            <a:endCxn id="193" idx="1"/>
          </p:cNvCxnSpPr>
          <p:nvPr/>
        </p:nvCxnSpPr>
        <p:spPr>
          <a:xfrm>
            <a:off x="3666174" y="3490189"/>
            <a:ext cx="819600" cy="7500"/>
          </a:xfrm>
          <a:prstGeom prst="straightConnector1">
            <a:avLst/>
          </a:prstGeom>
          <a:noFill/>
          <a:ln cap="flat" cmpd="sng" w="30875">
            <a:solidFill>
              <a:srgbClr val="000000"/>
            </a:solidFill>
            <a:prstDash val="solid"/>
            <a:round/>
            <a:headEnd len="med" w="med" type="none"/>
            <a:tailEnd len="med" w="med" type="triangle"/>
          </a:ln>
        </p:spPr>
      </p:cxnSp>
      <p:sp>
        <p:nvSpPr>
          <p:cNvPr id="194" name="Google Shape;194;p19"/>
          <p:cNvSpPr/>
          <p:nvPr/>
        </p:nvSpPr>
        <p:spPr>
          <a:xfrm>
            <a:off x="4641112" y="3325225"/>
            <a:ext cx="3705000" cy="359700"/>
          </a:xfrm>
          <a:prstGeom prst="roundRect">
            <a:avLst>
              <a:gd fmla="val 16667" name="adj"/>
            </a:avLst>
          </a:prstGeom>
          <a:noFill/>
          <a:ln cap="flat" cmpd="sng" w="7250">
            <a:solidFill>
              <a:srgbClr val="000000"/>
            </a:solidFill>
            <a:prstDash val="solid"/>
            <a:round/>
            <a:headEnd len="sm" w="sm" type="none"/>
            <a:tailEnd len="sm" w="sm" type="none"/>
          </a:ln>
        </p:spPr>
        <p:txBody>
          <a:bodyPr anchorCtr="0" anchor="ctr" bIns="69625" lIns="69625" spcFirstLastPara="1" rIns="69625" wrap="square" tIns="69625">
            <a:noAutofit/>
          </a:bodyPr>
          <a:lstStyle/>
          <a:p>
            <a:pPr indent="0" lvl="0" marL="0" rtl="0" algn="ctr">
              <a:spcBef>
                <a:spcPts val="0"/>
              </a:spcBef>
              <a:spcAft>
                <a:spcPts val="0"/>
              </a:spcAft>
              <a:buNone/>
            </a:pPr>
            <a:r>
              <a:rPr lang="en-GB" sz="1166">
                <a:latin typeface="Open Sans"/>
                <a:ea typeface="Open Sans"/>
                <a:cs typeface="Open Sans"/>
                <a:sym typeface="Open Sans"/>
              </a:rPr>
              <a:t>[("the", 1), ("the", 1), ("the", 1), …]</a:t>
            </a:r>
            <a:endParaRPr sz="1066">
              <a:latin typeface="Open Sans"/>
              <a:ea typeface="Open Sans"/>
              <a:cs typeface="Open Sans"/>
              <a:sym typeface="Open Sans"/>
            </a:endParaRPr>
          </a:p>
        </p:txBody>
      </p:sp>
      <p:sp>
        <p:nvSpPr>
          <p:cNvPr id="195" name="Google Shape;195;p19"/>
          <p:cNvSpPr txBox="1"/>
          <p:nvPr/>
        </p:nvSpPr>
        <p:spPr>
          <a:xfrm>
            <a:off x="3654997" y="3134665"/>
            <a:ext cx="822300" cy="319200"/>
          </a:xfrm>
          <a:prstGeom prst="rect">
            <a:avLst/>
          </a:prstGeom>
          <a:noFill/>
          <a:ln>
            <a:noFill/>
          </a:ln>
        </p:spPr>
        <p:txBody>
          <a:bodyPr anchorCtr="0" anchor="t" bIns="74150" lIns="74150" spcFirstLastPara="1" rIns="74150" wrap="square" tIns="74150">
            <a:noAutofit/>
          </a:bodyPr>
          <a:lstStyle/>
          <a:p>
            <a:pPr indent="0" lvl="0" marL="0" rtl="0" algn="l">
              <a:spcBef>
                <a:spcPts val="0"/>
              </a:spcBef>
              <a:spcAft>
                <a:spcPts val="0"/>
              </a:spcAft>
              <a:buNone/>
            </a:pPr>
            <a:r>
              <a:rPr lang="en-GB" sz="1459">
                <a:solidFill>
                  <a:schemeClr val="dk2"/>
                </a:solidFill>
                <a:latin typeface="Open Sans"/>
                <a:ea typeface="Open Sans"/>
                <a:cs typeface="Open Sans"/>
                <a:sym typeface="Open Sans"/>
              </a:rPr>
              <a:t>Shuffle</a:t>
            </a:r>
            <a:endParaRPr sz="1459">
              <a:solidFill>
                <a:schemeClr val="dk2"/>
              </a:solidFill>
              <a:latin typeface="Open Sans"/>
              <a:ea typeface="Open Sans"/>
              <a:cs typeface="Open Sans"/>
              <a:sym typeface="Open Sans"/>
            </a:endParaRPr>
          </a:p>
        </p:txBody>
      </p:sp>
      <p:sp>
        <p:nvSpPr>
          <p:cNvPr id="193" name="Google Shape;193;p19"/>
          <p:cNvSpPr/>
          <p:nvPr/>
        </p:nvSpPr>
        <p:spPr>
          <a:xfrm>
            <a:off x="4485774" y="3205339"/>
            <a:ext cx="4113600" cy="584700"/>
          </a:xfrm>
          <a:prstGeom prst="roundRect">
            <a:avLst>
              <a:gd fmla="val 16667" name="adj"/>
            </a:avLst>
          </a:prstGeom>
          <a:noFill/>
          <a:ln cap="flat" cmpd="sng" w="7250">
            <a:solidFill>
              <a:schemeClr val="dk2"/>
            </a:solidFill>
            <a:prstDash val="solid"/>
            <a:round/>
            <a:headEnd len="sm" w="sm" type="none"/>
            <a:tailEnd len="sm" w="sm" type="none"/>
          </a:ln>
        </p:spPr>
        <p:txBody>
          <a:bodyPr anchorCtr="0" anchor="ctr" bIns="69625" lIns="69625" spcFirstLastPara="1" rIns="69625" wrap="square" tIns="69625">
            <a:noAutofit/>
          </a:bodyPr>
          <a:lstStyle/>
          <a:p>
            <a:pPr indent="0" lvl="0" marL="0" rtl="0" algn="ctr">
              <a:spcBef>
                <a:spcPts val="0"/>
              </a:spcBef>
              <a:spcAft>
                <a:spcPts val="0"/>
              </a:spcAft>
              <a:buNone/>
            </a:pPr>
            <a:r>
              <a:t/>
            </a:r>
            <a:endParaRPr sz="1166">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Proposed solution - [</a:t>
            </a:r>
            <a:r>
              <a:rPr lang="en-GB"/>
              <a:t>Reduce</a:t>
            </a:r>
            <a:r>
              <a:rPr lang="en-GB"/>
              <a:t>]</a:t>
            </a:r>
            <a:endParaRPr/>
          </a:p>
        </p:txBody>
      </p:sp>
      <p:sp>
        <p:nvSpPr>
          <p:cNvPr id="201" name="Google Shape;201;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cxnSp>
        <p:nvCxnSpPr>
          <p:cNvPr id="202" name="Google Shape;202;p20"/>
          <p:cNvCxnSpPr>
            <a:stCxn id="203" idx="3"/>
            <a:endCxn id="204" idx="1"/>
          </p:cNvCxnSpPr>
          <p:nvPr/>
        </p:nvCxnSpPr>
        <p:spPr>
          <a:xfrm flipH="1" rot="10800000">
            <a:off x="5882006" y="2787348"/>
            <a:ext cx="796500" cy="9000"/>
          </a:xfrm>
          <a:prstGeom prst="straightConnector1">
            <a:avLst/>
          </a:prstGeom>
          <a:noFill/>
          <a:ln cap="flat" cmpd="sng" w="30875">
            <a:solidFill>
              <a:srgbClr val="000000"/>
            </a:solidFill>
            <a:prstDash val="solid"/>
            <a:round/>
            <a:headEnd len="med" w="med" type="none"/>
            <a:tailEnd len="med" w="med" type="triangle"/>
          </a:ln>
        </p:spPr>
      </p:cxnSp>
      <p:sp>
        <p:nvSpPr>
          <p:cNvPr id="205" name="Google Shape;205;p20"/>
          <p:cNvSpPr txBox="1"/>
          <p:nvPr/>
        </p:nvSpPr>
        <p:spPr>
          <a:xfrm>
            <a:off x="5860248" y="2385986"/>
            <a:ext cx="822300" cy="319200"/>
          </a:xfrm>
          <a:prstGeom prst="rect">
            <a:avLst/>
          </a:prstGeom>
          <a:noFill/>
          <a:ln>
            <a:noFill/>
          </a:ln>
        </p:spPr>
        <p:txBody>
          <a:bodyPr anchorCtr="0" anchor="t" bIns="74150" lIns="74150" spcFirstLastPara="1" rIns="74150" wrap="square" tIns="74150">
            <a:noAutofit/>
          </a:bodyPr>
          <a:lstStyle/>
          <a:p>
            <a:pPr indent="0" lvl="0" marL="0" rtl="0" algn="l">
              <a:spcBef>
                <a:spcPts val="0"/>
              </a:spcBef>
              <a:spcAft>
                <a:spcPts val="0"/>
              </a:spcAft>
              <a:buNone/>
            </a:pPr>
            <a:r>
              <a:rPr lang="en-GB" sz="1459">
                <a:solidFill>
                  <a:schemeClr val="dk2"/>
                </a:solidFill>
                <a:latin typeface="Open Sans"/>
                <a:ea typeface="Open Sans"/>
                <a:cs typeface="Open Sans"/>
                <a:sym typeface="Open Sans"/>
              </a:rPr>
              <a:t>Reduce</a:t>
            </a:r>
            <a:endParaRPr sz="1459">
              <a:solidFill>
                <a:schemeClr val="dk2"/>
              </a:solidFill>
              <a:latin typeface="Open Sans"/>
              <a:ea typeface="Open Sans"/>
              <a:cs typeface="Open Sans"/>
              <a:sym typeface="Open Sans"/>
            </a:endParaRPr>
          </a:p>
        </p:txBody>
      </p:sp>
      <p:grpSp>
        <p:nvGrpSpPr>
          <p:cNvPr id="206" name="Google Shape;206;p20"/>
          <p:cNvGrpSpPr/>
          <p:nvPr/>
        </p:nvGrpSpPr>
        <p:grpSpPr>
          <a:xfrm>
            <a:off x="6678506" y="1702989"/>
            <a:ext cx="1703596" cy="2168718"/>
            <a:chOff x="5030025" y="2158208"/>
            <a:chExt cx="1884300" cy="2329200"/>
          </a:xfrm>
        </p:grpSpPr>
        <p:sp>
          <p:nvSpPr>
            <p:cNvPr id="204" name="Google Shape;204;p20"/>
            <p:cNvSpPr/>
            <p:nvPr/>
          </p:nvSpPr>
          <p:spPr>
            <a:xfrm>
              <a:off x="5030025" y="2158208"/>
              <a:ext cx="1884300" cy="2329200"/>
            </a:xfrm>
            <a:prstGeom prst="roundRect">
              <a:avLst>
                <a:gd fmla="val 16667" name="adj"/>
              </a:avLst>
            </a:prstGeom>
            <a:noFill/>
            <a:ln cap="flat" cmpd="sng" w="8600">
              <a:solidFill>
                <a:schemeClr val="dk2"/>
              </a:solidFill>
              <a:prstDash val="solid"/>
              <a:round/>
              <a:headEnd len="sm" w="sm" type="none"/>
              <a:tailEnd len="sm" w="sm" type="none"/>
            </a:ln>
          </p:spPr>
          <p:txBody>
            <a:bodyPr anchorCtr="0" anchor="ctr" bIns="82650" lIns="82650" spcFirstLastPara="1" rIns="82650" wrap="square" tIns="82650">
              <a:noAutofit/>
            </a:bodyPr>
            <a:lstStyle/>
            <a:p>
              <a:pPr indent="0" lvl="0" marL="0" rtl="0" algn="ctr">
                <a:spcBef>
                  <a:spcPts val="0"/>
                </a:spcBef>
                <a:spcAft>
                  <a:spcPts val="0"/>
                </a:spcAft>
                <a:buNone/>
              </a:pPr>
              <a:r>
                <a:t/>
              </a:r>
              <a:endParaRPr sz="1265">
                <a:latin typeface="Open Sans"/>
                <a:ea typeface="Open Sans"/>
                <a:cs typeface="Open Sans"/>
                <a:sym typeface="Open Sans"/>
              </a:endParaRPr>
            </a:p>
          </p:txBody>
        </p:sp>
        <p:sp>
          <p:nvSpPr>
            <p:cNvPr id="207" name="Google Shape;207;p20"/>
            <p:cNvSpPr/>
            <p:nvPr/>
          </p:nvSpPr>
          <p:spPr>
            <a:xfrm>
              <a:off x="5274074" y="2215558"/>
              <a:ext cx="1396200" cy="472200"/>
            </a:xfrm>
            <a:prstGeom prst="roundRect">
              <a:avLst>
                <a:gd fmla="val 16667" name="adj"/>
              </a:avLst>
            </a:prstGeom>
            <a:noFill/>
            <a:ln cap="flat" cmpd="sng" w="8600">
              <a:solidFill>
                <a:srgbClr val="000000"/>
              </a:solidFill>
              <a:prstDash val="solid"/>
              <a:round/>
              <a:headEnd len="sm" w="sm" type="none"/>
              <a:tailEnd len="sm" w="sm" type="none"/>
            </a:ln>
          </p:spPr>
          <p:txBody>
            <a:bodyPr anchorCtr="0" anchor="ctr" bIns="82650" lIns="82650" spcFirstLastPara="1" rIns="82650" wrap="square" tIns="82650">
              <a:noAutofit/>
            </a:bodyPr>
            <a:lstStyle/>
            <a:p>
              <a:pPr indent="0" lvl="0" marL="0" rtl="0" algn="ctr">
                <a:spcBef>
                  <a:spcPts val="0"/>
                </a:spcBef>
                <a:spcAft>
                  <a:spcPts val="0"/>
                </a:spcAft>
                <a:buNone/>
              </a:pPr>
              <a:r>
                <a:rPr lang="en-GB" sz="1265">
                  <a:latin typeface="Open Sans"/>
                  <a:ea typeface="Open Sans"/>
                  <a:cs typeface="Open Sans"/>
                  <a:sym typeface="Open Sans"/>
                </a:rPr>
                <a:t>("the",5 )</a:t>
              </a:r>
              <a:endParaRPr sz="1265">
                <a:latin typeface="Open Sans"/>
                <a:ea typeface="Open Sans"/>
                <a:cs typeface="Open Sans"/>
                <a:sym typeface="Open Sans"/>
              </a:endParaRPr>
            </a:p>
          </p:txBody>
        </p:sp>
        <p:sp>
          <p:nvSpPr>
            <p:cNvPr id="208" name="Google Shape;208;p20"/>
            <p:cNvSpPr/>
            <p:nvPr/>
          </p:nvSpPr>
          <p:spPr>
            <a:xfrm>
              <a:off x="5274129" y="2760734"/>
              <a:ext cx="1396200" cy="472200"/>
            </a:xfrm>
            <a:prstGeom prst="roundRect">
              <a:avLst>
                <a:gd fmla="val 16667" name="adj"/>
              </a:avLst>
            </a:prstGeom>
            <a:noFill/>
            <a:ln cap="flat" cmpd="sng" w="8600">
              <a:solidFill>
                <a:srgbClr val="000000"/>
              </a:solidFill>
              <a:prstDash val="solid"/>
              <a:round/>
              <a:headEnd len="sm" w="sm" type="none"/>
              <a:tailEnd len="sm" w="sm" type="none"/>
            </a:ln>
          </p:spPr>
          <p:txBody>
            <a:bodyPr anchorCtr="0" anchor="ctr" bIns="82650" lIns="82650" spcFirstLastPara="1" rIns="82650" wrap="square" tIns="82650">
              <a:noAutofit/>
            </a:bodyPr>
            <a:lstStyle/>
            <a:p>
              <a:pPr indent="0" lvl="0" marL="0" rtl="0" algn="ctr">
                <a:spcBef>
                  <a:spcPts val="0"/>
                </a:spcBef>
                <a:spcAft>
                  <a:spcPts val="0"/>
                </a:spcAft>
                <a:buNone/>
              </a:pPr>
              <a:r>
                <a:rPr lang="en-GB" sz="1265">
                  <a:latin typeface="Open Sans"/>
                  <a:ea typeface="Open Sans"/>
                  <a:cs typeface="Open Sans"/>
                  <a:sym typeface="Open Sans"/>
                </a:rPr>
                <a:t>("cat", 3 )</a:t>
              </a:r>
              <a:endParaRPr sz="1265">
                <a:latin typeface="Open Sans"/>
                <a:ea typeface="Open Sans"/>
                <a:cs typeface="Open Sans"/>
                <a:sym typeface="Open Sans"/>
              </a:endParaRPr>
            </a:p>
          </p:txBody>
        </p:sp>
        <p:sp>
          <p:nvSpPr>
            <p:cNvPr id="209" name="Google Shape;209;p20"/>
            <p:cNvSpPr/>
            <p:nvPr/>
          </p:nvSpPr>
          <p:spPr>
            <a:xfrm>
              <a:off x="5274129" y="3336424"/>
              <a:ext cx="1396200" cy="472200"/>
            </a:xfrm>
            <a:prstGeom prst="roundRect">
              <a:avLst>
                <a:gd fmla="val 16667" name="adj"/>
              </a:avLst>
            </a:prstGeom>
            <a:noFill/>
            <a:ln cap="flat" cmpd="sng" w="8600">
              <a:solidFill>
                <a:srgbClr val="000000"/>
              </a:solidFill>
              <a:prstDash val="solid"/>
              <a:round/>
              <a:headEnd len="sm" w="sm" type="none"/>
              <a:tailEnd len="sm" w="sm" type="none"/>
            </a:ln>
          </p:spPr>
          <p:txBody>
            <a:bodyPr anchorCtr="0" anchor="ctr" bIns="82650" lIns="82650" spcFirstLastPara="1" rIns="82650" wrap="square" tIns="82650">
              <a:noAutofit/>
            </a:bodyPr>
            <a:lstStyle/>
            <a:p>
              <a:pPr indent="0" lvl="0" marL="0" rtl="0" algn="ctr">
                <a:spcBef>
                  <a:spcPts val="0"/>
                </a:spcBef>
                <a:spcAft>
                  <a:spcPts val="0"/>
                </a:spcAft>
                <a:buNone/>
              </a:pPr>
              <a:r>
                <a:rPr lang="en-GB" sz="1265">
                  <a:latin typeface="Open Sans"/>
                  <a:ea typeface="Open Sans"/>
                  <a:cs typeface="Open Sans"/>
                  <a:sym typeface="Open Sans"/>
                </a:rPr>
                <a:t>("sat",3 )</a:t>
              </a:r>
              <a:endParaRPr sz="1265">
                <a:latin typeface="Open Sans"/>
                <a:ea typeface="Open Sans"/>
                <a:cs typeface="Open Sans"/>
                <a:sym typeface="Open Sans"/>
              </a:endParaRPr>
            </a:p>
          </p:txBody>
        </p:sp>
      </p:grpSp>
      <p:cxnSp>
        <p:nvCxnSpPr>
          <p:cNvPr id="210" name="Google Shape;210;p20"/>
          <p:cNvCxnSpPr/>
          <p:nvPr/>
        </p:nvCxnSpPr>
        <p:spPr>
          <a:xfrm>
            <a:off x="955107" y="2160797"/>
            <a:ext cx="742800" cy="1800"/>
          </a:xfrm>
          <a:prstGeom prst="straightConnector1">
            <a:avLst/>
          </a:prstGeom>
          <a:noFill/>
          <a:ln cap="flat" cmpd="sng" w="30875">
            <a:solidFill>
              <a:srgbClr val="000000"/>
            </a:solidFill>
            <a:prstDash val="solid"/>
            <a:round/>
            <a:headEnd len="med" w="med" type="none"/>
            <a:tailEnd len="med" w="med" type="triangle"/>
          </a:ln>
        </p:spPr>
      </p:cxnSp>
      <p:sp>
        <p:nvSpPr>
          <p:cNvPr id="211" name="Google Shape;211;p20"/>
          <p:cNvSpPr/>
          <p:nvPr/>
        </p:nvSpPr>
        <p:spPr>
          <a:xfrm>
            <a:off x="1768274" y="1837125"/>
            <a:ext cx="4113600" cy="584700"/>
          </a:xfrm>
          <a:prstGeom prst="roundRect">
            <a:avLst>
              <a:gd fmla="val 16667" name="adj"/>
            </a:avLst>
          </a:prstGeom>
          <a:noFill/>
          <a:ln cap="flat" cmpd="sng" w="7250">
            <a:solidFill>
              <a:schemeClr val="dk2"/>
            </a:solidFill>
            <a:prstDash val="solid"/>
            <a:round/>
            <a:headEnd len="sm" w="sm" type="none"/>
            <a:tailEnd len="sm" w="sm" type="none"/>
          </a:ln>
        </p:spPr>
        <p:txBody>
          <a:bodyPr anchorCtr="0" anchor="ctr" bIns="69625" lIns="69625" spcFirstLastPara="1" rIns="69625" wrap="square" tIns="69625">
            <a:noAutofit/>
          </a:bodyPr>
          <a:lstStyle/>
          <a:p>
            <a:pPr indent="0" lvl="0" marL="0" rtl="0" algn="ctr">
              <a:spcBef>
                <a:spcPts val="0"/>
              </a:spcBef>
              <a:spcAft>
                <a:spcPts val="0"/>
              </a:spcAft>
              <a:buNone/>
            </a:pPr>
            <a:r>
              <a:t/>
            </a:r>
            <a:endParaRPr sz="1066">
              <a:latin typeface="Open Sans"/>
              <a:ea typeface="Open Sans"/>
              <a:cs typeface="Open Sans"/>
              <a:sym typeface="Open Sans"/>
            </a:endParaRPr>
          </a:p>
        </p:txBody>
      </p:sp>
      <p:sp>
        <p:nvSpPr>
          <p:cNvPr id="212" name="Google Shape;212;p20"/>
          <p:cNvSpPr/>
          <p:nvPr/>
        </p:nvSpPr>
        <p:spPr>
          <a:xfrm>
            <a:off x="1892938" y="1954438"/>
            <a:ext cx="2475900" cy="359700"/>
          </a:xfrm>
          <a:prstGeom prst="roundRect">
            <a:avLst>
              <a:gd fmla="val 16667" name="adj"/>
            </a:avLst>
          </a:prstGeom>
          <a:noFill/>
          <a:ln cap="flat" cmpd="sng" w="7250">
            <a:solidFill>
              <a:srgbClr val="000000"/>
            </a:solidFill>
            <a:prstDash val="solid"/>
            <a:round/>
            <a:headEnd len="sm" w="sm" type="none"/>
            <a:tailEnd len="sm" w="sm" type="none"/>
          </a:ln>
        </p:spPr>
        <p:txBody>
          <a:bodyPr anchorCtr="0" anchor="ctr" bIns="69625" lIns="69625" spcFirstLastPara="1" rIns="69625" wrap="square" tIns="69625">
            <a:noAutofit/>
          </a:bodyPr>
          <a:lstStyle/>
          <a:p>
            <a:pPr indent="0" lvl="0" marL="0" rtl="0" algn="ctr">
              <a:spcBef>
                <a:spcPts val="0"/>
              </a:spcBef>
              <a:spcAft>
                <a:spcPts val="0"/>
              </a:spcAft>
              <a:buNone/>
            </a:pPr>
            <a:r>
              <a:rPr lang="en-GB" sz="1166">
                <a:latin typeface="Open Sans"/>
                <a:ea typeface="Open Sans"/>
                <a:cs typeface="Open Sans"/>
                <a:sym typeface="Open Sans"/>
              </a:rPr>
              <a:t>[("the", 1), ("the", 1), …]</a:t>
            </a:r>
            <a:endParaRPr sz="1166">
              <a:latin typeface="Open Sans"/>
              <a:ea typeface="Open Sans"/>
              <a:cs typeface="Open Sans"/>
              <a:sym typeface="Open Sans"/>
            </a:endParaRPr>
          </a:p>
        </p:txBody>
      </p:sp>
      <p:sp>
        <p:nvSpPr>
          <p:cNvPr id="213" name="Google Shape;213;p20"/>
          <p:cNvSpPr/>
          <p:nvPr/>
        </p:nvSpPr>
        <p:spPr>
          <a:xfrm>
            <a:off x="4412676" y="1939287"/>
            <a:ext cx="1185300" cy="359700"/>
          </a:xfrm>
          <a:prstGeom prst="roundRect">
            <a:avLst>
              <a:gd fmla="val 16667" name="adj"/>
            </a:avLst>
          </a:prstGeom>
          <a:noFill/>
          <a:ln cap="flat" cmpd="sng" w="7250">
            <a:solidFill>
              <a:srgbClr val="000000"/>
            </a:solidFill>
            <a:prstDash val="solid"/>
            <a:round/>
            <a:headEnd len="sm" w="sm" type="none"/>
            <a:tailEnd len="sm" w="sm" type="none"/>
          </a:ln>
        </p:spPr>
        <p:txBody>
          <a:bodyPr anchorCtr="0" anchor="ctr" bIns="69625" lIns="69625" spcFirstLastPara="1" rIns="69625" wrap="square" tIns="69625">
            <a:noAutofit/>
          </a:bodyPr>
          <a:lstStyle/>
          <a:p>
            <a:pPr indent="0" lvl="0" marL="0" rtl="0" algn="ctr">
              <a:spcBef>
                <a:spcPts val="0"/>
              </a:spcBef>
              <a:spcAft>
                <a:spcPts val="0"/>
              </a:spcAft>
              <a:buNone/>
            </a:pPr>
            <a:r>
              <a:rPr lang="en-GB" sz="1166">
                <a:latin typeface="Open Sans"/>
                <a:ea typeface="Open Sans"/>
                <a:cs typeface="Open Sans"/>
                <a:sym typeface="Open Sans"/>
              </a:rPr>
              <a:t>[("cat",1), …]</a:t>
            </a:r>
            <a:endParaRPr sz="1166">
              <a:latin typeface="Open Sans"/>
              <a:ea typeface="Open Sans"/>
              <a:cs typeface="Open Sans"/>
              <a:sym typeface="Open Sans"/>
            </a:endParaRPr>
          </a:p>
        </p:txBody>
      </p:sp>
      <p:sp>
        <p:nvSpPr>
          <p:cNvPr id="214" name="Google Shape;214;p20"/>
          <p:cNvSpPr txBox="1"/>
          <p:nvPr/>
        </p:nvSpPr>
        <p:spPr>
          <a:xfrm>
            <a:off x="950600" y="1764305"/>
            <a:ext cx="822300" cy="319200"/>
          </a:xfrm>
          <a:prstGeom prst="rect">
            <a:avLst/>
          </a:prstGeom>
          <a:noFill/>
          <a:ln>
            <a:noFill/>
          </a:ln>
        </p:spPr>
        <p:txBody>
          <a:bodyPr anchorCtr="0" anchor="t" bIns="74150" lIns="74150" spcFirstLastPara="1" rIns="74150" wrap="square" tIns="74150">
            <a:noAutofit/>
          </a:bodyPr>
          <a:lstStyle/>
          <a:p>
            <a:pPr indent="0" lvl="0" marL="0" rtl="0" algn="l">
              <a:spcBef>
                <a:spcPts val="0"/>
              </a:spcBef>
              <a:spcAft>
                <a:spcPts val="0"/>
              </a:spcAft>
              <a:buNone/>
            </a:pPr>
            <a:r>
              <a:rPr lang="en-GB" sz="1459">
                <a:solidFill>
                  <a:schemeClr val="dk2"/>
                </a:solidFill>
                <a:latin typeface="Open Sans"/>
                <a:ea typeface="Open Sans"/>
                <a:cs typeface="Open Sans"/>
                <a:sym typeface="Open Sans"/>
              </a:rPr>
              <a:t>Shuffle</a:t>
            </a:r>
            <a:endParaRPr sz="1459">
              <a:solidFill>
                <a:schemeClr val="dk2"/>
              </a:solidFill>
              <a:latin typeface="Open Sans"/>
              <a:ea typeface="Open Sans"/>
              <a:cs typeface="Open Sans"/>
              <a:sym typeface="Open Sans"/>
            </a:endParaRPr>
          </a:p>
        </p:txBody>
      </p:sp>
      <p:cxnSp>
        <p:nvCxnSpPr>
          <p:cNvPr id="215" name="Google Shape;215;p20"/>
          <p:cNvCxnSpPr>
            <a:endCxn id="216" idx="1"/>
          </p:cNvCxnSpPr>
          <p:nvPr/>
        </p:nvCxnSpPr>
        <p:spPr>
          <a:xfrm flipH="1" rot="10800000">
            <a:off x="954974" y="2782539"/>
            <a:ext cx="813300" cy="1800"/>
          </a:xfrm>
          <a:prstGeom prst="straightConnector1">
            <a:avLst/>
          </a:prstGeom>
          <a:noFill/>
          <a:ln cap="flat" cmpd="sng" w="30875">
            <a:solidFill>
              <a:srgbClr val="000000"/>
            </a:solidFill>
            <a:prstDash val="solid"/>
            <a:round/>
            <a:headEnd len="med" w="med" type="none"/>
            <a:tailEnd len="med" w="med" type="triangle"/>
          </a:ln>
        </p:spPr>
      </p:cxnSp>
      <p:sp>
        <p:nvSpPr>
          <p:cNvPr id="216" name="Google Shape;216;p20"/>
          <p:cNvSpPr/>
          <p:nvPr/>
        </p:nvSpPr>
        <p:spPr>
          <a:xfrm>
            <a:off x="1768274" y="2490189"/>
            <a:ext cx="4113600" cy="584700"/>
          </a:xfrm>
          <a:prstGeom prst="roundRect">
            <a:avLst>
              <a:gd fmla="val 16667" name="adj"/>
            </a:avLst>
          </a:prstGeom>
          <a:noFill/>
          <a:ln cap="flat" cmpd="sng" w="7250">
            <a:solidFill>
              <a:schemeClr val="dk2"/>
            </a:solidFill>
            <a:prstDash val="solid"/>
            <a:round/>
            <a:headEnd len="sm" w="sm" type="none"/>
            <a:tailEnd len="sm" w="sm" type="none"/>
          </a:ln>
        </p:spPr>
        <p:txBody>
          <a:bodyPr anchorCtr="0" anchor="ctr" bIns="69625" lIns="69625" spcFirstLastPara="1" rIns="69625" wrap="square" tIns="69625">
            <a:noAutofit/>
          </a:bodyPr>
          <a:lstStyle/>
          <a:p>
            <a:pPr indent="0" lvl="0" marL="0" rtl="0" algn="ctr">
              <a:spcBef>
                <a:spcPts val="0"/>
              </a:spcBef>
              <a:spcAft>
                <a:spcPts val="0"/>
              </a:spcAft>
              <a:buNone/>
            </a:pPr>
            <a:r>
              <a:t/>
            </a:r>
            <a:endParaRPr sz="1066">
              <a:latin typeface="Open Sans"/>
              <a:ea typeface="Open Sans"/>
              <a:cs typeface="Open Sans"/>
              <a:sym typeface="Open Sans"/>
            </a:endParaRPr>
          </a:p>
        </p:txBody>
      </p:sp>
      <p:sp>
        <p:nvSpPr>
          <p:cNvPr id="217" name="Google Shape;217;p20"/>
          <p:cNvSpPr/>
          <p:nvPr/>
        </p:nvSpPr>
        <p:spPr>
          <a:xfrm>
            <a:off x="1923631" y="2607505"/>
            <a:ext cx="1185300" cy="359700"/>
          </a:xfrm>
          <a:prstGeom prst="roundRect">
            <a:avLst>
              <a:gd fmla="val 16667" name="adj"/>
            </a:avLst>
          </a:prstGeom>
          <a:noFill/>
          <a:ln cap="flat" cmpd="sng" w="7250">
            <a:solidFill>
              <a:srgbClr val="000000"/>
            </a:solidFill>
            <a:prstDash val="solid"/>
            <a:round/>
            <a:headEnd len="sm" w="sm" type="none"/>
            <a:tailEnd len="sm" w="sm" type="none"/>
          </a:ln>
        </p:spPr>
        <p:txBody>
          <a:bodyPr anchorCtr="0" anchor="ctr" bIns="69625" lIns="69625" spcFirstLastPara="1" rIns="69625" wrap="square" tIns="69625">
            <a:noAutofit/>
          </a:bodyPr>
          <a:lstStyle/>
          <a:p>
            <a:pPr indent="0" lvl="0" marL="0" rtl="0" algn="ctr">
              <a:spcBef>
                <a:spcPts val="0"/>
              </a:spcBef>
              <a:spcAft>
                <a:spcPts val="0"/>
              </a:spcAft>
              <a:buNone/>
            </a:pPr>
            <a:r>
              <a:rPr lang="en-GB" sz="1166">
                <a:latin typeface="Open Sans"/>
                <a:ea typeface="Open Sans"/>
                <a:cs typeface="Open Sans"/>
                <a:sym typeface="Open Sans"/>
              </a:rPr>
              <a:t>[("pig",1), ...]</a:t>
            </a:r>
            <a:endParaRPr sz="1166">
              <a:latin typeface="Open Sans"/>
              <a:ea typeface="Open Sans"/>
              <a:cs typeface="Open Sans"/>
              <a:sym typeface="Open Sans"/>
            </a:endParaRPr>
          </a:p>
        </p:txBody>
      </p:sp>
      <p:sp>
        <p:nvSpPr>
          <p:cNvPr id="218" name="Google Shape;218;p20"/>
          <p:cNvSpPr/>
          <p:nvPr/>
        </p:nvSpPr>
        <p:spPr>
          <a:xfrm>
            <a:off x="3183519" y="2592334"/>
            <a:ext cx="1185300" cy="359700"/>
          </a:xfrm>
          <a:prstGeom prst="roundRect">
            <a:avLst>
              <a:gd fmla="val 16667" name="adj"/>
            </a:avLst>
          </a:prstGeom>
          <a:noFill/>
          <a:ln cap="flat" cmpd="sng" w="7250">
            <a:solidFill>
              <a:srgbClr val="000000"/>
            </a:solidFill>
            <a:prstDash val="solid"/>
            <a:round/>
            <a:headEnd len="sm" w="sm" type="none"/>
            <a:tailEnd len="sm" w="sm" type="none"/>
          </a:ln>
        </p:spPr>
        <p:txBody>
          <a:bodyPr anchorCtr="0" anchor="ctr" bIns="69625" lIns="69625" spcFirstLastPara="1" rIns="69625" wrap="square" tIns="69625">
            <a:noAutofit/>
          </a:bodyPr>
          <a:lstStyle/>
          <a:p>
            <a:pPr indent="0" lvl="0" marL="0" rtl="0" algn="ctr">
              <a:spcBef>
                <a:spcPts val="0"/>
              </a:spcBef>
              <a:spcAft>
                <a:spcPts val="0"/>
              </a:spcAft>
              <a:buNone/>
            </a:pPr>
            <a:r>
              <a:rPr lang="en-GB" sz="1166">
                <a:latin typeface="Open Sans"/>
                <a:ea typeface="Open Sans"/>
                <a:cs typeface="Open Sans"/>
                <a:sym typeface="Open Sans"/>
              </a:rPr>
              <a:t>[("cat",1), …]</a:t>
            </a:r>
            <a:endParaRPr sz="1166">
              <a:latin typeface="Open Sans"/>
              <a:ea typeface="Open Sans"/>
              <a:cs typeface="Open Sans"/>
              <a:sym typeface="Open Sans"/>
            </a:endParaRPr>
          </a:p>
        </p:txBody>
      </p:sp>
      <p:sp>
        <p:nvSpPr>
          <p:cNvPr id="219" name="Google Shape;219;p20"/>
          <p:cNvSpPr/>
          <p:nvPr/>
        </p:nvSpPr>
        <p:spPr>
          <a:xfrm>
            <a:off x="4443394" y="2592348"/>
            <a:ext cx="1185300" cy="359700"/>
          </a:xfrm>
          <a:prstGeom prst="roundRect">
            <a:avLst>
              <a:gd fmla="val 16667" name="adj"/>
            </a:avLst>
          </a:prstGeom>
          <a:noFill/>
          <a:ln cap="flat" cmpd="sng" w="7250">
            <a:solidFill>
              <a:srgbClr val="000000"/>
            </a:solidFill>
            <a:prstDash val="solid"/>
            <a:round/>
            <a:headEnd len="sm" w="sm" type="none"/>
            <a:tailEnd len="sm" w="sm" type="none"/>
          </a:ln>
        </p:spPr>
        <p:txBody>
          <a:bodyPr anchorCtr="0" anchor="ctr" bIns="69625" lIns="69625" spcFirstLastPara="1" rIns="69625" wrap="square" tIns="69625">
            <a:noAutofit/>
          </a:bodyPr>
          <a:lstStyle/>
          <a:p>
            <a:pPr indent="0" lvl="0" marL="0" rtl="0" algn="ctr">
              <a:spcBef>
                <a:spcPts val="0"/>
              </a:spcBef>
              <a:spcAft>
                <a:spcPts val="0"/>
              </a:spcAft>
              <a:buNone/>
            </a:pPr>
            <a:r>
              <a:rPr lang="en-GB" sz="1266">
                <a:latin typeface="Open Sans"/>
                <a:ea typeface="Open Sans"/>
                <a:cs typeface="Open Sans"/>
                <a:sym typeface="Open Sans"/>
              </a:rPr>
              <a:t>[("sat",1), …]</a:t>
            </a:r>
            <a:endParaRPr sz="1266">
              <a:latin typeface="Open Sans"/>
              <a:ea typeface="Open Sans"/>
              <a:cs typeface="Open Sans"/>
              <a:sym typeface="Open Sans"/>
            </a:endParaRPr>
          </a:p>
        </p:txBody>
      </p:sp>
      <p:sp>
        <p:nvSpPr>
          <p:cNvPr id="220" name="Google Shape;220;p20"/>
          <p:cNvSpPr txBox="1"/>
          <p:nvPr/>
        </p:nvSpPr>
        <p:spPr>
          <a:xfrm>
            <a:off x="937497" y="2355490"/>
            <a:ext cx="822300" cy="319200"/>
          </a:xfrm>
          <a:prstGeom prst="rect">
            <a:avLst/>
          </a:prstGeom>
          <a:noFill/>
          <a:ln>
            <a:noFill/>
          </a:ln>
        </p:spPr>
        <p:txBody>
          <a:bodyPr anchorCtr="0" anchor="t" bIns="74150" lIns="74150" spcFirstLastPara="1" rIns="74150" wrap="square" tIns="74150">
            <a:noAutofit/>
          </a:bodyPr>
          <a:lstStyle/>
          <a:p>
            <a:pPr indent="0" lvl="0" marL="0" rtl="0" algn="l">
              <a:spcBef>
                <a:spcPts val="0"/>
              </a:spcBef>
              <a:spcAft>
                <a:spcPts val="0"/>
              </a:spcAft>
              <a:buNone/>
            </a:pPr>
            <a:r>
              <a:rPr lang="en-GB" sz="1459">
                <a:solidFill>
                  <a:schemeClr val="dk2"/>
                </a:solidFill>
                <a:latin typeface="Open Sans"/>
                <a:ea typeface="Open Sans"/>
                <a:cs typeface="Open Sans"/>
                <a:sym typeface="Open Sans"/>
              </a:rPr>
              <a:t>Shuffle</a:t>
            </a:r>
            <a:endParaRPr sz="1459">
              <a:solidFill>
                <a:schemeClr val="dk2"/>
              </a:solidFill>
              <a:latin typeface="Open Sans"/>
              <a:ea typeface="Open Sans"/>
              <a:cs typeface="Open Sans"/>
              <a:sym typeface="Open Sans"/>
            </a:endParaRPr>
          </a:p>
        </p:txBody>
      </p:sp>
      <p:cxnSp>
        <p:nvCxnSpPr>
          <p:cNvPr id="221" name="Google Shape;221;p20"/>
          <p:cNvCxnSpPr>
            <a:endCxn id="222" idx="1"/>
          </p:cNvCxnSpPr>
          <p:nvPr/>
        </p:nvCxnSpPr>
        <p:spPr>
          <a:xfrm>
            <a:off x="948674" y="3457026"/>
            <a:ext cx="819600" cy="7500"/>
          </a:xfrm>
          <a:prstGeom prst="straightConnector1">
            <a:avLst/>
          </a:prstGeom>
          <a:noFill/>
          <a:ln cap="flat" cmpd="sng" w="30875">
            <a:solidFill>
              <a:srgbClr val="000000"/>
            </a:solidFill>
            <a:prstDash val="solid"/>
            <a:round/>
            <a:headEnd len="med" w="med" type="none"/>
            <a:tailEnd len="med" w="med" type="triangle"/>
          </a:ln>
        </p:spPr>
      </p:cxnSp>
      <p:sp>
        <p:nvSpPr>
          <p:cNvPr id="223" name="Google Shape;223;p20"/>
          <p:cNvSpPr/>
          <p:nvPr/>
        </p:nvSpPr>
        <p:spPr>
          <a:xfrm>
            <a:off x="1923612" y="3292063"/>
            <a:ext cx="3705000" cy="359700"/>
          </a:xfrm>
          <a:prstGeom prst="roundRect">
            <a:avLst>
              <a:gd fmla="val 16667" name="adj"/>
            </a:avLst>
          </a:prstGeom>
          <a:noFill/>
          <a:ln cap="flat" cmpd="sng" w="7250">
            <a:solidFill>
              <a:srgbClr val="000000"/>
            </a:solidFill>
            <a:prstDash val="solid"/>
            <a:round/>
            <a:headEnd len="sm" w="sm" type="none"/>
            <a:tailEnd len="sm" w="sm" type="none"/>
          </a:ln>
        </p:spPr>
        <p:txBody>
          <a:bodyPr anchorCtr="0" anchor="ctr" bIns="69625" lIns="69625" spcFirstLastPara="1" rIns="69625" wrap="square" tIns="69625">
            <a:noAutofit/>
          </a:bodyPr>
          <a:lstStyle/>
          <a:p>
            <a:pPr indent="0" lvl="0" marL="0" rtl="0" algn="ctr">
              <a:spcBef>
                <a:spcPts val="0"/>
              </a:spcBef>
              <a:spcAft>
                <a:spcPts val="0"/>
              </a:spcAft>
              <a:buNone/>
            </a:pPr>
            <a:r>
              <a:rPr lang="en-GB" sz="1166">
                <a:latin typeface="Open Sans"/>
                <a:ea typeface="Open Sans"/>
                <a:cs typeface="Open Sans"/>
                <a:sym typeface="Open Sans"/>
              </a:rPr>
              <a:t>[("the", 1), ("the", 1), ("the", 1), …]</a:t>
            </a:r>
            <a:endParaRPr sz="1066">
              <a:latin typeface="Open Sans"/>
              <a:ea typeface="Open Sans"/>
              <a:cs typeface="Open Sans"/>
              <a:sym typeface="Open Sans"/>
            </a:endParaRPr>
          </a:p>
        </p:txBody>
      </p:sp>
      <p:sp>
        <p:nvSpPr>
          <p:cNvPr id="224" name="Google Shape;224;p20"/>
          <p:cNvSpPr txBox="1"/>
          <p:nvPr/>
        </p:nvSpPr>
        <p:spPr>
          <a:xfrm>
            <a:off x="937497" y="3101503"/>
            <a:ext cx="822300" cy="319200"/>
          </a:xfrm>
          <a:prstGeom prst="rect">
            <a:avLst/>
          </a:prstGeom>
          <a:noFill/>
          <a:ln>
            <a:noFill/>
          </a:ln>
        </p:spPr>
        <p:txBody>
          <a:bodyPr anchorCtr="0" anchor="t" bIns="74150" lIns="74150" spcFirstLastPara="1" rIns="74150" wrap="square" tIns="74150">
            <a:noAutofit/>
          </a:bodyPr>
          <a:lstStyle/>
          <a:p>
            <a:pPr indent="0" lvl="0" marL="0" rtl="0" algn="l">
              <a:spcBef>
                <a:spcPts val="0"/>
              </a:spcBef>
              <a:spcAft>
                <a:spcPts val="0"/>
              </a:spcAft>
              <a:buNone/>
            </a:pPr>
            <a:r>
              <a:rPr lang="en-GB" sz="1459">
                <a:solidFill>
                  <a:schemeClr val="dk2"/>
                </a:solidFill>
                <a:latin typeface="Open Sans"/>
                <a:ea typeface="Open Sans"/>
                <a:cs typeface="Open Sans"/>
                <a:sym typeface="Open Sans"/>
              </a:rPr>
              <a:t>Shuffle</a:t>
            </a:r>
            <a:endParaRPr sz="1459">
              <a:solidFill>
                <a:schemeClr val="dk2"/>
              </a:solidFill>
              <a:latin typeface="Open Sans"/>
              <a:ea typeface="Open Sans"/>
              <a:cs typeface="Open Sans"/>
              <a:sym typeface="Open Sans"/>
            </a:endParaRPr>
          </a:p>
        </p:txBody>
      </p:sp>
      <p:sp>
        <p:nvSpPr>
          <p:cNvPr id="222" name="Google Shape;222;p20"/>
          <p:cNvSpPr/>
          <p:nvPr/>
        </p:nvSpPr>
        <p:spPr>
          <a:xfrm>
            <a:off x="1768274" y="3172176"/>
            <a:ext cx="4113600" cy="584700"/>
          </a:xfrm>
          <a:prstGeom prst="roundRect">
            <a:avLst>
              <a:gd fmla="val 16667" name="adj"/>
            </a:avLst>
          </a:prstGeom>
          <a:noFill/>
          <a:ln cap="flat" cmpd="sng" w="7250">
            <a:solidFill>
              <a:schemeClr val="dk2"/>
            </a:solidFill>
            <a:prstDash val="solid"/>
            <a:round/>
            <a:headEnd len="sm" w="sm" type="none"/>
            <a:tailEnd len="sm" w="sm" type="none"/>
          </a:ln>
        </p:spPr>
        <p:txBody>
          <a:bodyPr anchorCtr="0" anchor="ctr" bIns="69625" lIns="69625" spcFirstLastPara="1" rIns="69625" wrap="square" tIns="69625">
            <a:noAutofit/>
          </a:bodyPr>
          <a:lstStyle/>
          <a:p>
            <a:pPr indent="0" lvl="0" marL="0" rtl="0" algn="ctr">
              <a:spcBef>
                <a:spcPts val="0"/>
              </a:spcBef>
              <a:spcAft>
                <a:spcPts val="0"/>
              </a:spcAft>
              <a:buNone/>
            </a:pPr>
            <a:r>
              <a:t/>
            </a:r>
            <a:endParaRPr sz="1166">
              <a:latin typeface="Open Sans"/>
              <a:ea typeface="Open Sans"/>
              <a:cs typeface="Open Sans"/>
              <a:sym typeface="Open Sans"/>
            </a:endParaRPr>
          </a:p>
        </p:txBody>
      </p:sp>
      <p:sp>
        <p:nvSpPr>
          <p:cNvPr id="225" name="Google Shape;225;p20"/>
          <p:cNvSpPr/>
          <p:nvPr/>
        </p:nvSpPr>
        <p:spPr>
          <a:xfrm>
            <a:off x="6899096" y="3292084"/>
            <a:ext cx="1262400" cy="394500"/>
          </a:xfrm>
          <a:prstGeom prst="roundRect">
            <a:avLst>
              <a:gd fmla="val 16667" name="adj"/>
            </a:avLst>
          </a:prstGeom>
          <a:noFill/>
          <a:ln cap="flat" cmpd="sng" w="7725">
            <a:solidFill>
              <a:srgbClr val="000000"/>
            </a:solidFill>
            <a:prstDash val="solid"/>
            <a:round/>
            <a:headEnd len="sm" w="sm" type="none"/>
            <a:tailEnd len="sm" w="sm" type="none"/>
          </a:ln>
        </p:spPr>
        <p:txBody>
          <a:bodyPr anchorCtr="0" anchor="ctr" bIns="74150" lIns="74150" spcFirstLastPara="1" rIns="74150" wrap="square" tIns="74150">
            <a:noAutofit/>
          </a:bodyPr>
          <a:lstStyle/>
          <a:p>
            <a:pPr indent="0" lvl="0" marL="0" rtl="0" algn="ctr">
              <a:spcBef>
                <a:spcPts val="0"/>
              </a:spcBef>
              <a:spcAft>
                <a:spcPts val="0"/>
              </a:spcAft>
              <a:buNone/>
            </a:pPr>
            <a:r>
              <a:rPr lang="en-GB" sz="1135">
                <a:latin typeface="Open Sans"/>
                <a:ea typeface="Open Sans"/>
                <a:cs typeface="Open Sans"/>
                <a:sym typeface="Open Sans"/>
              </a:rPr>
              <a:t>…</a:t>
            </a:r>
            <a:endParaRPr sz="1135">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1"/>
          <p:cNvSpPr txBox="1"/>
          <p:nvPr>
            <p:ph type="title"/>
          </p:nvPr>
        </p:nvSpPr>
        <p:spPr>
          <a:xfrm>
            <a:off x="311700" y="22647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Proposed solution- Cuda</a:t>
            </a:r>
            <a:endParaRPr/>
          </a:p>
        </p:txBody>
      </p:sp>
      <p:sp>
        <p:nvSpPr>
          <p:cNvPr id="231" name="Google Shape;231;p21"/>
          <p:cNvSpPr txBox="1"/>
          <p:nvPr/>
        </p:nvSpPr>
        <p:spPr>
          <a:xfrm>
            <a:off x="8696101" y="4644218"/>
            <a:ext cx="447900" cy="393000"/>
          </a:xfrm>
          <a:prstGeom prst="rect">
            <a:avLst/>
          </a:prstGeom>
          <a:noFill/>
          <a:ln>
            <a:noFill/>
          </a:ln>
        </p:spPr>
        <p:txBody>
          <a:bodyPr anchorCtr="0" anchor="ctr" bIns="74625" lIns="74625" spcFirstLastPara="1" rIns="74625" wrap="square" tIns="74625">
            <a:normAutofit/>
          </a:bodyPr>
          <a:lstStyle/>
          <a:p>
            <a:pPr indent="0" lvl="0" marL="0" rtl="0" algn="r">
              <a:spcBef>
                <a:spcPts val="0"/>
              </a:spcBef>
              <a:spcAft>
                <a:spcPts val="0"/>
              </a:spcAft>
              <a:buNone/>
            </a:pPr>
            <a:fld id="{00000000-1234-1234-1234-123412341234}" type="slidenum">
              <a:rPr lang="en-GB" sz="816">
                <a:solidFill>
                  <a:srgbClr val="695D46"/>
                </a:solidFill>
                <a:latin typeface="Open Sans"/>
                <a:ea typeface="Open Sans"/>
                <a:cs typeface="Open Sans"/>
                <a:sym typeface="Open Sans"/>
              </a:rPr>
              <a:t>‹#›</a:t>
            </a:fld>
            <a:endParaRPr sz="816">
              <a:solidFill>
                <a:srgbClr val="695D46"/>
              </a:solidFill>
              <a:latin typeface="Open Sans"/>
              <a:ea typeface="Open Sans"/>
              <a:cs typeface="Open Sans"/>
              <a:sym typeface="Open Sans"/>
            </a:endParaRPr>
          </a:p>
        </p:txBody>
      </p:sp>
      <p:sp>
        <p:nvSpPr>
          <p:cNvPr id="232" name="Google Shape;232;p21"/>
          <p:cNvSpPr/>
          <p:nvPr/>
        </p:nvSpPr>
        <p:spPr>
          <a:xfrm>
            <a:off x="1475313" y="855475"/>
            <a:ext cx="2917200" cy="4097700"/>
          </a:xfrm>
          <a:prstGeom prst="roundRect">
            <a:avLst>
              <a:gd fmla="val 7984" name="adj"/>
            </a:avLst>
          </a:prstGeom>
          <a:solidFill>
            <a:srgbClr val="F3F3F3"/>
          </a:solidFill>
          <a:ln cap="flat" cmpd="sng" w="7775">
            <a:solidFill>
              <a:srgbClr val="695D46"/>
            </a:solidFill>
            <a:prstDash val="dash"/>
            <a:round/>
            <a:headEnd len="sm" w="sm" type="none"/>
            <a:tailEnd len="sm" w="sm" type="none"/>
          </a:ln>
        </p:spPr>
        <p:txBody>
          <a:bodyPr anchorCtr="0" anchor="ctr" bIns="74625" lIns="74625" spcFirstLastPara="1" rIns="74625" wrap="square" tIns="74625">
            <a:noAutofit/>
          </a:bodyPr>
          <a:lstStyle/>
          <a:p>
            <a:pPr indent="0" lvl="0" marL="0" rtl="0" algn="ctr">
              <a:spcBef>
                <a:spcPts val="0"/>
              </a:spcBef>
              <a:spcAft>
                <a:spcPts val="0"/>
              </a:spcAft>
              <a:buNone/>
            </a:pPr>
            <a:r>
              <a:t/>
            </a:r>
            <a:endParaRPr sz="1142">
              <a:latin typeface="Open Sans"/>
              <a:ea typeface="Open Sans"/>
              <a:cs typeface="Open Sans"/>
              <a:sym typeface="Open Sans"/>
            </a:endParaRPr>
          </a:p>
        </p:txBody>
      </p:sp>
      <p:sp>
        <p:nvSpPr>
          <p:cNvPr id="233" name="Google Shape;233;p21"/>
          <p:cNvSpPr/>
          <p:nvPr/>
        </p:nvSpPr>
        <p:spPr>
          <a:xfrm>
            <a:off x="4600888" y="855475"/>
            <a:ext cx="2917200" cy="4097700"/>
          </a:xfrm>
          <a:prstGeom prst="roundRect">
            <a:avLst>
              <a:gd fmla="val 5607" name="adj"/>
            </a:avLst>
          </a:prstGeom>
          <a:solidFill>
            <a:srgbClr val="F3F3F3"/>
          </a:solidFill>
          <a:ln cap="flat" cmpd="sng" w="7775">
            <a:solidFill>
              <a:srgbClr val="695D46"/>
            </a:solidFill>
            <a:prstDash val="solid"/>
            <a:round/>
            <a:headEnd len="sm" w="sm" type="none"/>
            <a:tailEnd len="sm" w="sm" type="none"/>
          </a:ln>
        </p:spPr>
        <p:txBody>
          <a:bodyPr anchorCtr="0" anchor="ctr" bIns="74625" lIns="74625" spcFirstLastPara="1" rIns="74625" wrap="square" tIns="74625">
            <a:noAutofit/>
          </a:bodyPr>
          <a:lstStyle/>
          <a:p>
            <a:pPr indent="0" lvl="0" marL="0" rtl="0" algn="ctr">
              <a:spcBef>
                <a:spcPts val="0"/>
              </a:spcBef>
              <a:spcAft>
                <a:spcPts val="0"/>
              </a:spcAft>
              <a:buNone/>
            </a:pPr>
            <a:r>
              <a:t/>
            </a:r>
            <a:endParaRPr sz="1142">
              <a:latin typeface="Open Sans"/>
              <a:ea typeface="Open Sans"/>
              <a:cs typeface="Open Sans"/>
              <a:sym typeface="Open Sans"/>
            </a:endParaRPr>
          </a:p>
        </p:txBody>
      </p:sp>
      <p:sp>
        <p:nvSpPr>
          <p:cNvPr id="234" name="Google Shape;234;p21"/>
          <p:cNvSpPr txBox="1"/>
          <p:nvPr/>
        </p:nvSpPr>
        <p:spPr>
          <a:xfrm>
            <a:off x="2495997" y="855477"/>
            <a:ext cx="658800" cy="376800"/>
          </a:xfrm>
          <a:prstGeom prst="rect">
            <a:avLst/>
          </a:prstGeom>
          <a:noFill/>
          <a:ln>
            <a:noFill/>
          </a:ln>
        </p:spPr>
        <p:txBody>
          <a:bodyPr anchorCtr="0" anchor="t" bIns="74625" lIns="74625" spcFirstLastPara="1" rIns="74625" wrap="square" tIns="74625">
            <a:spAutoFit/>
          </a:bodyPr>
          <a:lstStyle/>
          <a:p>
            <a:pPr indent="0" lvl="0" marL="0" rtl="0" algn="l">
              <a:spcBef>
                <a:spcPts val="0"/>
              </a:spcBef>
              <a:spcAft>
                <a:spcPts val="0"/>
              </a:spcAft>
              <a:buNone/>
            </a:pPr>
            <a:r>
              <a:rPr lang="en-GB" sz="1469">
                <a:solidFill>
                  <a:srgbClr val="695D46"/>
                </a:solidFill>
                <a:latin typeface="Open Sans"/>
                <a:ea typeface="Open Sans"/>
                <a:cs typeface="Open Sans"/>
                <a:sym typeface="Open Sans"/>
              </a:rPr>
              <a:t>CPU</a:t>
            </a:r>
            <a:endParaRPr sz="1469">
              <a:solidFill>
                <a:srgbClr val="695D46"/>
              </a:solidFill>
              <a:latin typeface="Open Sans"/>
              <a:ea typeface="Open Sans"/>
              <a:cs typeface="Open Sans"/>
              <a:sym typeface="Open Sans"/>
            </a:endParaRPr>
          </a:p>
        </p:txBody>
      </p:sp>
      <p:sp>
        <p:nvSpPr>
          <p:cNvPr id="235" name="Google Shape;235;p21"/>
          <p:cNvSpPr txBox="1"/>
          <p:nvPr/>
        </p:nvSpPr>
        <p:spPr>
          <a:xfrm>
            <a:off x="5812751" y="855477"/>
            <a:ext cx="658800" cy="376800"/>
          </a:xfrm>
          <a:prstGeom prst="rect">
            <a:avLst/>
          </a:prstGeom>
          <a:noFill/>
          <a:ln>
            <a:noFill/>
          </a:ln>
        </p:spPr>
        <p:txBody>
          <a:bodyPr anchorCtr="0" anchor="t" bIns="74625" lIns="74625" spcFirstLastPara="1" rIns="74625" wrap="square" tIns="74625">
            <a:spAutoFit/>
          </a:bodyPr>
          <a:lstStyle/>
          <a:p>
            <a:pPr indent="0" lvl="0" marL="0" rtl="0" algn="l">
              <a:spcBef>
                <a:spcPts val="0"/>
              </a:spcBef>
              <a:spcAft>
                <a:spcPts val="0"/>
              </a:spcAft>
              <a:buNone/>
            </a:pPr>
            <a:r>
              <a:rPr lang="en-GB" sz="1469">
                <a:solidFill>
                  <a:srgbClr val="695D46"/>
                </a:solidFill>
                <a:latin typeface="Open Sans"/>
                <a:ea typeface="Open Sans"/>
                <a:cs typeface="Open Sans"/>
                <a:sym typeface="Open Sans"/>
              </a:rPr>
              <a:t>GPU</a:t>
            </a:r>
            <a:endParaRPr sz="1469">
              <a:solidFill>
                <a:srgbClr val="695D46"/>
              </a:solidFill>
              <a:latin typeface="Open Sans"/>
              <a:ea typeface="Open Sans"/>
              <a:cs typeface="Open Sans"/>
              <a:sym typeface="Open Sans"/>
            </a:endParaRPr>
          </a:p>
        </p:txBody>
      </p:sp>
      <p:cxnSp>
        <p:nvCxnSpPr>
          <p:cNvPr id="236" name="Google Shape;236;p21"/>
          <p:cNvCxnSpPr/>
          <p:nvPr/>
        </p:nvCxnSpPr>
        <p:spPr>
          <a:xfrm>
            <a:off x="1193000" y="2522726"/>
            <a:ext cx="7166400" cy="0"/>
          </a:xfrm>
          <a:prstGeom prst="straightConnector1">
            <a:avLst/>
          </a:prstGeom>
          <a:noFill/>
          <a:ln cap="flat" cmpd="sng" w="7775">
            <a:solidFill>
              <a:srgbClr val="695D46"/>
            </a:solidFill>
            <a:prstDash val="dash"/>
            <a:round/>
            <a:headEnd len="med" w="med" type="none"/>
            <a:tailEnd len="med" w="med" type="none"/>
          </a:ln>
        </p:spPr>
      </p:cxnSp>
      <p:cxnSp>
        <p:nvCxnSpPr>
          <p:cNvPr id="237" name="Google Shape;237;p21"/>
          <p:cNvCxnSpPr/>
          <p:nvPr/>
        </p:nvCxnSpPr>
        <p:spPr>
          <a:xfrm>
            <a:off x="1178450" y="3953942"/>
            <a:ext cx="7195500" cy="16200"/>
          </a:xfrm>
          <a:prstGeom prst="straightConnector1">
            <a:avLst/>
          </a:prstGeom>
          <a:noFill/>
          <a:ln cap="flat" cmpd="sng" w="7775">
            <a:solidFill>
              <a:srgbClr val="695D46"/>
            </a:solidFill>
            <a:prstDash val="dash"/>
            <a:round/>
            <a:headEnd len="med" w="med" type="none"/>
            <a:tailEnd len="med" w="med" type="none"/>
          </a:ln>
        </p:spPr>
      </p:cxnSp>
      <p:sp>
        <p:nvSpPr>
          <p:cNvPr id="238" name="Google Shape;238;p21"/>
          <p:cNvSpPr txBox="1"/>
          <p:nvPr/>
        </p:nvSpPr>
        <p:spPr>
          <a:xfrm>
            <a:off x="7541237" y="1441559"/>
            <a:ext cx="658800" cy="376800"/>
          </a:xfrm>
          <a:prstGeom prst="rect">
            <a:avLst/>
          </a:prstGeom>
          <a:noFill/>
          <a:ln>
            <a:noFill/>
          </a:ln>
        </p:spPr>
        <p:txBody>
          <a:bodyPr anchorCtr="0" anchor="t" bIns="74625" lIns="74625" spcFirstLastPara="1" rIns="74625" wrap="square" tIns="74625">
            <a:spAutoFit/>
          </a:bodyPr>
          <a:lstStyle/>
          <a:p>
            <a:pPr indent="0" lvl="0" marL="0" rtl="0" algn="l">
              <a:spcBef>
                <a:spcPts val="0"/>
              </a:spcBef>
              <a:spcAft>
                <a:spcPts val="0"/>
              </a:spcAft>
              <a:buNone/>
            </a:pPr>
            <a:r>
              <a:rPr lang="en-GB" sz="1469">
                <a:solidFill>
                  <a:srgbClr val="695D46"/>
                </a:solidFill>
                <a:latin typeface="Open Sans"/>
                <a:ea typeface="Open Sans"/>
                <a:cs typeface="Open Sans"/>
                <a:sym typeface="Open Sans"/>
              </a:rPr>
              <a:t>map</a:t>
            </a:r>
            <a:endParaRPr sz="1469">
              <a:solidFill>
                <a:srgbClr val="695D46"/>
              </a:solidFill>
              <a:latin typeface="Open Sans"/>
              <a:ea typeface="Open Sans"/>
              <a:cs typeface="Open Sans"/>
              <a:sym typeface="Open Sans"/>
            </a:endParaRPr>
          </a:p>
        </p:txBody>
      </p:sp>
      <p:sp>
        <p:nvSpPr>
          <p:cNvPr id="239" name="Google Shape;239;p21"/>
          <p:cNvSpPr txBox="1"/>
          <p:nvPr/>
        </p:nvSpPr>
        <p:spPr>
          <a:xfrm>
            <a:off x="7541237" y="2979547"/>
            <a:ext cx="759000" cy="376800"/>
          </a:xfrm>
          <a:prstGeom prst="rect">
            <a:avLst/>
          </a:prstGeom>
          <a:noFill/>
          <a:ln>
            <a:noFill/>
          </a:ln>
        </p:spPr>
        <p:txBody>
          <a:bodyPr anchorCtr="0" anchor="t" bIns="74625" lIns="74625" spcFirstLastPara="1" rIns="74625" wrap="square" tIns="74625">
            <a:spAutoFit/>
          </a:bodyPr>
          <a:lstStyle/>
          <a:p>
            <a:pPr indent="0" lvl="0" marL="0" rtl="0" algn="l">
              <a:spcBef>
                <a:spcPts val="0"/>
              </a:spcBef>
              <a:spcAft>
                <a:spcPts val="0"/>
              </a:spcAft>
              <a:buNone/>
            </a:pPr>
            <a:r>
              <a:rPr lang="en-GB" sz="1469">
                <a:solidFill>
                  <a:srgbClr val="695D46"/>
                </a:solidFill>
                <a:latin typeface="Open Sans"/>
                <a:ea typeface="Open Sans"/>
                <a:cs typeface="Open Sans"/>
                <a:sym typeface="Open Sans"/>
              </a:rPr>
              <a:t>shuffle</a:t>
            </a:r>
            <a:endParaRPr sz="1469">
              <a:solidFill>
                <a:srgbClr val="695D46"/>
              </a:solidFill>
              <a:latin typeface="Open Sans"/>
              <a:ea typeface="Open Sans"/>
              <a:cs typeface="Open Sans"/>
              <a:sym typeface="Open Sans"/>
            </a:endParaRPr>
          </a:p>
        </p:txBody>
      </p:sp>
      <p:sp>
        <p:nvSpPr>
          <p:cNvPr id="240" name="Google Shape;240;p21"/>
          <p:cNvSpPr txBox="1"/>
          <p:nvPr/>
        </p:nvSpPr>
        <p:spPr>
          <a:xfrm>
            <a:off x="7541237" y="4071988"/>
            <a:ext cx="759000" cy="376800"/>
          </a:xfrm>
          <a:prstGeom prst="rect">
            <a:avLst/>
          </a:prstGeom>
          <a:noFill/>
          <a:ln>
            <a:noFill/>
          </a:ln>
        </p:spPr>
        <p:txBody>
          <a:bodyPr anchorCtr="0" anchor="t" bIns="74625" lIns="74625" spcFirstLastPara="1" rIns="74625" wrap="square" tIns="74625">
            <a:spAutoFit/>
          </a:bodyPr>
          <a:lstStyle/>
          <a:p>
            <a:pPr indent="0" lvl="0" marL="0" rtl="0" algn="l">
              <a:spcBef>
                <a:spcPts val="0"/>
              </a:spcBef>
              <a:spcAft>
                <a:spcPts val="0"/>
              </a:spcAft>
              <a:buNone/>
            </a:pPr>
            <a:r>
              <a:rPr lang="en-GB" sz="1469">
                <a:solidFill>
                  <a:srgbClr val="695D46"/>
                </a:solidFill>
                <a:latin typeface="Open Sans"/>
                <a:ea typeface="Open Sans"/>
                <a:cs typeface="Open Sans"/>
                <a:sym typeface="Open Sans"/>
              </a:rPr>
              <a:t>reduce</a:t>
            </a:r>
            <a:endParaRPr sz="1469">
              <a:solidFill>
                <a:srgbClr val="695D46"/>
              </a:solidFill>
              <a:latin typeface="Open Sans"/>
              <a:ea typeface="Open Sans"/>
              <a:cs typeface="Open Sans"/>
              <a:sym typeface="Open Sans"/>
            </a:endParaRPr>
          </a:p>
        </p:txBody>
      </p:sp>
      <p:grpSp>
        <p:nvGrpSpPr>
          <p:cNvPr id="241" name="Google Shape;241;p21"/>
          <p:cNvGrpSpPr/>
          <p:nvPr/>
        </p:nvGrpSpPr>
        <p:grpSpPr>
          <a:xfrm>
            <a:off x="4915750" y="2113601"/>
            <a:ext cx="2452800" cy="359086"/>
            <a:chOff x="4915750" y="1389300"/>
            <a:chExt cx="2452800" cy="583500"/>
          </a:xfrm>
        </p:grpSpPr>
        <p:sp>
          <p:nvSpPr>
            <p:cNvPr id="242" name="Google Shape;242;p21"/>
            <p:cNvSpPr/>
            <p:nvPr/>
          </p:nvSpPr>
          <p:spPr>
            <a:xfrm>
              <a:off x="4915750" y="1389300"/>
              <a:ext cx="2452800" cy="583500"/>
            </a:xfrm>
            <a:prstGeom prst="roundRect">
              <a:avLst>
                <a:gd fmla="val 16667" name="adj"/>
              </a:avLst>
            </a:prstGeom>
            <a:solidFill>
              <a:srgbClr val="6AA84F"/>
            </a:solidFill>
            <a:ln cap="flat" cmpd="sng" w="5925">
              <a:solidFill>
                <a:srgbClr val="695D46"/>
              </a:solidFill>
              <a:prstDash val="solid"/>
              <a:round/>
              <a:headEnd len="sm" w="sm" type="none"/>
              <a:tailEnd len="sm" w="sm" type="none"/>
            </a:ln>
          </p:spPr>
          <p:txBody>
            <a:bodyPr anchorCtr="0" anchor="ctr" bIns="56825" lIns="56825" spcFirstLastPara="1" rIns="56825" wrap="square" tIns="56825">
              <a:noAutofit/>
            </a:bodyPr>
            <a:lstStyle/>
            <a:p>
              <a:pPr indent="0" lvl="0" marL="0" rtl="0" algn="l">
                <a:spcBef>
                  <a:spcPts val="0"/>
                </a:spcBef>
                <a:spcAft>
                  <a:spcPts val="0"/>
                </a:spcAft>
                <a:buNone/>
              </a:pPr>
              <a:r>
                <a:t/>
              </a:r>
              <a:endParaRPr sz="870">
                <a:latin typeface="Open Sans"/>
                <a:ea typeface="Open Sans"/>
                <a:cs typeface="Open Sans"/>
                <a:sym typeface="Open Sans"/>
              </a:endParaRPr>
            </a:p>
          </p:txBody>
        </p:sp>
        <p:grpSp>
          <p:nvGrpSpPr>
            <p:cNvPr id="243" name="Google Shape;243;p21"/>
            <p:cNvGrpSpPr/>
            <p:nvPr/>
          </p:nvGrpSpPr>
          <p:grpSpPr>
            <a:xfrm>
              <a:off x="5068422" y="1486737"/>
              <a:ext cx="2106203" cy="382051"/>
              <a:chOff x="4706198" y="1609186"/>
              <a:chExt cx="2822950" cy="382816"/>
            </a:xfrm>
          </p:grpSpPr>
          <p:sp>
            <p:nvSpPr>
              <p:cNvPr id="244" name="Google Shape;244;p21"/>
              <p:cNvSpPr/>
              <p:nvPr/>
            </p:nvSpPr>
            <p:spPr>
              <a:xfrm>
                <a:off x="4706198" y="1609194"/>
                <a:ext cx="856500" cy="382800"/>
              </a:xfrm>
              <a:prstGeom prst="roundRect">
                <a:avLst>
                  <a:gd fmla="val 16667" name="adj"/>
                </a:avLst>
              </a:prstGeom>
              <a:noFill/>
              <a:ln cap="flat" cmpd="sng" w="6300">
                <a:solidFill>
                  <a:srgbClr val="000000"/>
                </a:solidFill>
                <a:prstDash val="solid"/>
                <a:round/>
                <a:headEnd len="sm" w="sm" type="none"/>
                <a:tailEnd len="sm" w="sm" type="none"/>
              </a:ln>
            </p:spPr>
            <p:txBody>
              <a:bodyPr anchorCtr="0" anchor="ctr" bIns="60525" lIns="60525" spcFirstLastPara="1" rIns="60525" wrap="square" tIns="60525">
                <a:noAutofit/>
              </a:bodyPr>
              <a:lstStyle/>
              <a:p>
                <a:pPr indent="0" lvl="0" marL="0" rtl="0" algn="ctr">
                  <a:spcBef>
                    <a:spcPts val="0"/>
                  </a:spcBef>
                  <a:spcAft>
                    <a:spcPts val="0"/>
                  </a:spcAft>
                  <a:buNone/>
                </a:pPr>
                <a:r>
                  <a:rPr lang="en-GB" sz="926">
                    <a:latin typeface="Open Sans"/>
                    <a:ea typeface="Open Sans"/>
                    <a:cs typeface="Open Sans"/>
                    <a:sym typeface="Open Sans"/>
                  </a:rPr>
                  <a:t>("the",1)</a:t>
                </a:r>
                <a:endParaRPr sz="926">
                  <a:latin typeface="Open Sans"/>
                  <a:ea typeface="Open Sans"/>
                  <a:cs typeface="Open Sans"/>
                  <a:sym typeface="Open Sans"/>
                </a:endParaRPr>
              </a:p>
            </p:txBody>
          </p:sp>
          <p:sp>
            <p:nvSpPr>
              <p:cNvPr id="245" name="Google Shape;245;p21"/>
              <p:cNvSpPr/>
              <p:nvPr/>
            </p:nvSpPr>
            <p:spPr>
              <a:xfrm>
                <a:off x="5710998" y="1609203"/>
                <a:ext cx="856500" cy="382800"/>
              </a:xfrm>
              <a:prstGeom prst="roundRect">
                <a:avLst>
                  <a:gd fmla="val 16667" name="adj"/>
                </a:avLst>
              </a:prstGeom>
              <a:noFill/>
              <a:ln cap="flat" cmpd="sng" w="6300">
                <a:solidFill>
                  <a:srgbClr val="000000"/>
                </a:solidFill>
                <a:prstDash val="solid"/>
                <a:round/>
                <a:headEnd len="sm" w="sm" type="none"/>
                <a:tailEnd len="sm" w="sm" type="none"/>
              </a:ln>
            </p:spPr>
            <p:txBody>
              <a:bodyPr anchorCtr="0" anchor="ctr" bIns="60525" lIns="60525" spcFirstLastPara="1" rIns="60525" wrap="square" tIns="60525">
                <a:noAutofit/>
              </a:bodyPr>
              <a:lstStyle/>
              <a:p>
                <a:pPr indent="0" lvl="0" marL="0" rtl="0" algn="ctr">
                  <a:spcBef>
                    <a:spcPts val="0"/>
                  </a:spcBef>
                  <a:spcAft>
                    <a:spcPts val="0"/>
                  </a:spcAft>
                  <a:buNone/>
                </a:pPr>
                <a:r>
                  <a:rPr lang="en-GB" sz="926">
                    <a:latin typeface="Open Sans"/>
                    <a:ea typeface="Open Sans"/>
                    <a:cs typeface="Open Sans"/>
                    <a:sym typeface="Open Sans"/>
                  </a:rPr>
                  <a:t>("cat",1)</a:t>
                </a:r>
                <a:endParaRPr sz="926">
                  <a:latin typeface="Open Sans"/>
                  <a:ea typeface="Open Sans"/>
                  <a:cs typeface="Open Sans"/>
                  <a:sym typeface="Open Sans"/>
                </a:endParaRPr>
              </a:p>
            </p:txBody>
          </p:sp>
          <p:sp>
            <p:nvSpPr>
              <p:cNvPr id="246" name="Google Shape;246;p21"/>
              <p:cNvSpPr/>
              <p:nvPr/>
            </p:nvSpPr>
            <p:spPr>
              <a:xfrm>
                <a:off x="6672648" y="1609186"/>
                <a:ext cx="856500" cy="382800"/>
              </a:xfrm>
              <a:prstGeom prst="roundRect">
                <a:avLst>
                  <a:gd fmla="val 16667" name="adj"/>
                </a:avLst>
              </a:prstGeom>
              <a:noFill/>
              <a:ln cap="flat" cmpd="sng" w="6300">
                <a:solidFill>
                  <a:srgbClr val="000000"/>
                </a:solidFill>
                <a:prstDash val="solid"/>
                <a:round/>
                <a:headEnd len="sm" w="sm" type="none"/>
                <a:tailEnd len="sm" w="sm" type="none"/>
              </a:ln>
            </p:spPr>
            <p:txBody>
              <a:bodyPr anchorCtr="0" anchor="ctr" bIns="60525" lIns="60525" spcFirstLastPara="1" rIns="60525" wrap="square" tIns="60525">
                <a:noAutofit/>
              </a:bodyPr>
              <a:lstStyle/>
              <a:p>
                <a:pPr indent="0" lvl="0" marL="0" rtl="0" algn="ctr">
                  <a:spcBef>
                    <a:spcPts val="0"/>
                  </a:spcBef>
                  <a:spcAft>
                    <a:spcPts val="0"/>
                  </a:spcAft>
                  <a:buNone/>
                </a:pPr>
                <a:r>
                  <a:rPr lang="en-GB" sz="926">
                    <a:latin typeface="Open Sans"/>
                    <a:ea typeface="Open Sans"/>
                    <a:cs typeface="Open Sans"/>
                    <a:sym typeface="Open Sans"/>
                  </a:rPr>
                  <a:t>("the",1)</a:t>
                </a:r>
                <a:endParaRPr sz="926">
                  <a:latin typeface="Open Sans"/>
                  <a:ea typeface="Open Sans"/>
                  <a:cs typeface="Open Sans"/>
                  <a:sym typeface="Open Sans"/>
                </a:endParaRPr>
              </a:p>
            </p:txBody>
          </p:sp>
        </p:grpSp>
      </p:grpSp>
      <p:grpSp>
        <p:nvGrpSpPr>
          <p:cNvPr id="247" name="Google Shape;247;p21"/>
          <p:cNvGrpSpPr/>
          <p:nvPr/>
        </p:nvGrpSpPr>
        <p:grpSpPr>
          <a:xfrm>
            <a:off x="4916963" y="3478954"/>
            <a:ext cx="2452800" cy="392987"/>
            <a:chOff x="4843550" y="2631373"/>
            <a:chExt cx="2452800" cy="583500"/>
          </a:xfrm>
        </p:grpSpPr>
        <p:sp>
          <p:nvSpPr>
            <p:cNvPr id="248" name="Google Shape;248;p21"/>
            <p:cNvSpPr/>
            <p:nvPr/>
          </p:nvSpPr>
          <p:spPr>
            <a:xfrm>
              <a:off x="4843550" y="2631373"/>
              <a:ext cx="2452800" cy="583500"/>
            </a:xfrm>
            <a:prstGeom prst="roundRect">
              <a:avLst>
                <a:gd fmla="val 16667" name="adj"/>
              </a:avLst>
            </a:prstGeom>
            <a:solidFill>
              <a:srgbClr val="6AA84F"/>
            </a:solidFill>
            <a:ln cap="flat" cmpd="sng" w="5925">
              <a:solidFill>
                <a:srgbClr val="695D46"/>
              </a:solidFill>
              <a:prstDash val="solid"/>
              <a:round/>
              <a:headEnd len="sm" w="sm" type="none"/>
              <a:tailEnd len="sm" w="sm" type="none"/>
            </a:ln>
          </p:spPr>
          <p:txBody>
            <a:bodyPr anchorCtr="0" anchor="ctr" bIns="56825" lIns="56825" spcFirstLastPara="1" rIns="56825" wrap="square" tIns="56825">
              <a:noAutofit/>
            </a:bodyPr>
            <a:lstStyle/>
            <a:p>
              <a:pPr indent="0" lvl="0" marL="0" rtl="0" algn="ctr">
                <a:spcBef>
                  <a:spcPts val="0"/>
                </a:spcBef>
                <a:spcAft>
                  <a:spcPts val="0"/>
                </a:spcAft>
                <a:buNone/>
              </a:pPr>
              <a:r>
                <a:t/>
              </a:r>
              <a:endParaRPr sz="870">
                <a:latin typeface="Open Sans"/>
                <a:ea typeface="Open Sans"/>
                <a:cs typeface="Open Sans"/>
                <a:sym typeface="Open Sans"/>
              </a:endParaRPr>
            </a:p>
          </p:txBody>
        </p:sp>
        <p:sp>
          <p:nvSpPr>
            <p:cNvPr id="249" name="Google Shape;249;p21"/>
            <p:cNvSpPr/>
            <p:nvPr/>
          </p:nvSpPr>
          <p:spPr>
            <a:xfrm>
              <a:off x="4999463" y="2748739"/>
              <a:ext cx="1020600" cy="359100"/>
            </a:xfrm>
            <a:prstGeom prst="roundRect">
              <a:avLst>
                <a:gd fmla="val 16667" name="adj"/>
              </a:avLst>
            </a:prstGeom>
            <a:noFill/>
            <a:ln cap="flat" cmpd="sng" w="5925">
              <a:solidFill>
                <a:srgbClr val="000000"/>
              </a:solidFill>
              <a:prstDash val="solid"/>
              <a:round/>
              <a:headEnd len="sm" w="sm" type="none"/>
              <a:tailEnd len="sm" w="sm" type="none"/>
            </a:ln>
          </p:spPr>
          <p:txBody>
            <a:bodyPr anchorCtr="0" anchor="ctr" bIns="56825" lIns="56825" spcFirstLastPara="1" rIns="56825" wrap="square" tIns="56825">
              <a:noAutofit/>
            </a:bodyPr>
            <a:lstStyle/>
            <a:p>
              <a:pPr indent="0" lvl="0" marL="0" rtl="0" algn="ctr">
                <a:spcBef>
                  <a:spcPts val="0"/>
                </a:spcBef>
                <a:spcAft>
                  <a:spcPts val="0"/>
                </a:spcAft>
                <a:buNone/>
              </a:pPr>
              <a:r>
                <a:rPr lang="en-GB" sz="951">
                  <a:latin typeface="Open Sans"/>
                  <a:ea typeface="Open Sans"/>
                  <a:cs typeface="Open Sans"/>
                  <a:sym typeface="Open Sans"/>
                </a:rPr>
                <a:t>("the", [1,1])</a:t>
              </a:r>
              <a:endParaRPr sz="951">
                <a:latin typeface="Open Sans"/>
                <a:ea typeface="Open Sans"/>
                <a:cs typeface="Open Sans"/>
                <a:sym typeface="Open Sans"/>
              </a:endParaRPr>
            </a:p>
          </p:txBody>
        </p:sp>
        <p:sp>
          <p:nvSpPr>
            <p:cNvPr id="250" name="Google Shape;250;p21"/>
            <p:cNvSpPr/>
            <p:nvPr/>
          </p:nvSpPr>
          <p:spPr>
            <a:xfrm>
              <a:off x="6260274" y="2755911"/>
              <a:ext cx="840600" cy="359100"/>
            </a:xfrm>
            <a:prstGeom prst="roundRect">
              <a:avLst>
                <a:gd fmla="val 16667" name="adj"/>
              </a:avLst>
            </a:prstGeom>
            <a:noFill/>
            <a:ln cap="flat" cmpd="sng" w="5925">
              <a:solidFill>
                <a:srgbClr val="000000"/>
              </a:solidFill>
              <a:prstDash val="solid"/>
              <a:round/>
              <a:headEnd len="sm" w="sm" type="none"/>
              <a:tailEnd len="sm" w="sm" type="none"/>
            </a:ln>
          </p:spPr>
          <p:txBody>
            <a:bodyPr anchorCtr="0" anchor="ctr" bIns="56825" lIns="56825" spcFirstLastPara="1" rIns="56825" wrap="square" tIns="56825">
              <a:noAutofit/>
            </a:bodyPr>
            <a:lstStyle/>
            <a:p>
              <a:pPr indent="0" lvl="0" marL="0" rtl="0" algn="ctr">
                <a:spcBef>
                  <a:spcPts val="0"/>
                </a:spcBef>
                <a:spcAft>
                  <a:spcPts val="0"/>
                </a:spcAft>
                <a:buNone/>
              </a:pPr>
              <a:r>
                <a:rPr lang="en-GB" sz="951">
                  <a:latin typeface="Open Sans"/>
                  <a:ea typeface="Open Sans"/>
                  <a:cs typeface="Open Sans"/>
                  <a:sym typeface="Open Sans"/>
                </a:rPr>
                <a:t>("cat",1)</a:t>
              </a:r>
              <a:endParaRPr sz="951">
                <a:latin typeface="Open Sans"/>
                <a:ea typeface="Open Sans"/>
                <a:cs typeface="Open Sans"/>
                <a:sym typeface="Open Sans"/>
              </a:endParaRPr>
            </a:p>
          </p:txBody>
        </p:sp>
      </p:grpSp>
      <p:grpSp>
        <p:nvGrpSpPr>
          <p:cNvPr id="251" name="Google Shape;251;p21"/>
          <p:cNvGrpSpPr/>
          <p:nvPr/>
        </p:nvGrpSpPr>
        <p:grpSpPr>
          <a:xfrm>
            <a:off x="4917150" y="4509108"/>
            <a:ext cx="2452800" cy="301378"/>
            <a:chOff x="4837289" y="3953940"/>
            <a:chExt cx="2452800" cy="583500"/>
          </a:xfrm>
        </p:grpSpPr>
        <p:sp>
          <p:nvSpPr>
            <p:cNvPr id="252" name="Google Shape;252;p21"/>
            <p:cNvSpPr/>
            <p:nvPr/>
          </p:nvSpPr>
          <p:spPr>
            <a:xfrm>
              <a:off x="4837289" y="3953940"/>
              <a:ext cx="2452800" cy="583500"/>
            </a:xfrm>
            <a:prstGeom prst="roundRect">
              <a:avLst>
                <a:gd fmla="val 16667" name="adj"/>
              </a:avLst>
            </a:prstGeom>
            <a:solidFill>
              <a:srgbClr val="6AA84F"/>
            </a:solidFill>
            <a:ln cap="flat" cmpd="sng" w="5925">
              <a:solidFill>
                <a:srgbClr val="695D46"/>
              </a:solidFill>
              <a:prstDash val="solid"/>
              <a:round/>
              <a:headEnd len="sm" w="sm" type="none"/>
              <a:tailEnd len="sm" w="sm" type="none"/>
            </a:ln>
          </p:spPr>
          <p:txBody>
            <a:bodyPr anchorCtr="0" anchor="ctr" bIns="56825" lIns="56825" spcFirstLastPara="1" rIns="56825" wrap="square" tIns="56825">
              <a:noAutofit/>
            </a:bodyPr>
            <a:lstStyle/>
            <a:p>
              <a:pPr indent="0" lvl="0" marL="0" rtl="0" algn="l">
                <a:spcBef>
                  <a:spcPts val="0"/>
                </a:spcBef>
                <a:spcAft>
                  <a:spcPts val="0"/>
                </a:spcAft>
                <a:buNone/>
              </a:pPr>
              <a:r>
                <a:t/>
              </a:r>
              <a:endParaRPr sz="870">
                <a:latin typeface="Open Sans"/>
                <a:ea typeface="Open Sans"/>
                <a:cs typeface="Open Sans"/>
                <a:sym typeface="Open Sans"/>
              </a:endParaRPr>
            </a:p>
          </p:txBody>
        </p:sp>
        <p:sp>
          <p:nvSpPr>
            <p:cNvPr id="253" name="Google Shape;253;p21"/>
            <p:cNvSpPr/>
            <p:nvPr/>
          </p:nvSpPr>
          <p:spPr>
            <a:xfrm>
              <a:off x="5044639" y="4030497"/>
              <a:ext cx="1052700" cy="418200"/>
            </a:xfrm>
            <a:prstGeom prst="roundRect">
              <a:avLst>
                <a:gd fmla="val 16667" name="adj"/>
              </a:avLst>
            </a:prstGeom>
            <a:noFill/>
            <a:ln cap="flat" cmpd="sng" w="6300">
              <a:solidFill>
                <a:srgbClr val="000000"/>
              </a:solidFill>
              <a:prstDash val="solid"/>
              <a:round/>
              <a:headEnd len="sm" w="sm" type="none"/>
              <a:tailEnd len="sm" w="sm" type="none"/>
            </a:ln>
          </p:spPr>
          <p:txBody>
            <a:bodyPr anchorCtr="0" anchor="ctr" bIns="60525" lIns="60525" spcFirstLastPara="1" rIns="60525" wrap="square" tIns="60525">
              <a:noAutofit/>
            </a:bodyPr>
            <a:lstStyle/>
            <a:p>
              <a:pPr indent="0" lvl="0" marL="0" rtl="0" algn="ctr">
                <a:spcBef>
                  <a:spcPts val="0"/>
                </a:spcBef>
                <a:spcAft>
                  <a:spcPts val="0"/>
                </a:spcAft>
                <a:buNone/>
              </a:pPr>
              <a:r>
                <a:rPr lang="en-GB" sz="951">
                  <a:latin typeface="Open Sans"/>
                  <a:ea typeface="Open Sans"/>
                  <a:cs typeface="Open Sans"/>
                  <a:sym typeface="Open Sans"/>
                </a:rPr>
                <a:t>("the", 2)</a:t>
              </a:r>
              <a:endParaRPr sz="926">
                <a:latin typeface="Open Sans"/>
                <a:ea typeface="Open Sans"/>
                <a:cs typeface="Open Sans"/>
                <a:sym typeface="Open Sans"/>
              </a:endParaRPr>
            </a:p>
          </p:txBody>
        </p:sp>
        <p:sp>
          <p:nvSpPr>
            <p:cNvPr id="254" name="Google Shape;254;p21"/>
            <p:cNvSpPr/>
            <p:nvPr/>
          </p:nvSpPr>
          <p:spPr>
            <a:xfrm>
              <a:off x="6276489" y="4028367"/>
              <a:ext cx="868800" cy="418200"/>
            </a:xfrm>
            <a:prstGeom prst="roundRect">
              <a:avLst>
                <a:gd fmla="val 16667" name="adj"/>
              </a:avLst>
            </a:prstGeom>
            <a:noFill/>
            <a:ln cap="flat" cmpd="sng" w="6300">
              <a:solidFill>
                <a:srgbClr val="000000"/>
              </a:solidFill>
              <a:prstDash val="solid"/>
              <a:round/>
              <a:headEnd len="sm" w="sm" type="none"/>
              <a:tailEnd len="sm" w="sm" type="none"/>
            </a:ln>
          </p:spPr>
          <p:txBody>
            <a:bodyPr anchorCtr="0" anchor="ctr" bIns="60525" lIns="60525" spcFirstLastPara="1" rIns="60525" wrap="square" tIns="60525">
              <a:noAutofit/>
            </a:bodyPr>
            <a:lstStyle/>
            <a:p>
              <a:pPr indent="0" lvl="0" marL="0" rtl="0" algn="ctr">
                <a:spcBef>
                  <a:spcPts val="0"/>
                </a:spcBef>
                <a:spcAft>
                  <a:spcPts val="0"/>
                </a:spcAft>
                <a:buNone/>
              </a:pPr>
              <a:r>
                <a:rPr lang="en-GB" sz="951">
                  <a:latin typeface="Open Sans"/>
                  <a:ea typeface="Open Sans"/>
                  <a:cs typeface="Open Sans"/>
                  <a:sym typeface="Open Sans"/>
                </a:rPr>
                <a:t>("cat", 1)</a:t>
              </a:r>
              <a:endParaRPr sz="926">
                <a:latin typeface="Open Sans"/>
                <a:ea typeface="Open Sans"/>
                <a:cs typeface="Open Sans"/>
                <a:sym typeface="Open Sans"/>
              </a:endParaRPr>
            </a:p>
          </p:txBody>
        </p:sp>
      </p:grpSp>
      <p:sp>
        <p:nvSpPr>
          <p:cNvPr id="255" name="Google Shape;255;p21"/>
          <p:cNvSpPr/>
          <p:nvPr/>
        </p:nvSpPr>
        <p:spPr>
          <a:xfrm>
            <a:off x="2358896" y="1178025"/>
            <a:ext cx="933000" cy="414300"/>
          </a:xfrm>
          <a:prstGeom prst="roundRect">
            <a:avLst>
              <a:gd fmla="val 16667" name="adj"/>
            </a:avLst>
          </a:prstGeom>
          <a:solidFill>
            <a:srgbClr val="00FFFF"/>
          </a:solidFill>
          <a:ln cap="flat" cmpd="sng" w="7775">
            <a:solidFill>
              <a:srgbClr val="595959"/>
            </a:solidFill>
            <a:prstDash val="solid"/>
            <a:round/>
            <a:headEnd len="sm" w="sm" type="none"/>
            <a:tailEnd len="sm" w="sm" type="none"/>
          </a:ln>
        </p:spPr>
        <p:txBody>
          <a:bodyPr anchorCtr="0" anchor="ctr" bIns="74625" lIns="74625" spcFirstLastPara="1" rIns="74625" wrap="square" tIns="74625">
            <a:noAutofit/>
          </a:bodyPr>
          <a:lstStyle/>
          <a:p>
            <a:pPr indent="0" lvl="0" marL="0" rtl="0" algn="ctr">
              <a:spcBef>
                <a:spcPts val="0"/>
              </a:spcBef>
              <a:spcAft>
                <a:spcPts val="0"/>
              </a:spcAft>
              <a:buNone/>
            </a:pPr>
            <a:r>
              <a:rPr lang="en-GB" sz="1142"/>
              <a:t>Data</a:t>
            </a:r>
            <a:endParaRPr sz="1142"/>
          </a:p>
        </p:txBody>
      </p:sp>
      <p:sp>
        <p:nvSpPr>
          <p:cNvPr id="256" name="Google Shape;256;p21"/>
          <p:cNvSpPr/>
          <p:nvPr/>
        </p:nvSpPr>
        <p:spPr>
          <a:xfrm>
            <a:off x="2315109" y="4419934"/>
            <a:ext cx="1020600" cy="479700"/>
          </a:xfrm>
          <a:prstGeom prst="roundRect">
            <a:avLst>
              <a:gd fmla="val 16667" name="adj"/>
            </a:avLst>
          </a:prstGeom>
          <a:solidFill>
            <a:srgbClr val="00FFFF"/>
          </a:solidFill>
          <a:ln cap="flat" cmpd="sng" w="7775">
            <a:solidFill>
              <a:srgbClr val="595959"/>
            </a:solidFill>
            <a:prstDash val="solid"/>
            <a:round/>
            <a:headEnd len="sm" w="sm" type="none"/>
            <a:tailEnd len="sm" w="sm" type="none"/>
          </a:ln>
        </p:spPr>
        <p:txBody>
          <a:bodyPr anchorCtr="0" anchor="ctr" bIns="74625" lIns="74625" spcFirstLastPara="1" rIns="74625" wrap="square" tIns="74625">
            <a:noAutofit/>
          </a:bodyPr>
          <a:lstStyle/>
          <a:p>
            <a:pPr indent="0" lvl="0" marL="0" rtl="0" algn="l">
              <a:spcBef>
                <a:spcPts val="0"/>
              </a:spcBef>
              <a:spcAft>
                <a:spcPts val="0"/>
              </a:spcAft>
              <a:buNone/>
            </a:pPr>
            <a:r>
              <a:rPr lang="en-GB" sz="1142">
                <a:solidFill>
                  <a:srgbClr val="000000"/>
                </a:solidFill>
              </a:rPr>
              <a:t>Final result</a:t>
            </a:r>
            <a:endParaRPr sz="1142"/>
          </a:p>
        </p:txBody>
      </p:sp>
      <p:grpSp>
        <p:nvGrpSpPr>
          <p:cNvPr id="257" name="Google Shape;257;p21"/>
          <p:cNvGrpSpPr/>
          <p:nvPr/>
        </p:nvGrpSpPr>
        <p:grpSpPr>
          <a:xfrm>
            <a:off x="4915675" y="1184900"/>
            <a:ext cx="2452800" cy="400575"/>
            <a:chOff x="4916875" y="1381488"/>
            <a:chExt cx="2452800" cy="400575"/>
          </a:xfrm>
        </p:grpSpPr>
        <p:sp>
          <p:nvSpPr>
            <p:cNvPr id="258" name="Google Shape;258;p21"/>
            <p:cNvSpPr/>
            <p:nvPr/>
          </p:nvSpPr>
          <p:spPr>
            <a:xfrm>
              <a:off x="4916875" y="1381488"/>
              <a:ext cx="2452800" cy="376800"/>
            </a:xfrm>
            <a:prstGeom prst="roundRect">
              <a:avLst>
                <a:gd fmla="val 16667" name="adj"/>
              </a:avLst>
            </a:prstGeom>
            <a:solidFill>
              <a:srgbClr val="D9EAD3"/>
            </a:solidFill>
            <a:ln cap="flat" cmpd="sng" w="5925">
              <a:solidFill>
                <a:srgbClr val="695D46"/>
              </a:solidFill>
              <a:prstDash val="solid"/>
              <a:round/>
              <a:headEnd len="sm" w="sm" type="none"/>
              <a:tailEnd len="sm" w="sm" type="none"/>
            </a:ln>
          </p:spPr>
          <p:txBody>
            <a:bodyPr anchorCtr="0" anchor="ctr" bIns="56825" lIns="56825" spcFirstLastPara="1" rIns="56825" wrap="square" tIns="56825">
              <a:noAutofit/>
            </a:bodyPr>
            <a:lstStyle/>
            <a:p>
              <a:pPr indent="0" lvl="0" marL="0" rtl="0" algn="l">
                <a:spcBef>
                  <a:spcPts val="0"/>
                </a:spcBef>
                <a:spcAft>
                  <a:spcPts val="0"/>
                </a:spcAft>
                <a:buNone/>
              </a:pPr>
              <a:r>
                <a:t/>
              </a:r>
              <a:endParaRPr sz="870">
                <a:latin typeface="Open Sans"/>
                <a:ea typeface="Open Sans"/>
                <a:cs typeface="Open Sans"/>
                <a:sym typeface="Open Sans"/>
              </a:endParaRPr>
            </a:p>
          </p:txBody>
        </p:sp>
        <p:sp>
          <p:nvSpPr>
            <p:cNvPr id="259" name="Google Shape;259;p21"/>
            <p:cNvSpPr txBox="1"/>
            <p:nvPr/>
          </p:nvSpPr>
          <p:spPr>
            <a:xfrm>
              <a:off x="5381144" y="1381863"/>
              <a:ext cx="1479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Find boundaries </a:t>
              </a:r>
              <a:endParaRPr/>
            </a:p>
          </p:txBody>
        </p:sp>
      </p:grpSp>
      <p:grpSp>
        <p:nvGrpSpPr>
          <p:cNvPr id="260" name="Google Shape;260;p21"/>
          <p:cNvGrpSpPr/>
          <p:nvPr/>
        </p:nvGrpSpPr>
        <p:grpSpPr>
          <a:xfrm>
            <a:off x="4917006" y="1649425"/>
            <a:ext cx="2452729" cy="400227"/>
            <a:chOff x="5011000" y="2040166"/>
            <a:chExt cx="2099400" cy="527100"/>
          </a:xfrm>
        </p:grpSpPr>
        <p:sp>
          <p:nvSpPr>
            <p:cNvPr id="261" name="Google Shape;261;p21"/>
            <p:cNvSpPr/>
            <p:nvPr/>
          </p:nvSpPr>
          <p:spPr>
            <a:xfrm>
              <a:off x="5011000" y="2068100"/>
              <a:ext cx="2099400" cy="400200"/>
            </a:xfrm>
            <a:prstGeom prst="roundRect">
              <a:avLst>
                <a:gd fmla="val 16667" name="adj"/>
              </a:avLst>
            </a:prstGeom>
            <a:solidFill>
              <a:srgbClr val="D9EAD3"/>
            </a:solidFill>
            <a:ln cap="flat" cmpd="sng" w="5925">
              <a:solidFill>
                <a:srgbClr val="695D46"/>
              </a:solidFill>
              <a:prstDash val="solid"/>
              <a:round/>
              <a:headEnd len="sm" w="sm" type="none"/>
              <a:tailEnd len="sm" w="sm" type="none"/>
            </a:ln>
          </p:spPr>
          <p:txBody>
            <a:bodyPr anchorCtr="0" anchor="ctr" bIns="56825" lIns="56825" spcFirstLastPara="1" rIns="56825" wrap="square" tIns="56825">
              <a:noAutofit/>
            </a:bodyPr>
            <a:lstStyle/>
            <a:p>
              <a:pPr indent="0" lvl="0" marL="0" rtl="0" algn="l">
                <a:spcBef>
                  <a:spcPts val="0"/>
                </a:spcBef>
                <a:spcAft>
                  <a:spcPts val="0"/>
                </a:spcAft>
                <a:buNone/>
              </a:pPr>
              <a:r>
                <a:t/>
              </a:r>
              <a:endParaRPr sz="870">
                <a:latin typeface="Open Sans"/>
                <a:ea typeface="Open Sans"/>
                <a:cs typeface="Open Sans"/>
                <a:sym typeface="Open Sans"/>
              </a:endParaRPr>
            </a:p>
          </p:txBody>
        </p:sp>
        <p:sp>
          <p:nvSpPr>
            <p:cNvPr id="262" name="Google Shape;262;p21"/>
            <p:cNvSpPr txBox="1"/>
            <p:nvPr/>
          </p:nvSpPr>
          <p:spPr>
            <a:xfrm>
              <a:off x="5432148" y="2040166"/>
              <a:ext cx="1241400" cy="52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Process words</a:t>
              </a:r>
              <a:endParaRPr/>
            </a:p>
          </p:txBody>
        </p:sp>
      </p:grpSp>
      <p:grpSp>
        <p:nvGrpSpPr>
          <p:cNvPr id="263" name="Google Shape;263;p21"/>
          <p:cNvGrpSpPr/>
          <p:nvPr/>
        </p:nvGrpSpPr>
        <p:grpSpPr>
          <a:xfrm>
            <a:off x="4917185" y="2579325"/>
            <a:ext cx="2452729" cy="400224"/>
            <a:chOff x="5011000" y="2577159"/>
            <a:chExt cx="2099400" cy="476400"/>
          </a:xfrm>
        </p:grpSpPr>
        <p:sp>
          <p:nvSpPr>
            <p:cNvPr id="264" name="Google Shape;264;p21"/>
            <p:cNvSpPr/>
            <p:nvPr/>
          </p:nvSpPr>
          <p:spPr>
            <a:xfrm>
              <a:off x="5011000" y="2604363"/>
              <a:ext cx="2099400" cy="400200"/>
            </a:xfrm>
            <a:prstGeom prst="roundRect">
              <a:avLst>
                <a:gd fmla="val 16667" name="adj"/>
              </a:avLst>
            </a:prstGeom>
            <a:solidFill>
              <a:srgbClr val="D9EAD3"/>
            </a:solidFill>
            <a:ln cap="flat" cmpd="sng" w="5925">
              <a:solidFill>
                <a:srgbClr val="695D46"/>
              </a:solidFill>
              <a:prstDash val="solid"/>
              <a:round/>
              <a:headEnd len="sm" w="sm" type="none"/>
              <a:tailEnd len="sm" w="sm" type="none"/>
            </a:ln>
          </p:spPr>
          <p:txBody>
            <a:bodyPr anchorCtr="0" anchor="ctr" bIns="56825" lIns="56825" spcFirstLastPara="1" rIns="56825" wrap="square" tIns="56825">
              <a:noAutofit/>
            </a:bodyPr>
            <a:lstStyle/>
            <a:p>
              <a:pPr indent="0" lvl="0" marL="0" rtl="0" algn="l">
                <a:spcBef>
                  <a:spcPts val="0"/>
                </a:spcBef>
                <a:spcAft>
                  <a:spcPts val="0"/>
                </a:spcAft>
                <a:buNone/>
              </a:pPr>
              <a:r>
                <a:t/>
              </a:r>
              <a:endParaRPr sz="870">
                <a:latin typeface="Open Sans"/>
                <a:ea typeface="Open Sans"/>
                <a:cs typeface="Open Sans"/>
                <a:sym typeface="Open Sans"/>
              </a:endParaRPr>
            </a:p>
          </p:txBody>
        </p:sp>
        <p:sp>
          <p:nvSpPr>
            <p:cNvPr id="265" name="Google Shape;265;p21"/>
            <p:cNvSpPr txBox="1"/>
            <p:nvPr/>
          </p:nvSpPr>
          <p:spPr>
            <a:xfrm>
              <a:off x="5468712" y="2577159"/>
              <a:ext cx="1164900" cy="47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Assign groups</a:t>
              </a:r>
              <a:endParaRPr/>
            </a:p>
          </p:txBody>
        </p:sp>
      </p:grpSp>
      <p:grpSp>
        <p:nvGrpSpPr>
          <p:cNvPr id="266" name="Google Shape;266;p21"/>
          <p:cNvGrpSpPr/>
          <p:nvPr/>
        </p:nvGrpSpPr>
        <p:grpSpPr>
          <a:xfrm>
            <a:off x="4916975" y="3014838"/>
            <a:ext cx="2452729" cy="400182"/>
            <a:chOff x="5009800" y="3086200"/>
            <a:chExt cx="2099400" cy="436213"/>
          </a:xfrm>
        </p:grpSpPr>
        <p:sp>
          <p:nvSpPr>
            <p:cNvPr id="267" name="Google Shape;267;p21"/>
            <p:cNvSpPr/>
            <p:nvPr/>
          </p:nvSpPr>
          <p:spPr>
            <a:xfrm>
              <a:off x="5009800" y="3086200"/>
              <a:ext cx="2099400" cy="400200"/>
            </a:xfrm>
            <a:prstGeom prst="roundRect">
              <a:avLst>
                <a:gd fmla="val 16667" name="adj"/>
              </a:avLst>
            </a:prstGeom>
            <a:solidFill>
              <a:srgbClr val="D9EAD3"/>
            </a:solidFill>
            <a:ln cap="flat" cmpd="sng" w="5925">
              <a:solidFill>
                <a:srgbClr val="695D46"/>
              </a:solidFill>
              <a:prstDash val="solid"/>
              <a:round/>
              <a:headEnd len="sm" w="sm" type="none"/>
              <a:tailEnd len="sm" w="sm" type="none"/>
            </a:ln>
          </p:spPr>
          <p:txBody>
            <a:bodyPr anchorCtr="0" anchor="ctr" bIns="56825" lIns="56825" spcFirstLastPara="1" rIns="56825" wrap="square" tIns="56825">
              <a:noAutofit/>
            </a:bodyPr>
            <a:lstStyle/>
            <a:p>
              <a:pPr indent="0" lvl="0" marL="0" rtl="0" algn="l">
                <a:spcBef>
                  <a:spcPts val="0"/>
                </a:spcBef>
                <a:spcAft>
                  <a:spcPts val="0"/>
                </a:spcAft>
                <a:buNone/>
              </a:pPr>
              <a:r>
                <a:t/>
              </a:r>
              <a:endParaRPr sz="870">
                <a:latin typeface="Open Sans"/>
                <a:ea typeface="Open Sans"/>
                <a:cs typeface="Open Sans"/>
                <a:sym typeface="Open Sans"/>
              </a:endParaRPr>
            </a:p>
          </p:txBody>
        </p:sp>
        <p:sp>
          <p:nvSpPr>
            <p:cNvPr id="268" name="Google Shape;268;p21"/>
            <p:cNvSpPr txBox="1"/>
            <p:nvPr/>
          </p:nvSpPr>
          <p:spPr>
            <a:xfrm>
              <a:off x="5618424" y="3086213"/>
              <a:ext cx="873600" cy="43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Build lists</a:t>
              </a:r>
              <a:endParaRPr/>
            </a:p>
          </p:txBody>
        </p:sp>
      </p:grpSp>
      <p:grpSp>
        <p:nvGrpSpPr>
          <p:cNvPr id="269" name="Google Shape;269;p21"/>
          <p:cNvGrpSpPr/>
          <p:nvPr/>
        </p:nvGrpSpPr>
        <p:grpSpPr>
          <a:xfrm>
            <a:off x="4917185" y="4052150"/>
            <a:ext cx="2452729" cy="400221"/>
            <a:chOff x="5009800" y="3043064"/>
            <a:chExt cx="2099400" cy="483300"/>
          </a:xfrm>
        </p:grpSpPr>
        <p:sp>
          <p:nvSpPr>
            <p:cNvPr id="270" name="Google Shape;270;p21"/>
            <p:cNvSpPr/>
            <p:nvPr/>
          </p:nvSpPr>
          <p:spPr>
            <a:xfrm>
              <a:off x="5009800" y="3086200"/>
              <a:ext cx="2099400" cy="400200"/>
            </a:xfrm>
            <a:prstGeom prst="roundRect">
              <a:avLst>
                <a:gd fmla="val 16667" name="adj"/>
              </a:avLst>
            </a:prstGeom>
            <a:solidFill>
              <a:srgbClr val="D9EAD3"/>
            </a:solidFill>
            <a:ln cap="flat" cmpd="sng" w="5925">
              <a:solidFill>
                <a:srgbClr val="695D46"/>
              </a:solidFill>
              <a:prstDash val="solid"/>
              <a:round/>
              <a:headEnd len="sm" w="sm" type="none"/>
              <a:tailEnd len="sm" w="sm" type="none"/>
            </a:ln>
          </p:spPr>
          <p:txBody>
            <a:bodyPr anchorCtr="0" anchor="ctr" bIns="56825" lIns="56825" spcFirstLastPara="1" rIns="56825" wrap="square" tIns="56825">
              <a:noAutofit/>
            </a:bodyPr>
            <a:lstStyle/>
            <a:p>
              <a:pPr indent="0" lvl="0" marL="0" rtl="0" algn="l">
                <a:spcBef>
                  <a:spcPts val="0"/>
                </a:spcBef>
                <a:spcAft>
                  <a:spcPts val="0"/>
                </a:spcAft>
                <a:buNone/>
              </a:pPr>
              <a:r>
                <a:t/>
              </a:r>
              <a:endParaRPr sz="870">
                <a:latin typeface="Open Sans"/>
                <a:ea typeface="Open Sans"/>
                <a:cs typeface="Open Sans"/>
                <a:sym typeface="Open Sans"/>
              </a:endParaRPr>
            </a:p>
          </p:txBody>
        </p:sp>
        <p:sp>
          <p:nvSpPr>
            <p:cNvPr id="271" name="Google Shape;271;p21"/>
            <p:cNvSpPr txBox="1"/>
            <p:nvPr/>
          </p:nvSpPr>
          <p:spPr>
            <a:xfrm>
              <a:off x="5689774" y="3043064"/>
              <a:ext cx="718200" cy="48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Reduce</a:t>
              </a:r>
              <a:endParaRPr/>
            </a:p>
          </p:txBody>
        </p:sp>
      </p:grpSp>
      <p:cxnSp>
        <p:nvCxnSpPr>
          <p:cNvPr id="272" name="Google Shape;272;p21"/>
          <p:cNvCxnSpPr>
            <a:endCxn id="258" idx="1"/>
          </p:cNvCxnSpPr>
          <p:nvPr/>
        </p:nvCxnSpPr>
        <p:spPr>
          <a:xfrm>
            <a:off x="3291775" y="1373300"/>
            <a:ext cx="1623900" cy="0"/>
          </a:xfrm>
          <a:prstGeom prst="straightConnector1">
            <a:avLst/>
          </a:prstGeom>
          <a:noFill/>
          <a:ln cap="flat" cmpd="sng" w="28575">
            <a:solidFill>
              <a:srgbClr val="F1C232"/>
            </a:solidFill>
            <a:prstDash val="solid"/>
            <a:round/>
            <a:headEnd len="med" w="med" type="none"/>
            <a:tailEnd len="med" w="med" type="triangle"/>
          </a:ln>
        </p:spPr>
      </p:cxnSp>
      <p:cxnSp>
        <p:nvCxnSpPr>
          <p:cNvPr id="273" name="Google Shape;273;p21"/>
          <p:cNvCxnSpPr>
            <a:stCxn id="256" idx="3"/>
            <a:endCxn id="252" idx="1"/>
          </p:cNvCxnSpPr>
          <p:nvPr/>
        </p:nvCxnSpPr>
        <p:spPr>
          <a:xfrm>
            <a:off x="3335709" y="4659784"/>
            <a:ext cx="1581300" cy="0"/>
          </a:xfrm>
          <a:prstGeom prst="straightConnector1">
            <a:avLst/>
          </a:prstGeom>
          <a:noFill/>
          <a:ln cap="flat" cmpd="sng" w="28575">
            <a:solidFill>
              <a:srgbClr val="F1C232"/>
            </a:solidFill>
            <a:prstDash val="solid"/>
            <a:round/>
            <a:headEnd len="med" w="med" type="triangl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Challenges encountered</a:t>
            </a:r>
            <a:endParaRPr/>
          </a:p>
        </p:txBody>
      </p:sp>
      <p:sp>
        <p:nvSpPr>
          <p:cNvPr id="279" name="Google Shape;279;p22"/>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Font typeface="Times New Roman"/>
              <a:buChar char="●"/>
            </a:pPr>
            <a:r>
              <a:rPr lang="en-GB">
                <a:solidFill>
                  <a:srgbClr val="000000"/>
                </a:solidFill>
                <a:latin typeface="Times New Roman"/>
                <a:ea typeface="Times New Roman"/>
                <a:cs typeface="Times New Roman"/>
                <a:sym typeface="Times New Roman"/>
              </a:rPr>
              <a:t>Pthread &amp; </a:t>
            </a:r>
            <a:r>
              <a:rPr lang="en-GB">
                <a:solidFill>
                  <a:srgbClr val="000000"/>
                </a:solidFill>
                <a:latin typeface="Times New Roman"/>
                <a:ea typeface="Times New Roman"/>
                <a:cs typeface="Times New Roman"/>
                <a:sym typeface="Times New Roman"/>
              </a:rPr>
              <a:t>OpenMP : High Contention on Global Data Structures</a:t>
            </a:r>
            <a:endParaRPr>
              <a:solidFill>
                <a:srgbClr val="000000"/>
              </a:solidFill>
              <a:latin typeface="Times New Roman"/>
              <a:ea typeface="Times New Roman"/>
              <a:cs typeface="Times New Roman"/>
              <a:sym typeface="Times New Roman"/>
            </a:endParaRPr>
          </a:p>
          <a:p>
            <a:pPr indent="-317500" lvl="1" marL="914400" rtl="0" algn="l">
              <a:spcBef>
                <a:spcPts val="0"/>
              </a:spcBef>
              <a:spcAft>
                <a:spcPts val="0"/>
              </a:spcAft>
              <a:buClr>
                <a:srgbClr val="000000"/>
              </a:buClr>
              <a:buSzPts val="1400"/>
              <a:buFont typeface="Times New Roman"/>
              <a:buChar char="○"/>
            </a:pPr>
            <a:r>
              <a:rPr lang="en-GB">
                <a:solidFill>
                  <a:srgbClr val="000000"/>
                </a:solidFill>
                <a:latin typeface="Times New Roman"/>
                <a:ea typeface="Times New Roman"/>
                <a:cs typeface="Times New Roman"/>
                <a:sym typeface="Times New Roman"/>
              </a:rPr>
              <a:t>Implemented Thread-Local Storage,  Assigned a separate vector (local buffer) for each thread to store intermediate Map results.</a:t>
            </a:r>
            <a:endParaRPr>
              <a:solidFill>
                <a:srgbClr val="000000"/>
              </a:solidFill>
              <a:latin typeface="Times New Roman"/>
              <a:ea typeface="Times New Roman"/>
              <a:cs typeface="Times New Roman"/>
              <a:sym typeface="Times New Roman"/>
            </a:endParaRPr>
          </a:p>
          <a:p>
            <a:pPr indent="-342900" lvl="0" marL="457200" rtl="0" algn="l">
              <a:spcBef>
                <a:spcPts val="0"/>
              </a:spcBef>
              <a:spcAft>
                <a:spcPts val="0"/>
              </a:spcAft>
              <a:buClr>
                <a:srgbClr val="000000"/>
              </a:buClr>
              <a:buSzPts val="1800"/>
              <a:buFont typeface="Times New Roman"/>
              <a:buChar char="●"/>
            </a:pPr>
            <a:r>
              <a:rPr lang="en-GB">
                <a:solidFill>
                  <a:srgbClr val="000000"/>
                </a:solidFill>
                <a:latin typeface="Times New Roman"/>
                <a:ea typeface="Times New Roman"/>
                <a:cs typeface="Times New Roman"/>
                <a:sym typeface="Times New Roman"/>
              </a:rPr>
              <a:t>MPI : I/O Bottleneck with Single-Rank File Reading</a:t>
            </a:r>
            <a:endParaRPr>
              <a:solidFill>
                <a:srgbClr val="000000"/>
              </a:solidFill>
              <a:latin typeface="Times New Roman"/>
              <a:ea typeface="Times New Roman"/>
              <a:cs typeface="Times New Roman"/>
              <a:sym typeface="Times New Roman"/>
            </a:endParaRPr>
          </a:p>
          <a:p>
            <a:pPr indent="-317500" lvl="1" marL="914400" rtl="0" algn="l">
              <a:spcBef>
                <a:spcPts val="0"/>
              </a:spcBef>
              <a:spcAft>
                <a:spcPts val="0"/>
              </a:spcAft>
              <a:buClr>
                <a:srgbClr val="000000"/>
              </a:buClr>
              <a:buSzPts val="1400"/>
              <a:buFont typeface="Times New Roman"/>
              <a:buChar char="○"/>
            </a:pPr>
            <a:r>
              <a:rPr lang="en-GB">
                <a:solidFill>
                  <a:srgbClr val="000000"/>
                </a:solidFill>
                <a:latin typeface="Times New Roman"/>
                <a:ea typeface="Times New Roman"/>
                <a:cs typeface="Times New Roman"/>
                <a:sym typeface="Times New Roman"/>
              </a:rPr>
              <a:t>Broadcasting data from Rank 0 is slow, implemented Parallel I/O where each rank seekg to its offset and reads concurrently</a:t>
            </a:r>
            <a:endParaRPr>
              <a:solidFill>
                <a:srgbClr val="000000"/>
              </a:solidFill>
              <a:latin typeface="Times New Roman"/>
              <a:ea typeface="Times New Roman"/>
              <a:cs typeface="Times New Roman"/>
              <a:sym typeface="Times New Roman"/>
            </a:endParaRPr>
          </a:p>
          <a:p>
            <a:pPr indent="-342900" lvl="0" marL="457200" rtl="0" algn="l">
              <a:spcBef>
                <a:spcPts val="0"/>
              </a:spcBef>
              <a:spcAft>
                <a:spcPts val="0"/>
              </a:spcAft>
              <a:buClr>
                <a:srgbClr val="000000"/>
              </a:buClr>
              <a:buSzPts val="1800"/>
              <a:buFont typeface="Times New Roman"/>
              <a:buChar char="●"/>
            </a:pPr>
            <a:r>
              <a:rPr lang="en-GB">
                <a:solidFill>
                  <a:srgbClr val="000000"/>
                </a:solidFill>
                <a:latin typeface="Times New Roman"/>
                <a:ea typeface="Times New Roman"/>
                <a:cs typeface="Times New Roman"/>
                <a:sym typeface="Times New Roman"/>
              </a:rPr>
              <a:t>CUDA : Standard GPU reduction often relies on thrust::sort O(Nlog N) to group keys because std::map is unavailable on devices. </a:t>
            </a:r>
            <a:endParaRPr>
              <a:solidFill>
                <a:srgbClr val="000000"/>
              </a:solidFill>
              <a:latin typeface="Times New Roman"/>
              <a:ea typeface="Times New Roman"/>
              <a:cs typeface="Times New Roman"/>
              <a:sym typeface="Times New Roman"/>
            </a:endParaRPr>
          </a:p>
          <a:p>
            <a:pPr indent="-317500" lvl="1" marL="914400" rtl="0" algn="l">
              <a:spcBef>
                <a:spcPts val="0"/>
              </a:spcBef>
              <a:spcAft>
                <a:spcPts val="0"/>
              </a:spcAft>
              <a:buClr>
                <a:srgbClr val="000000"/>
              </a:buClr>
              <a:buSzPts val="1400"/>
              <a:buFont typeface="Times New Roman"/>
              <a:buChar char="○"/>
            </a:pPr>
            <a:r>
              <a:rPr lang="en-GB" sz="1100">
                <a:solidFill>
                  <a:srgbClr val="000000"/>
                </a:solidFill>
                <a:latin typeface="Arial"/>
                <a:ea typeface="Arial"/>
                <a:cs typeface="Arial"/>
                <a:sym typeface="Arial"/>
              </a:rPr>
              <a:t>Implemented a custom Hash Table with MurmurHash3 and Linear Probing.Used </a:t>
            </a:r>
            <a:r>
              <a:rPr lang="en-GB" sz="1100">
                <a:solidFill>
                  <a:srgbClr val="000000"/>
                </a:solidFill>
                <a:latin typeface="Roboto Mono"/>
                <a:ea typeface="Roboto Mono"/>
                <a:cs typeface="Roboto Mono"/>
                <a:sym typeface="Roboto Mono"/>
              </a:rPr>
              <a:t>atomicCAS</a:t>
            </a:r>
            <a:r>
              <a:rPr lang="en-GB" sz="1100">
                <a:solidFill>
                  <a:srgbClr val="000000"/>
                </a:solidFill>
                <a:latin typeface="Arial"/>
                <a:ea typeface="Arial"/>
                <a:cs typeface="Arial"/>
                <a:sym typeface="Arial"/>
              </a:rPr>
              <a:t> to construct (Key, List&lt;Values&gt;) groups in parallel, achieving O(N) average complexity and bypassing the sorting phase.</a:t>
            </a:r>
            <a:endParaRPr>
              <a:solidFill>
                <a:srgbClr val="000000"/>
              </a:solidFill>
              <a:latin typeface="Times New Roman"/>
              <a:ea typeface="Times New Roman"/>
              <a:cs typeface="Times New Roman"/>
              <a:sym typeface="Times New Roman"/>
            </a:endParaRPr>
          </a:p>
        </p:txBody>
      </p:sp>
      <p:sp>
        <p:nvSpPr>
          <p:cNvPr id="280" name="Google Shape;280;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Platform</a:t>
            </a:r>
            <a:endParaRPr/>
          </a:p>
        </p:txBody>
      </p:sp>
      <p:sp>
        <p:nvSpPr>
          <p:cNvPr id="286" name="Google Shape;286;p23"/>
          <p:cNvSpPr txBox="1"/>
          <p:nvPr>
            <p:ph idx="1" type="body"/>
          </p:nvPr>
        </p:nvSpPr>
        <p:spPr>
          <a:xfrm>
            <a:off x="311700" y="1266325"/>
            <a:ext cx="8520600" cy="3302700"/>
          </a:xfrm>
          <a:prstGeom prst="rect">
            <a:avLst/>
          </a:prstGeom>
          <a:ln>
            <a:noFill/>
          </a:ln>
        </p:spPr>
        <p:txBody>
          <a:bodyPr anchorCtr="0" anchor="t" bIns="91425" lIns="91425" spcFirstLastPara="1" rIns="91425" wrap="square" tIns="91425">
            <a:normAutofit/>
          </a:bodyPr>
          <a:lstStyle/>
          <a:p>
            <a:pPr indent="-342900" lvl="0" marL="457200" rtl="0" algn="l">
              <a:spcBef>
                <a:spcPts val="0"/>
              </a:spcBef>
              <a:spcAft>
                <a:spcPts val="0"/>
              </a:spcAft>
              <a:buClr>
                <a:srgbClr val="141413"/>
              </a:buClr>
              <a:buSzPts val="1800"/>
              <a:buFont typeface="Times New Roman"/>
              <a:buChar char="●"/>
            </a:pPr>
            <a:r>
              <a:rPr lang="en-GB">
                <a:solidFill>
                  <a:srgbClr val="141413"/>
                </a:solidFill>
                <a:latin typeface="Times New Roman"/>
                <a:ea typeface="Times New Roman"/>
                <a:cs typeface="Times New Roman"/>
                <a:sym typeface="Times New Roman"/>
              </a:rPr>
              <a:t>Environment : Windows Subsystem for Linux 2 (WSL 2)</a:t>
            </a:r>
            <a:endParaRPr>
              <a:solidFill>
                <a:srgbClr val="141413"/>
              </a:solidFill>
              <a:latin typeface="Times New Roman"/>
              <a:ea typeface="Times New Roman"/>
              <a:cs typeface="Times New Roman"/>
              <a:sym typeface="Times New Roman"/>
            </a:endParaRPr>
          </a:p>
          <a:p>
            <a:pPr indent="-342900" lvl="0" marL="457200" rtl="0" algn="l">
              <a:spcBef>
                <a:spcPts val="0"/>
              </a:spcBef>
              <a:spcAft>
                <a:spcPts val="0"/>
              </a:spcAft>
              <a:buClr>
                <a:srgbClr val="141413"/>
              </a:buClr>
              <a:buSzPts val="1800"/>
              <a:buFont typeface="Times New Roman"/>
              <a:buChar char="●"/>
            </a:pPr>
            <a:r>
              <a:rPr lang="en-GB">
                <a:solidFill>
                  <a:srgbClr val="141413"/>
                </a:solidFill>
                <a:latin typeface="Times New Roman"/>
                <a:ea typeface="Times New Roman"/>
                <a:cs typeface="Times New Roman"/>
                <a:sym typeface="Times New Roman"/>
              </a:rPr>
              <a:t>OS : </a:t>
            </a:r>
            <a:r>
              <a:rPr lang="en-GB">
                <a:solidFill>
                  <a:srgbClr val="141413"/>
                </a:solidFill>
                <a:latin typeface="Times New Roman"/>
                <a:ea typeface="Times New Roman"/>
                <a:cs typeface="Times New Roman"/>
                <a:sym typeface="Times New Roman"/>
              </a:rPr>
              <a:t>Ubuntu 24.04.3 LTS</a:t>
            </a:r>
            <a:endParaRPr>
              <a:solidFill>
                <a:srgbClr val="141413"/>
              </a:solidFill>
              <a:latin typeface="Times New Roman"/>
              <a:ea typeface="Times New Roman"/>
              <a:cs typeface="Times New Roman"/>
              <a:sym typeface="Times New Roman"/>
            </a:endParaRPr>
          </a:p>
          <a:p>
            <a:pPr indent="-342900" lvl="0" marL="457200" rtl="0" algn="l">
              <a:spcBef>
                <a:spcPts val="0"/>
              </a:spcBef>
              <a:spcAft>
                <a:spcPts val="0"/>
              </a:spcAft>
              <a:buClr>
                <a:srgbClr val="141413"/>
              </a:buClr>
              <a:buSzPts val="1800"/>
              <a:buFont typeface="Times New Roman"/>
              <a:buChar char="●"/>
            </a:pPr>
            <a:r>
              <a:rPr lang="en-GB">
                <a:solidFill>
                  <a:srgbClr val="141413"/>
                </a:solidFill>
                <a:latin typeface="Times New Roman"/>
                <a:ea typeface="Times New Roman"/>
                <a:cs typeface="Times New Roman"/>
                <a:sym typeface="Times New Roman"/>
              </a:rPr>
              <a:t>Kernel : 6.6.87.2-microsoft-standard-WSL2</a:t>
            </a:r>
            <a:endParaRPr>
              <a:solidFill>
                <a:srgbClr val="141413"/>
              </a:solidFill>
              <a:latin typeface="Times New Roman"/>
              <a:ea typeface="Times New Roman"/>
              <a:cs typeface="Times New Roman"/>
              <a:sym typeface="Times New Roman"/>
            </a:endParaRPr>
          </a:p>
          <a:p>
            <a:pPr indent="-342900" lvl="0" marL="457200" rtl="0" algn="l">
              <a:spcBef>
                <a:spcPts val="0"/>
              </a:spcBef>
              <a:spcAft>
                <a:spcPts val="0"/>
              </a:spcAft>
              <a:buClr>
                <a:srgbClr val="141413"/>
              </a:buClr>
              <a:buSzPts val="1800"/>
              <a:buFont typeface="Times New Roman"/>
              <a:buChar char="●"/>
            </a:pPr>
            <a:r>
              <a:rPr lang="en-GB">
                <a:solidFill>
                  <a:srgbClr val="141413"/>
                </a:solidFill>
                <a:latin typeface="Times New Roman"/>
                <a:ea typeface="Times New Roman"/>
                <a:cs typeface="Times New Roman"/>
                <a:sym typeface="Times New Roman"/>
              </a:rPr>
              <a:t>CPU : 13th Gen Intel(R) Core(TM) i5-13500HX core 14 process 20</a:t>
            </a:r>
            <a:endParaRPr>
              <a:solidFill>
                <a:srgbClr val="141413"/>
              </a:solidFill>
              <a:latin typeface="Times New Roman"/>
              <a:ea typeface="Times New Roman"/>
              <a:cs typeface="Times New Roman"/>
              <a:sym typeface="Times New Roman"/>
            </a:endParaRPr>
          </a:p>
          <a:p>
            <a:pPr indent="-342900" lvl="0" marL="457200" rtl="0" algn="l">
              <a:spcBef>
                <a:spcPts val="0"/>
              </a:spcBef>
              <a:spcAft>
                <a:spcPts val="0"/>
              </a:spcAft>
              <a:buClr>
                <a:srgbClr val="141413"/>
              </a:buClr>
              <a:buSzPts val="1800"/>
              <a:buFont typeface="Times New Roman"/>
              <a:buChar char="●"/>
            </a:pPr>
            <a:r>
              <a:rPr lang="en-GB">
                <a:solidFill>
                  <a:srgbClr val="141413"/>
                </a:solidFill>
                <a:latin typeface="Times New Roman"/>
                <a:ea typeface="Times New Roman"/>
                <a:cs typeface="Times New Roman"/>
                <a:sym typeface="Times New Roman"/>
              </a:rPr>
              <a:t>GPU : NVIDIA GeForce RTX 4060 (CUDA 13.0)</a:t>
            </a:r>
            <a:endParaRPr>
              <a:solidFill>
                <a:srgbClr val="141413"/>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rgbClr val="141413"/>
              </a:solidFill>
              <a:latin typeface="Times New Roman"/>
              <a:ea typeface="Times New Roman"/>
              <a:cs typeface="Times New Roman"/>
              <a:sym typeface="Times New Roman"/>
            </a:endParaRPr>
          </a:p>
        </p:txBody>
      </p:sp>
      <p:sp>
        <p:nvSpPr>
          <p:cNvPr id="287" name="Google Shape;287;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Dataset</a:t>
            </a:r>
            <a:endParaRPr/>
          </a:p>
        </p:txBody>
      </p:sp>
      <p:sp>
        <p:nvSpPr>
          <p:cNvPr id="293" name="Google Shape;293;p2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141413"/>
              </a:buClr>
              <a:buSzPts val="1800"/>
              <a:buFont typeface="Times New Roman"/>
              <a:buChar char="●"/>
            </a:pPr>
            <a:r>
              <a:rPr lang="en-GB">
                <a:solidFill>
                  <a:srgbClr val="141413"/>
                </a:solidFill>
                <a:latin typeface="Times New Roman"/>
                <a:ea typeface="Times New Roman"/>
                <a:cs typeface="Times New Roman"/>
                <a:sym typeface="Times New Roman"/>
              </a:rPr>
              <a:t>Dataset </a:t>
            </a:r>
            <a:endParaRPr>
              <a:solidFill>
                <a:srgbClr val="141413"/>
              </a:solidFill>
              <a:latin typeface="Times New Roman"/>
              <a:ea typeface="Times New Roman"/>
              <a:cs typeface="Times New Roman"/>
              <a:sym typeface="Times New Roman"/>
            </a:endParaRPr>
          </a:p>
          <a:p>
            <a:pPr indent="-317500" lvl="1" marL="914400" rtl="0" algn="l">
              <a:spcBef>
                <a:spcPts val="0"/>
              </a:spcBef>
              <a:spcAft>
                <a:spcPts val="0"/>
              </a:spcAft>
              <a:buClr>
                <a:srgbClr val="141413"/>
              </a:buClr>
              <a:buSzPts val="1400"/>
              <a:buFont typeface="Times New Roman"/>
              <a:buChar char="○"/>
            </a:pPr>
            <a:r>
              <a:rPr lang="en-GB" sz="1800">
                <a:solidFill>
                  <a:srgbClr val="141413"/>
                </a:solidFill>
                <a:latin typeface="Times New Roman"/>
                <a:ea typeface="Times New Roman"/>
                <a:cs typeface="Times New Roman"/>
                <a:sym typeface="Times New Roman"/>
              </a:rPr>
              <a:t>pg11.txt : </a:t>
            </a:r>
            <a:r>
              <a:rPr lang="en-GB" sz="1800">
                <a:solidFill>
                  <a:srgbClr val="141413"/>
                </a:solidFill>
                <a:latin typeface="Times New Roman"/>
                <a:ea typeface="Times New Roman"/>
                <a:cs typeface="Times New Roman"/>
                <a:sym typeface="Times New Roman"/>
              </a:rPr>
              <a:t>Small (170 KB) </a:t>
            </a:r>
            <a:endParaRPr sz="1800">
              <a:solidFill>
                <a:srgbClr val="141413"/>
              </a:solidFill>
              <a:latin typeface="Times New Roman"/>
              <a:ea typeface="Times New Roman"/>
              <a:cs typeface="Times New Roman"/>
              <a:sym typeface="Times New Roman"/>
            </a:endParaRPr>
          </a:p>
          <a:p>
            <a:pPr indent="-317500" lvl="1" marL="914400" rtl="0" algn="l">
              <a:spcBef>
                <a:spcPts val="0"/>
              </a:spcBef>
              <a:spcAft>
                <a:spcPts val="0"/>
              </a:spcAft>
              <a:buClr>
                <a:srgbClr val="141413"/>
              </a:buClr>
              <a:buSzPts val="1400"/>
              <a:buFont typeface="Times New Roman"/>
              <a:buChar char="○"/>
            </a:pPr>
            <a:r>
              <a:rPr lang="en-GB" sz="1800">
                <a:solidFill>
                  <a:srgbClr val="141413"/>
                </a:solidFill>
                <a:latin typeface="Times New Roman"/>
                <a:ea typeface="Times New Roman"/>
                <a:cs typeface="Times New Roman"/>
                <a:sym typeface="Times New Roman"/>
              </a:rPr>
              <a:t>text8.txt : Medium (100 MB)</a:t>
            </a:r>
            <a:endParaRPr sz="1800">
              <a:solidFill>
                <a:srgbClr val="141413"/>
              </a:solidFill>
              <a:latin typeface="Times New Roman"/>
              <a:ea typeface="Times New Roman"/>
              <a:cs typeface="Times New Roman"/>
              <a:sym typeface="Times New Roman"/>
            </a:endParaRPr>
          </a:p>
          <a:p>
            <a:pPr indent="-317500" lvl="1" marL="914400" rtl="0" algn="l">
              <a:spcBef>
                <a:spcPts val="0"/>
              </a:spcBef>
              <a:spcAft>
                <a:spcPts val="0"/>
              </a:spcAft>
              <a:buClr>
                <a:srgbClr val="141413"/>
              </a:buClr>
              <a:buSzPts val="1400"/>
              <a:buFont typeface="Times New Roman"/>
              <a:buChar char="○"/>
            </a:pPr>
            <a:r>
              <a:rPr lang="en-GB" sz="1800">
                <a:solidFill>
                  <a:srgbClr val="141413"/>
                </a:solidFill>
                <a:latin typeface="Times New Roman"/>
                <a:ea typeface="Times New Roman"/>
                <a:cs typeface="Times New Roman"/>
                <a:sym typeface="Times New Roman"/>
              </a:rPr>
              <a:t>enwik9.txt : Large(1GB)</a:t>
            </a:r>
            <a:endParaRPr sz="1800">
              <a:solidFill>
                <a:srgbClr val="141413"/>
              </a:solidFill>
              <a:latin typeface="Times New Roman"/>
              <a:ea typeface="Times New Roman"/>
              <a:cs typeface="Times New Roman"/>
              <a:sym typeface="Times New Roman"/>
            </a:endParaRPr>
          </a:p>
        </p:txBody>
      </p:sp>
      <p:sp>
        <p:nvSpPr>
          <p:cNvPr id="294" name="Google Shape;2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Evaluation - Total speed up</a:t>
            </a:r>
            <a:endParaRPr/>
          </a:p>
        </p:txBody>
      </p:sp>
      <p:sp>
        <p:nvSpPr>
          <p:cNvPr id="300" name="Google Shape;300;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301" name="Google Shape;301;p25"/>
          <p:cNvPicPr preferRelativeResize="0"/>
          <p:nvPr/>
        </p:nvPicPr>
        <p:blipFill rotWithShape="1">
          <a:blip r:embed="rId3">
            <a:alphaModFix/>
          </a:blip>
          <a:srcRect b="21171" l="89686" r="0" t="32963"/>
          <a:stretch/>
        </p:blipFill>
        <p:spPr>
          <a:xfrm>
            <a:off x="7267725" y="146800"/>
            <a:ext cx="1264077" cy="1303850"/>
          </a:xfrm>
          <a:prstGeom prst="rect">
            <a:avLst/>
          </a:prstGeom>
          <a:noFill/>
          <a:ln>
            <a:noFill/>
          </a:ln>
        </p:spPr>
      </p:pic>
      <p:pic>
        <p:nvPicPr>
          <p:cNvPr id="302" name="Google Shape;302;p25"/>
          <p:cNvPicPr preferRelativeResize="0"/>
          <p:nvPr/>
        </p:nvPicPr>
        <p:blipFill rotWithShape="1">
          <a:blip r:embed="rId4">
            <a:alphaModFix/>
          </a:blip>
          <a:srcRect b="0" l="0" r="21148" t="0"/>
          <a:stretch/>
        </p:blipFill>
        <p:spPr>
          <a:xfrm>
            <a:off x="94713" y="1450650"/>
            <a:ext cx="8954573" cy="26338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Evaluation - [Map] speed up</a:t>
            </a:r>
            <a:endParaRPr/>
          </a:p>
        </p:txBody>
      </p:sp>
      <p:sp>
        <p:nvSpPr>
          <p:cNvPr id="308" name="Google Shape;308;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309" name="Google Shape;309;p26"/>
          <p:cNvPicPr preferRelativeResize="0"/>
          <p:nvPr/>
        </p:nvPicPr>
        <p:blipFill rotWithShape="1">
          <a:blip r:embed="rId3">
            <a:alphaModFix/>
          </a:blip>
          <a:srcRect b="20295" l="89824" r="0" t="33839"/>
          <a:stretch/>
        </p:blipFill>
        <p:spPr>
          <a:xfrm>
            <a:off x="7249575" y="163325"/>
            <a:ext cx="1357199" cy="1418842"/>
          </a:xfrm>
          <a:prstGeom prst="rect">
            <a:avLst/>
          </a:prstGeom>
          <a:noFill/>
          <a:ln>
            <a:noFill/>
          </a:ln>
        </p:spPr>
      </p:pic>
      <p:pic>
        <p:nvPicPr>
          <p:cNvPr id="310" name="Google Shape;310;p26"/>
          <p:cNvPicPr preferRelativeResize="0"/>
          <p:nvPr/>
        </p:nvPicPr>
        <p:blipFill rotWithShape="1">
          <a:blip r:embed="rId4">
            <a:alphaModFix/>
          </a:blip>
          <a:srcRect b="0" l="0" r="21054" t="0"/>
          <a:stretch/>
        </p:blipFill>
        <p:spPr>
          <a:xfrm>
            <a:off x="135575" y="1546700"/>
            <a:ext cx="8885576" cy="261042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Evaluation - [Shuffle] speed up</a:t>
            </a:r>
            <a:endParaRPr/>
          </a:p>
        </p:txBody>
      </p:sp>
      <p:sp>
        <p:nvSpPr>
          <p:cNvPr id="316" name="Google Shape;316;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317" name="Google Shape;317;p27"/>
          <p:cNvPicPr preferRelativeResize="0"/>
          <p:nvPr/>
        </p:nvPicPr>
        <p:blipFill rotWithShape="1">
          <a:blip r:embed="rId3">
            <a:alphaModFix/>
          </a:blip>
          <a:srcRect b="23042" l="90094" r="0" t="33708"/>
          <a:stretch/>
        </p:blipFill>
        <p:spPr>
          <a:xfrm>
            <a:off x="7493825" y="210677"/>
            <a:ext cx="1338476" cy="1364000"/>
          </a:xfrm>
          <a:prstGeom prst="rect">
            <a:avLst/>
          </a:prstGeom>
          <a:noFill/>
          <a:ln>
            <a:noFill/>
          </a:ln>
        </p:spPr>
      </p:pic>
      <p:pic>
        <p:nvPicPr>
          <p:cNvPr id="318" name="Google Shape;318;p27"/>
          <p:cNvPicPr preferRelativeResize="0"/>
          <p:nvPr/>
        </p:nvPicPr>
        <p:blipFill rotWithShape="1">
          <a:blip r:embed="rId4">
            <a:alphaModFix/>
          </a:blip>
          <a:srcRect b="0" l="0" r="21531" t="0"/>
          <a:stretch/>
        </p:blipFill>
        <p:spPr>
          <a:xfrm>
            <a:off x="76700" y="1752300"/>
            <a:ext cx="8944451" cy="266035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Evaluation - [Reduce] speed up</a:t>
            </a:r>
            <a:endParaRPr/>
          </a:p>
        </p:txBody>
      </p:sp>
      <p:sp>
        <p:nvSpPr>
          <p:cNvPr id="324" name="Google Shape;324;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325" name="Google Shape;325;p28"/>
          <p:cNvPicPr preferRelativeResize="0"/>
          <p:nvPr/>
        </p:nvPicPr>
        <p:blipFill rotWithShape="1">
          <a:blip r:embed="rId3">
            <a:alphaModFix/>
          </a:blip>
          <a:srcRect b="24604" l="90785" r="0" t="33571"/>
          <a:stretch/>
        </p:blipFill>
        <p:spPr>
          <a:xfrm>
            <a:off x="7689200" y="16538"/>
            <a:ext cx="1331948" cy="1399211"/>
          </a:xfrm>
          <a:prstGeom prst="rect">
            <a:avLst/>
          </a:prstGeom>
          <a:noFill/>
          <a:ln>
            <a:noFill/>
          </a:ln>
        </p:spPr>
      </p:pic>
      <p:pic>
        <p:nvPicPr>
          <p:cNvPr id="326" name="Google Shape;326;p28"/>
          <p:cNvPicPr preferRelativeResize="0"/>
          <p:nvPr/>
        </p:nvPicPr>
        <p:blipFill rotWithShape="1">
          <a:blip r:embed="rId4">
            <a:alphaModFix/>
          </a:blip>
          <a:srcRect b="0" l="0" r="21148" t="0"/>
          <a:stretch/>
        </p:blipFill>
        <p:spPr>
          <a:xfrm>
            <a:off x="137625" y="1152425"/>
            <a:ext cx="7002301" cy="2055300"/>
          </a:xfrm>
          <a:prstGeom prst="rect">
            <a:avLst/>
          </a:prstGeom>
          <a:noFill/>
          <a:ln>
            <a:noFill/>
          </a:ln>
        </p:spPr>
      </p:pic>
      <p:pic>
        <p:nvPicPr>
          <p:cNvPr id="327" name="Google Shape;327;p28"/>
          <p:cNvPicPr preferRelativeResize="0"/>
          <p:nvPr/>
        </p:nvPicPr>
        <p:blipFill>
          <a:blip r:embed="rId5">
            <a:alphaModFix/>
          </a:blip>
          <a:stretch>
            <a:fillRect/>
          </a:stretch>
        </p:blipFill>
        <p:spPr>
          <a:xfrm>
            <a:off x="2516650" y="3258250"/>
            <a:ext cx="2763026" cy="1818775"/>
          </a:xfrm>
          <a:prstGeom prst="rect">
            <a:avLst/>
          </a:prstGeom>
          <a:noFill/>
          <a:ln>
            <a:noFill/>
          </a:ln>
        </p:spPr>
      </p:pic>
      <p:pic>
        <p:nvPicPr>
          <p:cNvPr id="328" name="Google Shape;328;p28"/>
          <p:cNvPicPr preferRelativeResize="0"/>
          <p:nvPr/>
        </p:nvPicPr>
        <p:blipFill>
          <a:blip r:embed="rId6">
            <a:alphaModFix/>
          </a:blip>
          <a:stretch>
            <a:fillRect/>
          </a:stretch>
        </p:blipFill>
        <p:spPr>
          <a:xfrm>
            <a:off x="5344200" y="3284413"/>
            <a:ext cx="2683449" cy="1766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Conclusion</a:t>
            </a:r>
            <a:endParaRPr/>
          </a:p>
        </p:txBody>
      </p:sp>
      <p:sp>
        <p:nvSpPr>
          <p:cNvPr id="334" name="Google Shape;334;p29"/>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rgbClr val="000000"/>
              </a:buClr>
              <a:buSzPts val="1500"/>
              <a:buFont typeface="Times New Roman"/>
              <a:buChar char="●"/>
            </a:pPr>
            <a:r>
              <a:rPr b="1" lang="en-GB" sz="1500">
                <a:solidFill>
                  <a:srgbClr val="000000"/>
                </a:solidFill>
                <a:latin typeface="Times New Roman"/>
                <a:ea typeface="Times New Roman"/>
                <a:cs typeface="Times New Roman"/>
                <a:sym typeface="Times New Roman"/>
              </a:rPr>
              <a:t>Performance vs. Dataset Size</a:t>
            </a:r>
            <a:endParaRPr b="1" sz="1500">
              <a:solidFill>
                <a:srgbClr val="000000"/>
              </a:solidFill>
              <a:latin typeface="Times New Roman"/>
              <a:ea typeface="Times New Roman"/>
              <a:cs typeface="Times New Roman"/>
              <a:sym typeface="Times New Roman"/>
            </a:endParaRPr>
          </a:p>
          <a:p>
            <a:pPr indent="-342900" lvl="1" marL="914400" rtl="0" algn="l">
              <a:lnSpc>
                <a:spcPct val="150000"/>
              </a:lnSpc>
              <a:spcBef>
                <a:spcPts val="0"/>
              </a:spcBef>
              <a:spcAft>
                <a:spcPts val="0"/>
              </a:spcAft>
              <a:buClr>
                <a:srgbClr val="000000"/>
              </a:buClr>
              <a:buSzPts val="1800"/>
              <a:buChar char="○"/>
            </a:pPr>
            <a:r>
              <a:rPr b="1" lang="en-GB" sz="1500">
                <a:solidFill>
                  <a:srgbClr val="000000"/>
                </a:solidFill>
                <a:latin typeface="Times New Roman"/>
                <a:ea typeface="Times New Roman"/>
                <a:cs typeface="Times New Roman"/>
                <a:sym typeface="Times New Roman"/>
              </a:rPr>
              <a:t>Parallelization Overhead:</a:t>
            </a:r>
            <a:r>
              <a:rPr lang="en-GB" sz="1500">
                <a:solidFill>
                  <a:srgbClr val="000000"/>
                </a:solidFill>
                <a:latin typeface="Times New Roman"/>
                <a:ea typeface="Times New Roman"/>
                <a:cs typeface="Times New Roman"/>
                <a:sym typeface="Times New Roman"/>
              </a:rPr>
              <a:t> For small datasets (e.g., pg11.txt, 170KB), parallel overhead (thread creation, context switching, memory transfer) outweighs computational benefits. </a:t>
            </a:r>
            <a:endParaRPr sz="1500">
              <a:solidFill>
                <a:srgbClr val="000000"/>
              </a:solidFill>
              <a:latin typeface="Times New Roman"/>
              <a:ea typeface="Times New Roman"/>
              <a:cs typeface="Times New Roman"/>
              <a:sym typeface="Times New Roman"/>
            </a:endParaRPr>
          </a:p>
          <a:p>
            <a:pPr indent="-323850" lvl="0" marL="457200" rtl="0" algn="l">
              <a:lnSpc>
                <a:spcPct val="150000"/>
              </a:lnSpc>
              <a:spcBef>
                <a:spcPts val="0"/>
              </a:spcBef>
              <a:spcAft>
                <a:spcPts val="0"/>
              </a:spcAft>
              <a:buClr>
                <a:srgbClr val="000000"/>
              </a:buClr>
              <a:buSzPts val="1500"/>
              <a:buFont typeface="Times New Roman"/>
              <a:buChar char="●"/>
            </a:pPr>
            <a:r>
              <a:rPr lang="en-GB" sz="1500">
                <a:solidFill>
                  <a:srgbClr val="000000"/>
                </a:solidFill>
                <a:latin typeface="Times New Roman"/>
                <a:ea typeface="Times New Roman"/>
                <a:cs typeface="Times New Roman"/>
                <a:sym typeface="Times New Roman"/>
              </a:rPr>
              <a:t>Key Optimization Strategies </a:t>
            </a:r>
            <a:endParaRPr sz="1500">
              <a:solidFill>
                <a:srgbClr val="000000"/>
              </a:solidFill>
              <a:latin typeface="Times New Roman"/>
              <a:ea typeface="Times New Roman"/>
              <a:cs typeface="Times New Roman"/>
              <a:sym typeface="Times New Roman"/>
            </a:endParaRPr>
          </a:p>
          <a:p>
            <a:pPr indent="-323850" lvl="1" marL="914400" rtl="0" algn="l">
              <a:lnSpc>
                <a:spcPct val="150000"/>
              </a:lnSpc>
              <a:spcBef>
                <a:spcPts val="0"/>
              </a:spcBef>
              <a:spcAft>
                <a:spcPts val="0"/>
              </a:spcAft>
              <a:buClr>
                <a:srgbClr val="000000"/>
              </a:buClr>
              <a:buSzPts val="1500"/>
              <a:buFont typeface="Arial"/>
              <a:buChar char="○"/>
            </a:pPr>
            <a:r>
              <a:rPr b="1" lang="en-GB" sz="1500">
                <a:solidFill>
                  <a:srgbClr val="000000"/>
                </a:solidFill>
                <a:latin typeface="Times New Roman"/>
                <a:ea typeface="Times New Roman"/>
                <a:cs typeface="Times New Roman"/>
                <a:sym typeface="Times New Roman"/>
              </a:rPr>
              <a:t>CPU (Pthread/OpenMP):</a:t>
            </a:r>
            <a:r>
              <a:rPr lang="en-GB" sz="1500">
                <a:solidFill>
                  <a:srgbClr val="000000"/>
                </a:solidFill>
                <a:latin typeface="Times New Roman"/>
                <a:ea typeface="Times New Roman"/>
                <a:cs typeface="Times New Roman"/>
                <a:sym typeface="Times New Roman"/>
              </a:rPr>
              <a:t> </a:t>
            </a:r>
            <a:r>
              <a:rPr b="1" lang="en-GB" sz="1500">
                <a:solidFill>
                  <a:srgbClr val="000000"/>
                </a:solidFill>
                <a:latin typeface="Times New Roman"/>
                <a:ea typeface="Times New Roman"/>
                <a:cs typeface="Times New Roman"/>
                <a:sym typeface="Times New Roman"/>
              </a:rPr>
              <a:t>Eliminated lock contention</a:t>
            </a:r>
            <a:r>
              <a:rPr lang="en-GB" sz="1500">
                <a:solidFill>
                  <a:srgbClr val="000000"/>
                </a:solidFill>
                <a:latin typeface="Times New Roman"/>
                <a:ea typeface="Times New Roman"/>
                <a:cs typeface="Times New Roman"/>
                <a:sym typeface="Times New Roman"/>
              </a:rPr>
              <a:t> on global data structures by implementing </a:t>
            </a:r>
            <a:r>
              <a:rPr b="1" lang="en-GB" sz="1500">
                <a:solidFill>
                  <a:srgbClr val="000000"/>
                </a:solidFill>
                <a:latin typeface="Times New Roman"/>
                <a:ea typeface="Times New Roman"/>
                <a:cs typeface="Times New Roman"/>
                <a:sym typeface="Times New Roman"/>
              </a:rPr>
              <a:t>Thread-Local Storage (TLS)</a:t>
            </a:r>
            <a:r>
              <a:rPr lang="en-GB" sz="1500">
                <a:solidFill>
                  <a:srgbClr val="000000"/>
                </a:solidFill>
                <a:latin typeface="Times New Roman"/>
                <a:ea typeface="Times New Roman"/>
                <a:cs typeface="Times New Roman"/>
                <a:sym typeface="Times New Roman"/>
              </a:rPr>
              <a:t>, merging results only in the Reduce phase.</a:t>
            </a:r>
            <a:endParaRPr sz="1500">
              <a:solidFill>
                <a:srgbClr val="000000"/>
              </a:solidFill>
              <a:latin typeface="Times New Roman"/>
              <a:ea typeface="Times New Roman"/>
              <a:cs typeface="Times New Roman"/>
              <a:sym typeface="Times New Roman"/>
            </a:endParaRPr>
          </a:p>
          <a:p>
            <a:pPr indent="-323850" lvl="1" marL="914400" rtl="0" algn="l">
              <a:lnSpc>
                <a:spcPct val="150000"/>
              </a:lnSpc>
              <a:spcBef>
                <a:spcPts val="0"/>
              </a:spcBef>
              <a:spcAft>
                <a:spcPts val="0"/>
              </a:spcAft>
              <a:buClr>
                <a:srgbClr val="000000"/>
              </a:buClr>
              <a:buSzPts val="1500"/>
              <a:buFont typeface="Arial"/>
              <a:buChar char="○"/>
            </a:pPr>
            <a:r>
              <a:rPr b="1" lang="en-GB" sz="1500">
                <a:solidFill>
                  <a:srgbClr val="000000"/>
                </a:solidFill>
                <a:latin typeface="Times New Roman"/>
                <a:ea typeface="Times New Roman"/>
                <a:cs typeface="Times New Roman"/>
                <a:sym typeface="Times New Roman"/>
              </a:rPr>
              <a:t>Distributed (MPI):</a:t>
            </a:r>
            <a:r>
              <a:rPr lang="en-GB" sz="1500">
                <a:solidFill>
                  <a:srgbClr val="000000"/>
                </a:solidFill>
                <a:latin typeface="Times New Roman"/>
                <a:ea typeface="Times New Roman"/>
                <a:cs typeface="Times New Roman"/>
                <a:sym typeface="Times New Roman"/>
              </a:rPr>
              <a:t> Overcame the single-rank I/O bottleneck by implementing </a:t>
            </a:r>
            <a:r>
              <a:rPr b="1" lang="en-GB" sz="1500">
                <a:solidFill>
                  <a:srgbClr val="000000"/>
                </a:solidFill>
                <a:latin typeface="Times New Roman"/>
                <a:ea typeface="Times New Roman"/>
                <a:cs typeface="Times New Roman"/>
                <a:sym typeface="Times New Roman"/>
              </a:rPr>
              <a:t>Parallel I/O</a:t>
            </a:r>
            <a:r>
              <a:rPr lang="en-GB" sz="1500">
                <a:solidFill>
                  <a:srgbClr val="000000"/>
                </a:solidFill>
                <a:latin typeface="Times New Roman"/>
                <a:ea typeface="Times New Roman"/>
                <a:cs typeface="Times New Roman"/>
                <a:sym typeface="Times New Roman"/>
              </a:rPr>
              <a:t>, allowing all ranks to calculate offsets and read files concurrently.</a:t>
            </a:r>
            <a:endParaRPr sz="1500">
              <a:solidFill>
                <a:srgbClr val="000000"/>
              </a:solidFill>
              <a:latin typeface="Times New Roman"/>
              <a:ea typeface="Times New Roman"/>
              <a:cs typeface="Times New Roman"/>
              <a:sym typeface="Times New Roman"/>
            </a:endParaRPr>
          </a:p>
          <a:p>
            <a:pPr indent="-323850" lvl="1" marL="914400" rtl="0" algn="l">
              <a:lnSpc>
                <a:spcPct val="150000"/>
              </a:lnSpc>
              <a:spcBef>
                <a:spcPts val="0"/>
              </a:spcBef>
              <a:spcAft>
                <a:spcPts val="0"/>
              </a:spcAft>
              <a:buClr>
                <a:srgbClr val="000000"/>
              </a:buClr>
              <a:buSzPts val="1500"/>
              <a:buFont typeface="Arial"/>
              <a:buChar char="○"/>
            </a:pPr>
            <a:r>
              <a:rPr b="1" lang="en-GB" sz="1500">
                <a:solidFill>
                  <a:srgbClr val="000000"/>
                </a:solidFill>
                <a:latin typeface="Times New Roman"/>
                <a:ea typeface="Times New Roman"/>
                <a:cs typeface="Times New Roman"/>
                <a:sym typeface="Times New Roman"/>
              </a:rPr>
              <a:t>GPU (CUDA):</a:t>
            </a:r>
            <a:r>
              <a:rPr lang="en-GB" sz="1500">
                <a:solidFill>
                  <a:srgbClr val="000000"/>
                </a:solidFill>
                <a:latin typeface="Times New Roman"/>
                <a:ea typeface="Times New Roman"/>
                <a:cs typeface="Times New Roman"/>
                <a:sym typeface="Times New Roman"/>
              </a:rPr>
              <a:t> Replaced the standard sorting-based reduction (O(N (log N)) with a custom </a:t>
            </a:r>
            <a:r>
              <a:rPr b="1" lang="en-GB" sz="1500">
                <a:solidFill>
                  <a:srgbClr val="000000"/>
                </a:solidFill>
                <a:latin typeface="Times New Roman"/>
                <a:ea typeface="Times New Roman"/>
                <a:cs typeface="Times New Roman"/>
                <a:sym typeface="Times New Roman"/>
              </a:rPr>
              <a:t>Atomic Hash Table</a:t>
            </a:r>
            <a:r>
              <a:rPr lang="en-GB" sz="1500">
                <a:solidFill>
                  <a:srgbClr val="000000"/>
                </a:solidFill>
                <a:latin typeface="Times New Roman"/>
                <a:ea typeface="Times New Roman"/>
                <a:cs typeface="Times New Roman"/>
                <a:sym typeface="Times New Roman"/>
              </a:rPr>
              <a:t> (O(N)), significantly improving throughput on massive datasets</a:t>
            </a:r>
            <a:endParaRPr sz="1500">
              <a:solidFill>
                <a:srgbClr val="000000"/>
              </a:solidFill>
              <a:latin typeface="Times New Roman"/>
              <a:ea typeface="Times New Roman"/>
              <a:cs typeface="Times New Roman"/>
              <a:sym typeface="Times New Roman"/>
            </a:endParaRPr>
          </a:p>
        </p:txBody>
      </p:sp>
      <p:sp>
        <p:nvSpPr>
          <p:cNvPr id="335" name="Google Shape;335;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Contributions of each member</a:t>
            </a:r>
            <a:endParaRPr/>
          </a:p>
        </p:txBody>
      </p:sp>
      <p:sp>
        <p:nvSpPr>
          <p:cNvPr id="341" name="Google Shape;341;p3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42" name="Google Shape;342;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343" name="Google Shape;343;p30"/>
          <p:cNvGraphicFramePr/>
          <p:nvPr/>
        </p:nvGraphicFramePr>
        <p:xfrm>
          <a:off x="952500" y="1809750"/>
          <a:ext cx="3000000" cy="3000000"/>
        </p:xfrm>
        <a:graphic>
          <a:graphicData uri="http://schemas.openxmlformats.org/drawingml/2006/table">
            <a:tbl>
              <a:tblPr>
                <a:noFill/>
                <a:tableStyleId>{1C0F39EE-F99A-4F2B-8442-29775A05DBA2}</a:tableStyleId>
              </a:tblPr>
              <a:tblGrid>
                <a:gridCol w="3619500"/>
                <a:gridCol w="3619500"/>
              </a:tblGrid>
              <a:tr h="381000">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Team Member</a:t>
                      </a:r>
                      <a:endParaRPr>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Assigned Responsibilities</a:t>
                      </a:r>
                      <a:endParaRPr>
                        <a:latin typeface="Times New Roman"/>
                        <a:ea typeface="Times New Roman"/>
                        <a:cs typeface="Times New Roman"/>
                        <a:sym typeface="Times New Roman"/>
                      </a:endParaRPr>
                    </a:p>
                  </a:txBody>
                  <a:tcPr marT="91425" marB="91425" marR="91425" marL="91425"/>
                </a:tc>
              </a:tr>
              <a:tr h="381000">
                <a:tc>
                  <a:txBody>
                    <a:bodyPr/>
                    <a:lstStyle/>
                    <a:p>
                      <a:pPr indent="0" lvl="0" marL="0" rtl="0" algn="ctr">
                        <a:lnSpc>
                          <a:spcPct val="115000"/>
                        </a:lnSpc>
                        <a:spcBef>
                          <a:spcPts val="0"/>
                        </a:spcBef>
                        <a:spcAft>
                          <a:spcPts val="0"/>
                        </a:spcAft>
                        <a:buNone/>
                      </a:pPr>
                      <a:r>
                        <a:rPr lang="en-GB">
                          <a:solidFill>
                            <a:srgbClr val="141413"/>
                          </a:solidFill>
                          <a:latin typeface="Open Sans"/>
                          <a:ea typeface="Open Sans"/>
                          <a:cs typeface="Open Sans"/>
                          <a:sym typeface="Open Sans"/>
                        </a:rPr>
                        <a:t>陳姿蓉</a:t>
                      </a:r>
                      <a:endParaRPr>
                        <a:solidFill>
                          <a:srgbClr val="141413"/>
                        </a:solidFill>
                      </a:endParaRPr>
                    </a:p>
                  </a:txBody>
                  <a:tcPr marT="91425" marB="91425" marR="91425" marL="91425"/>
                </a:tc>
                <a:tc>
                  <a:txBody>
                    <a:bodyPr/>
                    <a:lstStyle/>
                    <a:p>
                      <a:pPr indent="0" lvl="0" marL="0" rtl="0" algn="l">
                        <a:spcBef>
                          <a:spcPts val="0"/>
                        </a:spcBef>
                        <a:spcAft>
                          <a:spcPts val="0"/>
                        </a:spcAft>
                        <a:buNone/>
                      </a:pPr>
                      <a:r>
                        <a:rPr lang="en-GB">
                          <a:latin typeface="Times New Roman"/>
                          <a:ea typeface="Times New Roman"/>
                          <a:cs typeface="Times New Roman"/>
                          <a:sym typeface="Times New Roman"/>
                        </a:rPr>
                        <a:t>簡報製作</a:t>
                      </a:r>
                      <a:r>
                        <a:rPr lang="en-GB">
                          <a:latin typeface="Times New Roman"/>
                          <a:ea typeface="Times New Roman"/>
                          <a:cs typeface="Times New Roman"/>
                          <a:sym typeface="Times New Roman"/>
                        </a:rPr>
                        <a:t>, </a:t>
                      </a:r>
                      <a:r>
                        <a:rPr lang="en-GB">
                          <a:latin typeface="Times New Roman"/>
                          <a:ea typeface="Times New Roman"/>
                          <a:cs typeface="Times New Roman"/>
                          <a:sym typeface="Times New Roman"/>
                        </a:rPr>
                        <a:t>O</a:t>
                      </a:r>
                      <a:r>
                        <a:rPr lang="en-GB">
                          <a:latin typeface="Times New Roman"/>
                          <a:ea typeface="Times New Roman"/>
                          <a:cs typeface="Times New Roman"/>
                          <a:sym typeface="Times New Roman"/>
                        </a:rPr>
                        <a:t>penMP,Pthread</a:t>
                      </a:r>
                      <a:endParaRPr>
                        <a:latin typeface="Times New Roman"/>
                        <a:ea typeface="Times New Roman"/>
                        <a:cs typeface="Times New Roman"/>
                        <a:sym typeface="Times New Roman"/>
                      </a:endParaRPr>
                    </a:p>
                  </a:txBody>
                  <a:tcPr marT="91425" marB="91425" marR="91425" marL="91425"/>
                </a:tc>
              </a:tr>
              <a:tr h="382200">
                <a:tc>
                  <a:txBody>
                    <a:bodyPr/>
                    <a:lstStyle/>
                    <a:p>
                      <a:pPr indent="0" lvl="0" marL="0" rtl="0" algn="ctr">
                        <a:lnSpc>
                          <a:spcPct val="115000"/>
                        </a:lnSpc>
                        <a:spcBef>
                          <a:spcPts val="0"/>
                        </a:spcBef>
                        <a:spcAft>
                          <a:spcPts val="0"/>
                        </a:spcAft>
                        <a:buNone/>
                      </a:pPr>
                      <a:r>
                        <a:rPr lang="en-GB">
                          <a:solidFill>
                            <a:srgbClr val="141413"/>
                          </a:solidFill>
                          <a:latin typeface="Open Sans"/>
                          <a:ea typeface="Open Sans"/>
                          <a:cs typeface="Open Sans"/>
                          <a:sym typeface="Open Sans"/>
                        </a:rPr>
                        <a:t>林孝欣</a:t>
                      </a:r>
                      <a:endParaRPr>
                        <a:solidFill>
                          <a:srgbClr val="141413"/>
                        </a:solidFill>
                      </a:endParaRPr>
                    </a:p>
                  </a:txBody>
                  <a:tcPr marT="91425" marB="91425" marR="91425" marL="91425"/>
                </a:tc>
                <a:tc>
                  <a:txBody>
                    <a:bodyPr/>
                    <a:lstStyle/>
                    <a:p>
                      <a:pPr indent="0" lvl="0" marL="0" rtl="0" algn="l">
                        <a:spcBef>
                          <a:spcPts val="0"/>
                        </a:spcBef>
                        <a:spcAft>
                          <a:spcPts val="0"/>
                        </a:spcAft>
                        <a:buNone/>
                      </a:pPr>
                      <a:r>
                        <a:rPr lang="en-GB">
                          <a:latin typeface="Times New Roman"/>
                          <a:ea typeface="Times New Roman"/>
                          <a:cs typeface="Times New Roman"/>
                          <a:sym typeface="Times New Roman"/>
                        </a:rPr>
                        <a:t>簡報製作</a:t>
                      </a:r>
                      <a:r>
                        <a:rPr lang="en-GB">
                          <a:latin typeface="Times New Roman"/>
                          <a:ea typeface="Times New Roman"/>
                          <a:cs typeface="Times New Roman"/>
                          <a:sym typeface="Times New Roman"/>
                        </a:rPr>
                        <a:t>,</a:t>
                      </a:r>
                      <a:r>
                        <a:rPr lang="en-GB">
                          <a:latin typeface="Times New Roman"/>
                          <a:ea typeface="Times New Roman"/>
                          <a:cs typeface="Times New Roman"/>
                          <a:sym typeface="Times New Roman"/>
                        </a:rPr>
                        <a:t> </a:t>
                      </a:r>
                      <a:r>
                        <a:rPr lang="en-GB">
                          <a:latin typeface="Times New Roman"/>
                          <a:ea typeface="Times New Roman"/>
                          <a:cs typeface="Times New Roman"/>
                          <a:sym typeface="Times New Roman"/>
                        </a:rPr>
                        <a:t>CUDA</a:t>
                      </a:r>
                      <a:endParaRPr>
                        <a:latin typeface="Times New Roman"/>
                        <a:ea typeface="Times New Roman"/>
                        <a:cs typeface="Times New Roman"/>
                        <a:sym typeface="Times New Roman"/>
                      </a:endParaRPr>
                    </a:p>
                  </a:txBody>
                  <a:tcPr marT="91425" marB="91425" marR="91425" marL="91425"/>
                </a:tc>
              </a:tr>
              <a:tr h="381000">
                <a:tc>
                  <a:txBody>
                    <a:bodyPr/>
                    <a:lstStyle/>
                    <a:p>
                      <a:pPr indent="0" lvl="0" marL="0" rtl="0" algn="ctr">
                        <a:spcBef>
                          <a:spcPts val="0"/>
                        </a:spcBef>
                        <a:spcAft>
                          <a:spcPts val="0"/>
                        </a:spcAft>
                        <a:buNone/>
                      </a:pPr>
                      <a:r>
                        <a:rPr lang="en-GB">
                          <a:solidFill>
                            <a:srgbClr val="141413"/>
                          </a:solidFill>
                          <a:latin typeface="Open Sans"/>
                          <a:ea typeface="Open Sans"/>
                          <a:cs typeface="Open Sans"/>
                          <a:sym typeface="Open Sans"/>
                        </a:rPr>
                        <a:t>朱冠熙</a:t>
                      </a:r>
                      <a:endParaRPr>
                        <a:solidFill>
                          <a:srgbClr val="141413"/>
                        </a:solidFill>
                      </a:endParaRPr>
                    </a:p>
                  </a:txBody>
                  <a:tcPr marT="91425" marB="91425" marR="91425" marL="91425"/>
                </a:tc>
                <a:tc>
                  <a:txBody>
                    <a:bodyPr/>
                    <a:lstStyle/>
                    <a:p>
                      <a:pPr indent="0" lvl="0" marL="0" rtl="0" algn="l">
                        <a:spcBef>
                          <a:spcPts val="0"/>
                        </a:spcBef>
                        <a:spcAft>
                          <a:spcPts val="0"/>
                        </a:spcAft>
                        <a:buNone/>
                      </a:pPr>
                      <a:r>
                        <a:rPr lang="en-GB">
                          <a:latin typeface="Times New Roman"/>
                          <a:ea typeface="Times New Roman"/>
                          <a:cs typeface="Times New Roman"/>
                          <a:sym typeface="Times New Roman"/>
                        </a:rPr>
                        <a:t>簡報製作</a:t>
                      </a:r>
                      <a:r>
                        <a:rPr lang="en-GB">
                          <a:latin typeface="Times New Roman"/>
                          <a:ea typeface="Times New Roman"/>
                          <a:cs typeface="Times New Roman"/>
                          <a:sym typeface="Times New Roman"/>
                        </a:rPr>
                        <a:t>,</a:t>
                      </a:r>
                      <a:r>
                        <a:rPr lang="en-GB">
                          <a:latin typeface="Times New Roman"/>
                          <a:ea typeface="Times New Roman"/>
                          <a:cs typeface="Times New Roman"/>
                          <a:sym typeface="Times New Roman"/>
                        </a:rPr>
                        <a:t> </a:t>
                      </a:r>
                      <a:r>
                        <a:rPr lang="en-GB">
                          <a:latin typeface="Times New Roman"/>
                          <a:ea typeface="Times New Roman"/>
                          <a:cs typeface="Times New Roman"/>
                          <a:sym typeface="Times New Roman"/>
                        </a:rPr>
                        <a:t>MPI</a:t>
                      </a:r>
                      <a:endParaRPr>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1"/>
          <p:cNvSpPr txBox="1"/>
          <p:nvPr>
            <p:ph type="title"/>
          </p:nvPr>
        </p:nvSpPr>
        <p:spPr>
          <a:xfrm>
            <a:off x="311700" y="1606050"/>
            <a:ext cx="8520600" cy="193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GB" sz="7000"/>
              <a:t>Q &amp; A</a:t>
            </a:r>
            <a:endParaRPr sz="7000"/>
          </a:p>
        </p:txBody>
      </p:sp>
      <p:sp>
        <p:nvSpPr>
          <p:cNvPr id="349" name="Google Shape;349;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Reference</a:t>
            </a:r>
            <a:endParaRPr/>
          </a:p>
        </p:txBody>
      </p:sp>
      <p:sp>
        <p:nvSpPr>
          <p:cNvPr id="355" name="Google Shape;355;p32"/>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latin typeface="Times New Roman"/>
                <a:ea typeface="Times New Roman"/>
                <a:cs typeface="Times New Roman"/>
                <a:sym typeface="Times New Roman"/>
              </a:rPr>
              <a:t>Dataset:</a:t>
            </a:r>
            <a:endParaRPr>
              <a:latin typeface="Times New Roman"/>
              <a:ea typeface="Times New Roman"/>
              <a:cs typeface="Times New Roman"/>
              <a:sym typeface="Times New Roman"/>
            </a:endParaRPr>
          </a:p>
          <a:p>
            <a:pPr indent="0" lvl="0" marL="0" rtl="0" algn="l">
              <a:spcBef>
                <a:spcPts val="1200"/>
              </a:spcBef>
              <a:spcAft>
                <a:spcPts val="0"/>
              </a:spcAft>
              <a:buNone/>
            </a:pPr>
            <a:r>
              <a:rPr lang="en-GB">
                <a:latin typeface="Times New Roman"/>
                <a:ea typeface="Times New Roman"/>
                <a:cs typeface="Times New Roman"/>
                <a:sym typeface="Times New Roman"/>
              </a:rPr>
              <a:t>Small (170 KB) : </a:t>
            </a:r>
            <a:endParaRPr>
              <a:latin typeface="Times New Roman"/>
              <a:ea typeface="Times New Roman"/>
              <a:cs typeface="Times New Roman"/>
              <a:sym typeface="Times New Roman"/>
            </a:endParaRPr>
          </a:p>
          <a:p>
            <a:pPr indent="0" lvl="0" marL="0" rtl="0" algn="l">
              <a:spcBef>
                <a:spcPts val="1200"/>
              </a:spcBef>
              <a:spcAft>
                <a:spcPts val="0"/>
              </a:spcAft>
              <a:buNone/>
            </a:pPr>
            <a:r>
              <a:rPr lang="en-GB">
                <a:latin typeface="Times New Roman"/>
                <a:ea typeface="Times New Roman"/>
                <a:cs typeface="Times New Roman"/>
                <a:sym typeface="Times New Roman"/>
              </a:rPr>
              <a:t> </a:t>
            </a:r>
            <a:r>
              <a:rPr lang="en-GB" u="sng">
                <a:solidFill>
                  <a:schemeClr val="hlink"/>
                </a:solidFill>
                <a:latin typeface="Times New Roman"/>
                <a:ea typeface="Times New Roman"/>
                <a:cs typeface="Times New Roman"/>
                <a:sym typeface="Times New Roman"/>
                <a:hlinkClick r:id="rId3"/>
              </a:rPr>
              <a:t>https://www.gutenberg.org/ebooks/11</a:t>
            </a:r>
            <a:endParaRPr>
              <a:latin typeface="Times New Roman"/>
              <a:ea typeface="Times New Roman"/>
              <a:cs typeface="Times New Roman"/>
              <a:sym typeface="Times New Roman"/>
            </a:endParaRPr>
          </a:p>
          <a:p>
            <a:pPr indent="0" lvl="0" marL="0" rtl="0" algn="l">
              <a:spcBef>
                <a:spcPts val="1200"/>
              </a:spcBef>
              <a:spcAft>
                <a:spcPts val="0"/>
              </a:spcAft>
              <a:buNone/>
            </a:pPr>
            <a:r>
              <a:rPr lang="en-GB">
                <a:latin typeface="Times New Roman"/>
                <a:ea typeface="Times New Roman"/>
                <a:cs typeface="Times New Roman"/>
                <a:sym typeface="Times New Roman"/>
              </a:rPr>
              <a:t>Medium (100 MB) : </a:t>
            </a:r>
            <a:endParaRPr>
              <a:latin typeface="Times New Roman"/>
              <a:ea typeface="Times New Roman"/>
              <a:cs typeface="Times New Roman"/>
              <a:sym typeface="Times New Roman"/>
            </a:endParaRPr>
          </a:p>
          <a:p>
            <a:pPr indent="0" lvl="0" marL="0" rtl="0" algn="l">
              <a:spcBef>
                <a:spcPts val="1200"/>
              </a:spcBef>
              <a:spcAft>
                <a:spcPts val="0"/>
              </a:spcAft>
              <a:buNone/>
            </a:pPr>
            <a:r>
              <a:rPr lang="en-GB">
                <a:latin typeface="Times New Roman"/>
                <a:ea typeface="Times New Roman"/>
                <a:cs typeface="Times New Roman"/>
                <a:sym typeface="Times New Roman"/>
              </a:rPr>
              <a:t> </a:t>
            </a:r>
            <a:r>
              <a:rPr lang="en-GB" u="sng">
                <a:solidFill>
                  <a:schemeClr val="accent5"/>
                </a:solidFill>
                <a:latin typeface="Times New Roman"/>
                <a:ea typeface="Times New Roman"/>
                <a:cs typeface="Times New Roman"/>
                <a:sym typeface="Times New Roman"/>
                <a:hlinkClick r:id="rId4">
                  <a:extLst>
                    <a:ext uri="{A12FA001-AC4F-418D-AE19-62706E023703}">
                      <ahyp:hlinkClr val="tx"/>
                    </a:ext>
                  </a:extLst>
                </a:hlinkClick>
              </a:rPr>
              <a:t>https://www.kaggle.com/datasets/yorkyong/text8-zip?resource=download</a:t>
            </a:r>
            <a:endParaRPr>
              <a:latin typeface="Times New Roman"/>
              <a:ea typeface="Times New Roman"/>
              <a:cs typeface="Times New Roman"/>
              <a:sym typeface="Times New Roman"/>
            </a:endParaRPr>
          </a:p>
          <a:p>
            <a:pPr indent="0" lvl="0" marL="0" rtl="0" algn="l">
              <a:spcBef>
                <a:spcPts val="1200"/>
              </a:spcBef>
              <a:spcAft>
                <a:spcPts val="0"/>
              </a:spcAft>
              <a:buNone/>
            </a:pPr>
            <a:r>
              <a:rPr lang="en-GB">
                <a:latin typeface="Times New Roman"/>
                <a:ea typeface="Times New Roman"/>
                <a:cs typeface="Times New Roman"/>
                <a:sym typeface="Times New Roman"/>
              </a:rPr>
              <a:t>Large(1GB)</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0" lvl="0" marL="0" rtl="0" algn="l">
              <a:spcBef>
                <a:spcPts val="1200"/>
              </a:spcBef>
              <a:spcAft>
                <a:spcPts val="1200"/>
              </a:spcAft>
              <a:buNone/>
            </a:pPr>
            <a:r>
              <a:rPr lang="en-GB" u="sng">
                <a:solidFill>
                  <a:schemeClr val="accent5"/>
                </a:solidFill>
                <a:latin typeface="Times New Roman"/>
                <a:ea typeface="Times New Roman"/>
                <a:cs typeface="Times New Roman"/>
                <a:sym typeface="Times New Roman"/>
                <a:hlinkClick r:id="rId5">
                  <a:extLst>
                    <a:ext uri="{A12FA001-AC4F-418D-AE19-62706E023703}">
                      <ahyp:hlinkClr val="tx"/>
                    </a:ext>
                  </a:extLst>
                </a:hlinkClick>
              </a:rPr>
              <a:t>https://mattmahoney.net/dc/textdata.html</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
        <p:nvSpPr>
          <p:cNvPr id="356" name="Google Shape;35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62" name="Google Shape;362;p33"/>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63" name="Google Shape;363;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364" name="Google Shape;364;p33"/>
          <p:cNvPicPr preferRelativeResize="0"/>
          <p:nvPr/>
        </p:nvPicPr>
        <p:blipFill>
          <a:blip r:embed="rId3">
            <a:alphaModFix/>
          </a:blip>
          <a:stretch>
            <a:fillRect/>
          </a:stretch>
        </p:blipFill>
        <p:spPr>
          <a:xfrm>
            <a:off x="1062038" y="104775"/>
            <a:ext cx="7019925" cy="49339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70" name="Google Shape;370;p3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71" name="Google Shape;371;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372" name="Google Shape;372;p34"/>
          <p:cNvPicPr preferRelativeResize="0"/>
          <p:nvPr/>
        </p:nvPicPr>
        <p:blipFill>
          <a:blip r:embed="rId3">
            <a:alphaModFix/>
          </a:blip>
          <a:stretch>
            <a:fillRect/>
          </a:stretch>
        </p:blipFill>
        <p:spPr>
          <a:xfrm>
            <a:off x="1096363" y="0"/>
            <a:ext cx="7019925" cy="49339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78" name="Google Shape;378;p3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79" name="Google Shape;379;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380" name="Google Shape;380;p35"/>
          <p:cNvPicPr preferRelativeResize="0"/>
          <p:nvPr/>
        </p:nvPicPr>
        <p:blipFill>
          <a:blip r:embed="rId3">
            <a:alphaModFix/>
          </a:blip>
          <a:stretch>
            <a:fillRect/>
          </a:stretch>
        </p:blipFill>
        <p:spPr>
          <a:xfrm>
            <a:off x="1081088" y="104775"/>
            <a:ext cx="6981825" cy="49339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86" name="Google Shape;386;p3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87" name="Google Shape;387;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388" name="Google Shape;388;p36"/>
          <p:cNvPicPr preferRelativeResize="0"/>
          <p:nvPr/>
        </p:nvPicPr>
        <p:blipFill>
          <a:blip r:embed="rId3">
            <a:alphaModFix/>
          </a:blip>
          <a:stretch>
            <a:fillRect/>
          </a:stretch>
        </p:blipFill>
        <p:spPr>
          <a:xfrm>
            <a:off x="1109663" y="104775"/>
            <a:ext cx="6924675" cy="49339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